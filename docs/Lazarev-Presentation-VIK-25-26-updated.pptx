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2"/>
  </p:notesMasterIdLst>
  <p:sldIdLst>
    <p:sldId id="258" r:id="rId2"/>
    <p:sldId id="261" r:id="rId3"/>
    <p:sldId id="268" r:id="rId4"/>
    <p:sldId id="272" r:id="rId5"/>
    <p:sldId id="275" r:id="rId6"/>
    <p:sldId id="273" r:id="rId7"/>
    <p:sldId id="274" r:id="rId8"/>
    <p:sldId id="262" r:id="rId9"/>
    <p:sldId id="271" r:id="rId10"/>
    <p:sldId id="267" r:id="rId11"/>
  </p:sldIdLst>
  <p:sldSz cx="12192000" cy="6858000"/>
  <p:notesSz cx="6858000" cy="9144000"/>
  <p:embeddedFontLst>
    <p:embeddedFont>
      <p:font typeface="Roboto Condensed" panose="02000000000000000000" pitchFamily="2" charset="0"/>
      <p:regular r:id="rId13"/>
      <p:bold r:id="rId14"/>
      <p:italic r:id="rId15"/>
      <p:boldItalic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73" autoAdjust="0"/>
    <p:restoredTop sz="94660"/>
  </p:normalViewPr>
  <p:slideViewPr>
    <p:cSldViewPr snapToGrid="0">
      <p:cViewPr varScale="1">
        <p:scale>
          <a:sx n="80" d="100"/>
          <a:sy n="80" d="100"/>
        </p:scale>
        <p:origin x="216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7EFF5-45D7-44FE-BFF5-61A3E06B4245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0BF0-9B09-41AD-B180-93AF1CAF98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05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DE740D8D-FBE9-45AD-95F5-A12BE687B0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500"/>
          <a:stretch/>
        </p:blipFill>
        <p:spPr>
          <a:xfrm>
            <a:off x="0" y="1633219"/>
            <a:ext cx="7619998" cy="2366945"/>
          </a:xfrm>
          <a:prstGeom prst="rect">
            <a:avLst/>
          </a:prstGeo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C21F1BD2-5558-4E07-B786-DF4B7CBE7B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1719740"/>
            <a:ext cx="5400000" cy="11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ПРИВЕТСТВУЕМ, ФИНАЛИСТ!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B76E3C-07A4-4AED-929B-0114068E6FE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37" y="16885"/>
            <a:ext cx="2286001" cy="14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5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пусто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328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2BBED-4AE2-450E-9014-CCF0A18CBFAA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F3D2B62-61A1-40A3-A256-8D3F1E546B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8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колонка и рисун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3A2AB07C-6B49-4477-85E9-64DB38E529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3712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AE8EC66D-135E-407B-8726-88413FBEA8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9824" y="1220788"/>
            <a:ext cx="5452412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/>
            </a:lvl1pPr>
          </a:lstStyle>
          <a:p>
            <a:endParaRPr lang="ru-RU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2DD92DB-AF5C-4B09-96BC-77D146B99B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25CC6C-2D64-425E-BDF2-A1B5E6A13F4E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01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274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8" y="1221483"/>
            <a:ext cx="5455067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7" y="1702744"/>
            <a:ext cx="5454347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94395CBE-E917-48A2-8399-D968DFAD73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EF542E-5E62-4900-8DFB-C4A3F318FC2D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елый слайд_3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223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2957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35BB0F49-4C73-4AEA-A501-2E32124E21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FA6905-FD12-4A67-89C2-2B30002EF61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8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пусто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5C78546-CAC3-4CA8-B85B-9B769BE6DE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3B7B12-85A2-41DD-A990-A5964AEF276F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48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колонка и рисун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F8C805C-DE97-4647-A33D-C4657135DA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114" y="1720338"/>
            <a:ext cx="5486399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1" name="Рисунок 18">
            <a:extLst>
              <a:ext uri="{FF2B5EF4-FFF2-40B4-BE49-F238E27FC236}">
                <a16:creationId xmlns:a16="http://schemas.microsoft.com/office/drawing/2014/main" id="{4B34B038-383A-47AE-B598-3853C94033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8668" y="1220788"/>
            <a:ext cx="5486399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31B65-F902-4E9C-8C36-FAA17D199D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992ED4-D7B8-4763-BB4E-9F6FDDF4CC2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2199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9" y="1221483"/>
            <a:ext cx="5454348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8" y="1721994"/>
            <a:ext cx="5454348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CA6F7E49-A566-4481-9C88-0010F1F83F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15162D-14CE-4563-8774-13F802CBAFCB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иний слайд_3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483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079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1517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21" name="Picture 8">
            <a:extLst>
              <a:ext uri="{FF2B5EF4-FFF2-40B4-BE49-F238E27FC236}">
                <a16:creationId xmlns:a16="http://schemas.microsoft.com/office/drawing/2014/main" id="{6BD9029C-5108-4AF3-A1F7-8AFE00FB10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9D558F-4713-4605-B399-464201D0AF4C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7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яя страниц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70" y="194284"/>
            <a:ext cx="2510355" cy="655413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767B035-C8ED-4A9E-A741-B4070FCDB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3074"/>
          <a:stretch/>
        </p:blipFill>
        <p:spPr>
          <a:xfrm flipH="1">
            <a:off x="5251615" y="1633219"/>
            <a:ext cx="6940385" cy="2366945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1330683F-E6D0-49BA-AB32-DED060A409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5050" y="1886351"/>
            <a:ext cx="4819739" cy="112635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БЛАГОДАРЮ ЗА ВНИМАНИЕ!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512F792B-3E91-42A3-8404-10DD04803E5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3836" y="217610"/>
            <a:ext cx="1275668" cy="632087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0300DD6F-90C7-4CDA-B2F2-3D29AD82C0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546" y="1633537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Тема проекта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EE558EE7-AF15-450A-8CDC-710453B2B5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546" y="2258343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4DCF5854-D059-4195-8E07-023DE04A76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546" y="327659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Город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E83AD61D-A7B2-49FF-BC57-1DD602EBD2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5546" y="2647950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Наименование вуза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73F01592-11C6-48BE-BEBA-C517FF7F46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546" y="367004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Email: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52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1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49" r:id="rId3"/>
    <p:sldLayoutId id="2147483653" r:id="rId4"/>
    <p:sldLayoutId id="2147483654" r:id="rId5"/>
    <p:sldLayoutId id="2147483658" r:id="rId6"/>
    <p:sldLayoutId id="2147483650" r:id="rId7"/>
    <p:sldLayoutId id="2147483655" r:id="rId8"/>
    <p:sldLayoutId id="2147483656" r:id="rId9"/>
    <p:sldLayoutId id="214748365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1">
            <a:extLst>
              <a:ext uri="{FF2B5EF4-FFF2-40B4-BE49-F238E27FC236}">
                <a16:creationId xmlns:a16="http://schemas.microsoft.com/office/drawing/2014/main" id="{4AFC1B50-376C-1248-ABF2-37AF10E70B4B}"/>
              </a:ext>
            </a:extLst>
          </p:cNvPr>
          <p:cNvSpPr txBox="1">
            <a:spLocks/>
          </p:cNvSpPr>
          <p:nvPr/>
        </p:nvSpPr>
        <p:spPr>
          <a:xfrm>
            <a:off x="835546" y="1581549"/>
            <a:ext cx="4948874" cy="5933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</a:rPr>
              <a:t>Построение комбинированных моделей на основе алгоритма </a:t>
            </a:r>
            <a:r>
              <a:rPr lang="en-US" sz="3200" dirty="0" err="1">
                <a:solidFill>
                  <a:schemeClr val="bg1"/>
                </a:solidFill>
              </a:rPr>
              <a:t>Helformer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ru-RU" sz="3200" dirty="0">
                <a:solidFill>
                  <a:schemeClr val="bg1"/>
                </a:solidFill>
              </a:rPr>
              <a:t>при обработке временных рядов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Текст 17">
            <a:extLst>
              <a:ext uri="{FF2B5EF4-FFF2-40B4-BE49-F238E27FC236}">
                <a16:creationId xmlns:a16="http://schemas.microsoft.com/office/drawing/2014/main" id="{4E64B109-A427-A941-9FFA-E698FB468715}"/>
              </a:ext>
            </a:extLst>
          </p:cNvPr>
          <p:cNvSpPr txBox="1">
            <a:spLocks/>
          </p:cNvSpPr>
          <p:nvPr/>
        </p:nvSpPr>
        <p:spPr>
          <a:xfrm>
            <a:off x="835546" y="4971650"/>
            <a:ext cx="4948874" cy="30480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Лазарев Александр Кириллович</a:t>
            </a: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5963EF2C-BACE-9845-AE78-7387972EB0B4}"/>
              </a:ext>
            </a:extLst>
          </p:cNvPr>
          <p:cNvSpPr txBox="1">
            <a:spLocks/>
          </p:cNvSpPr>
          <p:nvPr/>
        </p:nvSpPr>
        <p:spPr>
          <a:xfrm>
            <a:off x="835546" y="5390445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РТУ МИРЭА</a:t>
            </a:r>
          </a:p>
        </p:txBody>
      </p:sp>
      <p:sp>
        <p:nvSpPr>
          <p:cNvPr id="5" name="Текст 19">
            <a:extLst>
              <a:ext uri="{FF2B5EF4-FFF2-40B4-BE49-F238E27FC236}">
                <a16:creationId xmlns:a16="http://schemas.microsoft.com/office/drawing/2014/main" id="{022C0AA4-8771-2D47-9769-B74D7633CEB7}"/>
              </a:ext>
            </a:extLst>
          </p:cNvPr>
          <p:cNvSpPr txBox="1">
            <a:spLocks/>
          </p:cNvSpPr>
          <p:nvPr/>
        </p:nvSpPr>
        <p:spPr>
          <a:xfrm>
            <a:off x="835546" y="6317878"/>
            <a:ext cx="10482942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Уровень образования: бакалавриат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5E280B86-1BF7-D544-B5A7-5C5CB44A3026}"/>
              </a:ext>
            </a:extLst>
          </p:cNvPr>
          <p:cNvSpPr txBox="1">
            <a:spLocks/>
          </p:cNvSpPr>
          <p:nvPr/>
        </p:nvSpPr>
        <p:spPr>
          <a:xfrm>
            <a:off x="835546" y="5876463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</a:rPr>
              <a:t>Курс обучения: 4</a:t>
            </a:r>
          </a:p>
        </p:txBody>
      </p:sp>
    </p:spTree>
    <p:extLst>
      <p:ext uri="{BB962C8B-B14F-4D97-AF65-F5344CB8AC3E}">
        <p14:creationId xmlns:p14="http://schemas.microsoft.com/office/powerpoint/2010/main" val="47374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1ACD7CE-8053-445F-9CFC-EB84FFEA9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037204"/>
            <a:ext cx="5334498" cy="405186"/>
          </a:xfrm>
        </p:spPr>
        <p:txBody>
          <a:bodyPr/>
          <a:lstStyle/>
          <a:p>
            <a:r>
              <a:rPr lang="ru-RU" dirty="0"/>
              <a:t>Актуальность исследования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A5090A8-2FFA-469F-BBCE-5E36DE94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14999" y="1043398"/>
            <a:ext cx="5334498" cy="405186"/>
          </a:xfrm>
        </p:spPr>
        <p:txBody>
          <a:bodyPr/>
          <a:lstStyle/>
          <a:p>
            <a:r>
              <a:rPr lang="ru-RU" dirty="0"/>
              <a:t>Полученные результаты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14999" y="1442390"/>
            <a:ext cx="6477001" cy="4376932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chemeClr val="tx1"/>
                </a:solidFill>
              </a:rPr>
              <a:t>Реализован контур из 11 моделей: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 err="1">
                <a:solidFill>
                  <a:schemeClr val="tx1"/>
                </a:solidFill>
              </a:rPr>
              <a:t>Классические</a:t>
            </a:r>
            <a:r>
              <a:rPr lang="en-US" altLang="en-US" sz="1600" b="1" dirty="0">
                <a:solidFill>
                  <a:schemeClr val="tx1"/>
                </a:solidFill>
              </a:rPr>
              <a:t>: ARIMA, ETS, Prophet, Seasonal Naive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 err="1">
                <a:solidFill>
                  <a:schemeClr val="tx1"/>
                </a:solidFill>
              </a:rPr>
              <a:t>Нейросетевые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с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обучаемой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декомпозицией</a:t>
            </a:r>
            <a:r>
              <a:rPr lang="en-US" altLang="en-US" sz="1600" b="1" dirty="0">
                <a:solidFill>
                  <a:schemeClr val="tx1"/>
                </a:solidFill>
              </a:rPr>
              <a:t>:</a:t>
            </a:r>
            <a:r>
              <a:rPr lang="ru-RU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DLinear</a:t>
            </a:r>
            <a:r>
              <a:rPr lang="en-US" altLang="en-US" sz="1600" b="1" dirty="0">
                <a:solidFill>
                  <a:schemeClr val="tx1"/>
                </a:solidFill>
              </a:rPr>
              <a:t>, N-BEATS, </a:t>
            </a:r>
            <a:r>
              <a:rPr lang="en-US" altLang="en-US" sz="1600" b="1" dirty="0" err="1">
                <a:solidFill>
                  <a:schemeClr val="tx1"/>
                </a:solidFill>
              </a:rPr>
              <a:t>Autoformer</a:t>
            </a:r>
            <a:r>
              <a:rPr lang="en-US" altLang="en-US" sz="1600" b="1" dirty="0">
                <a:solidFill>
                  <a:schemeClr val="tx1"/>
                </a:solidFill>
              </a:rPr>
              <a:t>, </a:t>
            </a:r>
            <a:r>
              <a:rPr lang="en-US" altLang="en-US" sz="1600" b="1" dirty="0" err="1">
                <a:solidFill>
                  <a:schemeClr val="tx1"/>
                </a:solidFill>
              </a:rPr>
              <a:t>FEDformer</a:t>
            </a:r>
            <a:endParaRPr lang="en-US" altLang="en-US" sz="1600" b="1" dirty="0">
              <a:solidFill>
                <a:schemeClr val="tx1"/>
              </a:solidFill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 err="1">
                <a:solidFill>
                  <a:schemeClr val="tx1"/>
                </a:solidFill>
              </a:rPr>
              <a:t>Нейросетевые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без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декомпозиции</a:t>
            </a:r>
            <a:r>
              <a:rPr lang="en-US" altLang="en-US" sz="1600" b="1" dirty="0">
                <a:solidFill>
                  <a:schemeClr val="tx1"/>
                </a:solidFill>
              </a:rPr>
              <a:t>:</a:t>
            </a:r>
            <a:r>
              <a:rPr lang="ru-RU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PatchTST</a:t>
            </a:r>
            <a:r>
              <a:rPr lang="en-US" altLang="en-US" sz="1600" b="1" dirty="0">
                <a:solidFill>
                  <a:schemeClr val="tx1"/>
                </a:solidFill>
              </a:rPr>
              <a:t>, </a:t>
            </a:r>
            <a:r>
              <a:rPr lang="en-US" altLang="en-US" sz="1600" b="1" dirty="0" err="1">
                <a:solidFill>
                  <a:schemeClr val="tx1"/>
                </a:solidFill>
              </a:rPr>
              <a:t>TimesNet</a:t>
            </a:r>
            <a:endParaRPr lang="ru-RU" altLang="en-US" sz="1600" b="1" dirty="0">
              <a:solidFill>
                <a:schemeClr val="tx1"/>
              </a:solidFill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 err="1">
                <a:solidFill>
                  <a:schemeClr val="tx1"/>
                </a:solidFill>
              </a:rPr>
              <a:t>Гибридная</a:t>
            </a:r>
            <a:r>
              <a:rPr lang="en-US" altLang="en-US" sz="1600" b="1" dirty="0">
                <a:solidFill>
                  <a:schemeClr val="tx1"/>
                </a:solidFill>
              </a:rPr>
              <a:t>: </a:t>
            </a:r>
            <a:r>
              <a:rPr lang="en-US" altLang="en-US" sz="1600" b="1" dirty="0" err="1">
                <a:solidFill>
                  <a:schemeClr val="tx1"/>
                </a:solidFill>
              </a:rPr>
              <a:t>Helformer</a:t>
            </a:r>
            <a:r>
              <a:rPr lang="en-US" altLang="en-US" sz="1600" b="1" dirty="0">
                <a:solidFill>
                  <a:schemeClr val="tx1"/>
                </a:solidFill>
              </a:rPr>
              <a:t> (HW + </a:t>
            </a:r>
            <a:r>
              <a:rPr lang="en-US" altLang="en-US" sz="1600" b="1" dirty="0" err="1">
                <a:solidFill>
                  <a:schemeClr val="tx1"/>
                </a:solidFill>
              </a:rPr>
              <a:t>трансформер</a:t>
            </a:r>
            <a:r>
              <a:rPr lang="en-US" altLang="en-US" sz="1600" b="1" dirty="0">
                <a:solidFill>
                  <a:schemeClr val="tx1"/>
                </a:solidFill>
              </a:rPr>
              <a:t>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en-US" sz="1600" b="1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chemeClr val="tx1"/>
                </a:solidFill>
              </a:rPr>
              <a:t>Сравнение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на</a:t>
            </a:r>
            <a:r>
              <a:rPr lang="en-US" altLang="en-US" sz="1600" b="1" dirty="0">
                <a:solidFill>
                  <a:schemeClr val="tx1"/>
                </a:solidFill>
              </a:rPr>
              <a:t> 180 </a:t>
            </a:r>
            <a:r>
              <a:rPr lang="en-US" altLang="en-US" sz="1600" b="1" dirty="0" err="1">
                <a:solidFill>
                  <a:schemeClr val="tx1"/>
                </a:solidFill>
              </a:rPr>
              <a:t>рядах</a:t>
            </a:r>
            <a:r>
              <a:rPr lang="en-US" altLang="en-US" sz="1600" b="1" dirty="0">
                <a:solidFill>
                  <a:schemeClr val="tx1"/>
                </a:solidFill>
              </a:rPr>
              <a:t> (M3 + M4 Competition)</a:t>
            </a:r>
            <a:r>
              <a:rPr lang="ru-RU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по</a:t>
            </a:r>
            <a:r>
              <a:rPr lang="en-US" altLang="en-US" sz="1600" b="1" dirty="0">
                <a:solidFill>
                  <a:schemeClr val="tx1"/>
                </a:solidFill>
              </a:rPr>
              <a:t> 6 </a:t>
            </a:r>
            <a:r>
              <a:rPr lang="en-US" altLang="en-US" sz="1600" b="1" dirty="0" err="1">
                <a:solidFill>
                  <a:schemeClr val="tx1"/>
                </a:solidFill>
              </a:rPr>
              <a:t>метрикам</a:t>
            </a:r>
            <a:r>
              <a:rPr lang="en-US" altLang="en-US" sz="1600" b="1" dirty="0">
                <a:solidFill>
                  <a:schemeClr val="tx1"/>
                </a:solidFill>
              </a:rPr>
              <a:t>: </a:t>
            </a:r>
            <a:r>
              <a:rPr lang="en-US" altLang="en-US" sz="1600" b="1" dirty="0" err="1">
                <a:solidFill>
                  <a:schemeClr val="tx1"/>
                </a:solidFill>
              </a:rPr>
              <a:t>sMAPE</a:t>
            </a:r>
            <a:r>
              <a:rPr lang="en-US" altLang="en-US" sz="1600" b="1" dirty="0">
                <a:solidFill>
                  <a:schemeClr val="tx1"/>
                </a:solidFill>
              </a:rPr>
              <a:t>, MAPE, RMSE, MSE, MAE, MASE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b="1" dirty="0" err="1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chemeClr val="tx1"/>
                </a:solidFill>
              </a:rPr>
              <a:t>Три режима оценки: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 err="1">
                <a:solidFill>
                  <a:schemeClr val="tx1"/>
                </a:solidFill>
              </a:rPr>
              <a:t>Прямой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прогноз</a:t>
            </a:r>
            <a:r>
              <a:rPr lang="en-US" altLang="en-US" sz="1600" b="1" dirty="0">
                <a:solidFill>
                  <a:schemeClr val="tx1"/>
                </a:solidFill>
              </a:rPr>
              <a:t> (direct)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 err="1">
                <a:solidFill>
                  <a:schemeClr val="tx1"/>
                </a:solidFill>
              </a:rPr>
              <a:t>Итеративный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прогноз</a:t>
            </a:r>
            <a:r>
              <a:rPr lang="en-US" altLang="en-US" sz="1600" b="1" dirty="0">
                <a:solidFill>
                  <a:schemeClr val="tx1"/>
                </a:solidFill>
              </a:rPr>
              <a:t> (rollout)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 err="1">
                <a:solidFill>
                  <a:schemeClr val="tx1"/>
                </a:solidFill>
              </a:rPr>
              <a:t>Предобучение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трансформеров</a:t>
            </a:r>
            <a:r>
              <a:rPr lang="en-US" altLang="en-US" sz="1600" b="1" dirty="0">
                <a:solidFill>
                  <a:schemeClr val="tx1"/>
                </a:solidFill>
              </a:rPr>
              <a:t> (pretrain)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b="1" dirty="0" err="1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err="1">
                <a:solidFill>
                  <a:schemeClr val="tx1"/>
                </a:solidFill>
              </a:rPr>
              <a:t>Главный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результат</a:t>
            </a:r>
            <a:r>
              <a:rPr lang="en-US" altLang="en-US" sz="1600" b="1" dirty="0">
                <a:solidFill>
                  <a:schemeClr val="tx1"/>
                </a:solidFill>
              </a:rPr>
              <a:t>: </a:t>
            </a:r>
            <a:r>
              <a:rPr lang="en-US" altLang="en-US" sz="1600" b="1" dirty="0" err="1">
                <a:solidFill>
                  <a:schemeClr val="tx1"/>
                </a:solidFill>
              </a:rPr>
              <a:t>Helformer</a:t>
            </a:r>
            <a:r>
              <a:rPr lang="en-US" altLang="en-US" sz="1600" b="1" dirty="0">
                <a:solidFill>
                  <a:schemeClr val="tx1"/>
                </a:solidFill>
              </a:rPr>
              <a:t> — </a:t>
            </a:r>
            <a:r>
              <a:rPr lang="en-US" altLang="en-US" sz="1600" b="1" dirty="0" err="1">
                <a:solidFill>
                  <a:schemeClr val="tx1"/>
                </a:solidFill>
              </a:rPr>
              <a:t>лучшая</a:t>
            </a:r>
            <a:r>
              <a:rPr lang="en-US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модель</a:t>
            </a:r>
            <a:r>
              <a:rPr lang="ru-RU" altLang="en-US" sz="1600" b="1" dirty="0">
                <a:solidFill>
                  <a:schemeClr val="tx1"/>
                </a:solidFill>
              </a:rPr>
              <a:t> </a:t>
            </a:r>
            <a:r>
              <a:rPr lang="en-US" altLang="en-US" sz="1600" b="1" dirty="0" err="1">
                <a:solidFill>
                  <a:schemeClr val="tx1"/>
                </a:solidFill>
              </a:rPr>
              <a:t>на</a:t>
            </a:r>
            <a:r>
              <a:rPr lang="en-US" altLang="en-US" sz="1600" b="1" dirty="0">
                <a:solidFill>
                  <a:schemeClr val="tx1"/>
                </a:solidFill>
              </a:rPr>
              <a:t> M3 (</a:t>
            </a:r>
            <a:r>
              <a:rPr lang="en-US" altLang="en-US" sz="1600" b="1" dirty="0" err="1">
                <a:solidFill>
                  <a:schemeClr val="tx1"/>
                </a:solidFill>
              </a:rPr>
              <a:t>sMAPE</a:t>
            </a:r>
            <a:r>
              <a:rPr lang="en-US" altLang="en-US" sz="1600" b="1" dirty="0">
                <a:solidFill>
                  <a:schemeClr val="tx1"/>
                </a:solidFill>
              </a:rPr>
              <a:t> 10,61%, MASE 0,94)</a:t>
            </a: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Актуальность и ожидаемые результаты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9CBF2-BD36-E32A-650C-7EE904BFC586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0" y="1463489"/>
            <a:ext cx="571499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Временные ряды являются основным инструментом моделирования динамических процессов в экономике, энергетике, транспорте и финансах. Точность прогноза напрямую определяет качество планирования ресурсов и оценки рисков.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Классические модели (ARIMA, ETS) хорошо изучены, но требуют ручной настройки и плохо обрабатывают нестационарность.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Нейросетевые трансформеры (Autoformer, FEDformer, PatchTST) внедряют обучаемую декомпозицию ряда на тренд и сезонность непосредственно внутри архитектуры, однако их эффективность зависит от длины ряда и режима обучения.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Центральный вопрос: когда обучаемая декомпозиция эффективнее фиксированной статистической, и при каких условиях гибридный подход (Helformer) оказывается лучшим?</a:t>
            </a:r>
          </a:p>
        </p:txBody>
      </p:sp>
    </p:spTree>
    <p:extLst>
      <p:ext uri="{BB962C8B-B14F-4D97-AF65-F5344CB8AC3E}">
        <p14:creationId xmlns:p14="http://schemas.microsoft.com/office/powerpoint/2010/main" val="178068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>
            <a:extLst>
              <a:ext uri="{FF2B5EF4-FFF2-40B4-BE49-F238E27FC236}">
                <a16:creationId xmlns:a16="http://schemas.microsoft.com/office/drawing/2014/main" id="{71ACD7CE-8053-445F-9CFC-EB84FFEA9C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6703" y="1221483"/>
            <a:ext cx="5334498" cy="405186"/>
          </a:xfrm>
        </p:spPr>
        <p:txBody>
          <a:bodyPr/>
          <a:lstStyle/>
          <a:p>
            <a:r>
              <a:rPr lang="ru-RU" dirty="0"/>
              <a:t>Научная новизна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A5090A8-2FFA-469F-BBCE-5E36DE94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57887" y="1221483"/>
            <a:ext cx="5957887" cy="405186"/>
          </a:xfrm>
        </p:spPr>
        <p:txBody>
          <a:bodyPr/>
          <a:lstStyle/>
          <a:p>
            <a:r>
              <a:rPr lang="ru-RU" dirty="0"/>
              <a:t>Практическая значимость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703" y="1626668"/>
            <a:ext cx="5727902" cy="4635235"/>
          </a:xfrm>
        </p:spPr>
        <p:txBody>
          <a:bodyPr/>
          <a:lstStyle/>
          <a:p>
            <a:r>
              <a:rPr lang="ru-RU" sz="1600" b="1" dirty="0"/>
              <a:t>1. Проведено систематическое сравнение фиксированной и обучаемой декомпозиции на 180 рядах M3/M4 с участием 11 моделей — крупнейшее в данной постановке.</a:t>
            </a:r>
          </a:p>
          <a:p>
            <a:endParaRPr lang="ru-RU" sz="1600" b="1" dirty="0"/>
          </a:p>
          <a:p>
            <a:r>
              <a:rPr lang="ru-RU" sz="1600" b="1" dirty="0"/>
              <a:t>2. Helformer (HW-декомпозиция + трансформер) превосходит все исключительно нейросетевые модели:</a:t>
            </a:r>
          </a:p>
          <a:p>
            <a:r>
              <a:rPr lang="ru-RU" sz="1600" b="1" dirty="0"/>
              <a:t>   • sMAPE 10,61% против 13,89% у ETS</a:t>
            </a:r>
          </a:p>
          <a:p>
            <a:r>
              <a:rPr lang="ru-RU" sz="1600" b="1" dirty="0"/>
              <a:t>   • sMAPE 10,61% против 17,87% у TimesNet</a:t>
            </a:r>
          </a:p>
          <a:p>
            <a:r>
              <a:rPr lang="ru-RU" sz="1600" b="1" dirty="0"/>
              <a:t>   • MASE 0,94 против 1,47 у ETS</a:t>
            </a:r>
          </a:p>
          <a:p>
            <a:endParaRPr lang="ru-RU" sz="1600" b="1" dirty="0"/>
          </a:p>
          <a:p>
            <a:r>
              <a:rPr lang="ru-RU" sz="1600" b="1" dirty="0"/>
              <a:t>3. Выявлена граница ~50–100 наблюдений: ниже неё нейросети уступают статистическим моделям.</a:t>
            </a:r>
          </a:p>
          <a:p>
            <a:endParaRPr lang="ru-RU" sz="1600" b="1" dirty="0"/>
          </a:p>
          <a:p>
            <a:r>
              <a:rPr lang="ru-RU" sz="1600" b="1" dirty="0"/>
              <a:t>4. Предобучение трансформеров на корпусе рядов даёт +7–11% sMAPE.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0715760-7422-45EB-8CBE-31C8A2B79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57888" y="1626669"/>
            <a:ext cx="6107409" cy="4225097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Воспроизводимый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программный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стенд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</a:t>
            </a:r>
            <a:r>
              <a:rPr lang="en-US" altLang="en-US" sz="1600" dirty="0">
                <a:solidFill>
                  <a:schemeClr val="tx1"/>
                </a:solidFill>
              </a:rPr>
              <a:t> Python</a:t>
            </a:r>
            <a:r>
              <a:rPr lang="ru-RU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с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модульной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архитектурой</a:t>
            </a:r>
            <a:r>
              <a:rPr lang="en-US" altLang="en-US" sz="1600" dirty="0">
                <a:solidFill>
                  <a:schemeClr val="tx1"/>
                </a:solidFill>
              </a:rPr>
              <a:t>: </a:t>
            </a:r>
            <a:r>
              <a:rPr lang="en-US" altLang="en-US" sz="1600" dirty="0" err="1">
                <a:solidFill>
                  <a:schemeClr val="tx1"/>
                </a:solidFill>
              </a:rPr>
              <a:t>фабрики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моделей</a:t>
            </a:r>
            <a:r>
              <a:rPr lang="en-US" altLang="en-US" sz="1600" dirty="0">
                <a:solidFill>
                  <a:schemeClr val="tx1"/>
                </a:solidFill>
              </a:rPr>
              <a:t>, JSON-</a:t>
            </a:r>
            <a:r>
              <a:rPr lang="en-US" altLang="en-US" sz="1600" dirty="0" err="1">
                <a:solidFill>
                  <a:schemeClr val="tx1"/>
                </a:solidFill>
              </a:rPr>
              <a:t>конфиг</a:t>
            </a:r>
            <a:r>
              <a:rPr lang="ru-RU" altLang="en-US" sz="1600" dirty="0" err="1">
                <a:solidFill>
                  <a:schemeClr val="tx1"/>
                </a:solidFill>
              </a:rPr>
              <a:t>урации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ru-RU" altLang="en-US" sz="1600" dirty="0">
                <a:solidFill>
                  <a:schemeClr val="tx1"/>
                </a:solidFill>
              </a:rPr>
              <a:t>логирование</a:t>
            </a:r>
            <a:r>
              <a:rPr lang="en-US" altLang="en-US" sz="1600" dirty="0">
                <a:solidFill>
                  <a:schemeClr val="tx1"/>
                </a:solidFill>
              </a:rPr>
              <a:t>, GPU-</a:t>
            </a:r>
            <a:r>
              <a:rPr lang="en-US" altLang="en-US" sz="1600" dirty="0" err="1">
                <a:solidFill>
                  <a:schemeClr val="tx1"/>
                </a:solidFill>
              </a:rPr>
              <a:t>поддержка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 err="1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Практические рекомендации по выбору модели: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• Короткие ряды с сезонностью → Helformer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• Длинные ряды (&gt;100 точек) → DLinear или N-BEATS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• Средние ряды → ETS или TimesNet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• При наличии корпуса → предобучение трансформеров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 err="1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Результаты применимы к прогнозированию в финансах, энергетике, логистике, городской инфраструктуре.</a:t>
            </a:r>
          </a:p>
        </p:txBody>
      </p:sp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Новизна и практическая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4161753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кросс-датасетное сравнение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44490" y="1189653"/>
            <a:ext cx="5501975" cy="405186"/>
          </a:xfrm>
        </p:spPr>
        <p:txBody>
          <a:bodyPr/>
          <a:lstStyle/>
          <a:p>
            <a:r>
              <a:rPr lang="ru-RU" dirty="0"/>
              <a:t>Основные наблюдения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44490" y="1626669"/>
            <a:ext cx="3368621" cy="4536000"/>
          </a:xfrm>
        </p:spPr>
        <p:txBody>
          <a:bodyPr/>
          <a:lstStyle/>
          <a:p>
            <a:r>
              <a:rPr lang="ru-RU" sz="1600" dirty="0"/>
              <a:t>Helformer — лучшая модель на M3:</a:t>
            </a:r>
          </a:p>
          <a:p>
            <a:r>
              <a:rPr lang="ru-RU" sz="1600" dirty="0"/>
              <a:t>sMAPE 10,61% (против 13,89% ETS)</a:t>
            </a:r>
          </a:p>
          <a:p>
            <a:endParaRPr lang="ru-RU" sz="1600" dirty="0"/>
          </a:p>
          <a:p>
            <a:r>
              <a:rPr lang="ru-RU" sz="1600" dirty="0"/>
              <a:t>ETS — лучшая статистическая:</a:t>
            </a:r>
          </a:p>
          <a:p>
            <a:r>
              <a:rPr lang="ru-RU" sz="1600" dirty="0"/>
              <a:t>стабильно top-2 на всех частотах</a:t>
            </a:r>
          </a:p>
          <a:p>
            <a:endParaRPr lang="ru-RU" sz="1600" dirty="0"/>
          </a:p>
          <a:p>
            <a:r>
              <a:rPr lang="ru-RU" sz="1600" dirty="0"/>
              <a:t>DLinear — лучший на M4 daily:</a:t>
            </a:r>
          </a:p>
          <a:p>
            <a:r>
              <a:rPr lang="ru-RU" sz="1600" dirty="0"/>
              <a:t>sMAPE 2,43% (длинные ряды)</a:t>
            </a:r>
          </a:p>
          <a:p>
            <a:endParaRPr lang="ru-RU" sz="1600" dirty="0"/>
          </a:p>
          <a:p>
            <a:r>
              <a:rPr lang="ru-RU" sz="1600" dirty="0"/>
              <a:t>Autoformer, </a:t>
            </a:r>
            <a:r>
              <a:rPr lang="ru-RU" sz="1600" dirty="0" err="1"/>
              <a:t>FEDformer</a:t>
            </a:r>
            <a:r>
              <a:rPr lang="ru-RU" sz="1600" dirty="0"/>
              <a:t> — слабейшие (sMAPE 22–34%), обучаемая декомпозиция не окупается при </a:t>
            </a:r>
            <a:r>
              <a:rPr lang="ru-RU" sz="1600" dirty="0" err="1"/>
              <a:t>однорядовом</a:t>
            </a:r>
            <a:r>
              <a:rPr lang="ru-RU" sz="1600" dirty="0"/>
              <a:t> обучении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A188B9-1A68-9173-AC3C-72E785FC8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111" y="1802714"/>
            <a:ext cx="8534399" cy="3765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прогнозов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0CACE0-F359-AE87-07B7-6680405AD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92" y="1274677"/>
            <a:ext cx="11829615" cy="4898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Итеративное прогнозирование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Деградация при rollout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4172" y="1703712"/>
            <a:ext cx="3426106" cy="4536000"/>
          </a:xfrm>
        </p:spPr>
        <p:txBody>
          <a:bodyPr/>
          <a:lstStyle/>
          <a:p>
            <a:r>
              <a:rPr lang="ru-RU" sz="1600" dirty="0"/>
              <a:t>При итеративном прогнозе модель предсказывает по одному шагу, используя собственные предсказания как входные данные.</a:t>
            </a:r>
          </a:p>
          <a:p>
            <a:endParaRPr lang="ru-RU" sz="1600" dirty="0"/>
          </a:p>
          <a:p>
            <a:r>
              <a:rPr lang="ru-RU" sz="1600" dirty="0"/>
              <a:t>Деградация sMAPE (M3):</a:t>
            </a:r>
          </a:p>
          <a:p>
            <a:r>
              <a:rPr lang="ru-RU" sz="1600" dirty="0"/>
              <a:t>• FEDformer: +6,3 п.п.</a:t>
            </a:r>
          </a:p>
          <a:p>
            <a:r>
              <a:rPr lang="ru-RU" sz="1600" dirty="0"/>
              <a:t>• Autoformer: +4,9 п.п.</a:t>
            </a:r>
          </a:p>
          <a:p>
            <a:r>
              <a:rPr lang="ru-RU" sz="1600" dirty="0"/>
              <a:t>• TimesNet: +4,3 п.п.</a:t>
            </a:r>
          </a:p>
          <a:p>
            <a:r>
              <a:rPr lang="ru-RU" sz="1600" dirty="0"/>
              <a:t>• N-BEATS: +3,9 п.п.</a:t>
            </a:r>
          </a:p>
          <a:p>
            <a:r>
              <a:rPr lang="ru-RU" sz="1600" dirty="0"/>
              <a:t>• PatchTST: +1,8 </a:t>
            </a:r>
            <a:r>
              <a:rPr lang="ru-RU" sz="1600" dirty="0" err="1"/>
              <a:t>п.п</a:t>
            </a:r>
            <a:r>
              <a:rPr lang="ru-RU" sz="1600" dirty="0"/>
              <a:t>.</a:t>
            </a:r>
          </a:p>
          <a:p>
            <a:r>
              <a:rPr lang="ru-RU" sz="1600" dirty="0"/>
              <a:t>• DLinear: +0,4 п.п.</a:t>
            </a:r>
          </a:p>
          <a:p>
            <a:r>
              <a:rPr lang="ru-RU" sz="1600" dirty="0"/>
              <a:t>• ETS, ARIMA: 0,0 п.п.</a:t>
            </a:r>
          </a:p>
          <a:p>
            <a:endParaRPr lang="ru-RU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BC3B7-7B93-D25A-9A40-1DCEF8054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751" y="1424076"/>
            <a:ext cx="8727988" cy="4393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Предобучение трансформеров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Эффект предобучения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3546" y="1720338"/>
            <a:ext cx="3508226" cy="4536000"/>
          </a:xfrm>
        </p:spPr>
        <p:txBody>
          <a:bodyPr/>
          <a:lstStyle/>
          <a:p>
            <a:r>
              <a:rPr lang="ru-RU" sz="1600" dirty="0"/>
              <a:t>Вместо обучения каждой модели с нуля на одном ряде — </a:t>
            </a:r>
            <a:r>
              <a:rPr lang="ru-RU" sz="1600" dirty="0" err="1"/>
              <a:t>предобучение</a:t>
            </a:r>
            <a:r>
              <a:rPr lang="ru-RU" sz="1600" dirty="0"/>
              <a:t> на всех 1428 месячных рядах M3 (70 тыс. окон), затем дообучение 20 эпох.</a:t>
            </a:r>
          </a:p>
          <a:p>
            <a:endParaRPr lang="ru-RU" sz="1600" dirty="0"/>
          </a:p>
          <a:p>
            <a:r>
              <a:rPr lang="ru-RU" sz="1600" dirty="0"/>
              <a:t>Улучшение sMAPE:</a:t>
            </a:r>
          </a:p>
          <a:p>
            <a:r>
              <a:rPr lang="ru-RU" sz="1600" dirty="0"/>
              <a:t>• PatchTST: 19,0 → 17,0 (−10,8%)</a:t>
            </a:r>
          </a:p>
          <a:p>
            <a:r>
              <a:rPr lang="ru-RU" sz="1600" dirty="0"/>
              <a:t>• Autoformer: 16,7 → 15,1 (−9,6%)</a:t>
            </a:r>
          </a:p>
          <a:p>
            <a:r>
              <a:rPr lang="ru-RU" sz="1600" dirty="0"/>
              <a:t>• FEDformer: 18,6 → 17,2 (−7,3%)</a:t>
            </a:r>
          </a:p>
          <a:p>
            <a:endParaRPr lang="ru-RU" sz="1600" dirty="0"/>
          </a:p>
          <a:p>
            <a:r>
              <a:rPr lang="ru-RU" sz="1600" dirty="0"/>
              <a:t>Вывод: трансформерам критически не хватает данных при </a:t>
            </a:r>
            <a:r>
              <a:rPr lang="ru-RU" sz="1600" dirty="0" err="1"/>
              <a:t>per-series</a:t>
            </a:r>
            <a:r>
              <a:rPr lang="ru-RU" sz="1600" dirty="0"/>
              <a:t> обучении. </a:t>
            </a:r>
            <a:r>
              <a:rPr lang="ru-RU" sz="1600" dirty="0" err="1"/>
              <a:t>Предобучение</a:t>
            </a:r>
            <a:r>
              <a:rPr lang="ru-RU" sz="1600" dirty="0"/>
              <a:t> частично компенсирует этот дефицит.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3024FC-11A8-E45A-456F-9AB908E9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772" y="2058351"/>
            <a:ext cx="7772400" cy="3435777"/>
          </a:xfrm>
          <a:prstGeom prst="rect">
            <a:avLst/>
          </a:prstGeom>
          <a:ln>
            <a:solidFill>
              <a:schemeClr val="accent1">
                <a:alpha val="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План-график реализации проекта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C6D921-72FF-5D97-D9D5-63BBBF925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214342"/>
              </p:ext>
            </p:extLst>
          </p:nvPr>
        </p:nvGraphicFramePr>
        <p:xfrm>
          <a:off x="881063" y="1157288"/>
          <a:ext cx="10429874" cy="49005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3450">
                  <a:extLst>
                    <a:ext uri="{9D8B030D-6E8A-4147-A177-3AD203B41FA5}">
                      <a16:colId xmlns:a16="http://schemas.microsoft.com/office/drawing/2014/main" val="814578713"/>
                    </a:ext>
                  </a:extLst>
                </a:gridCol>
                <a:gridCol w="2039255">
                  <a:extLst>
                    <a:ext uri="{9D8B030D-6E8A-4147-A177-3AD203B41FA5}">
                      <a16:colId xmlns:a16="http://schemas.microsoft.com/office/drawing/2014/main" val="1015056024"/>
                    </a:ext>
                  </a:extLst>
                </a:gridCol>
                <a:gridCol w="7457169">
                  <a:extLst>
                    <a:ext uri="{9D8B030D-6E8A-4147-A177-3AD203B41FA5}">
                      <a16:colId xmlns:a16="http://schemas.microsoft.com/office/drawing/2014/main" val="3614927381"/>
                    </a:ext>
                  </a:extLst>
                </a:gridCol>
              </a:tblGrid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Неделя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Сроки выполнения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Этап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2266544"/>
                  </a:ext>
                </a:extLst>
              </a:tr>
              <a:tr h="86016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01.09.2025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Выбор и утверждение темы, формулировка цели и задач работы, прохождение инструктажей по технике безопасности и внутреннему распорядку.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904120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3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15.09.2025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Подготовка и исследование примеров временных рядов с разной структурой (с/без тренда, с/без сезонности, с сильным шумом);</a:t>
                      </a:r>
                    </a:p>
                    <a:p>
                      <a:pPr algn="l"/>
                      <a:r>
                        <a:rPr lang="ru" dirty="0"/>
                        <a:t>Настройка параметров моделей и анализ качества по базовым метрикам.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022019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7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13.10.2025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Реализация и экспериментальное изучение нейросетевых моделей для временных рядов (</a:t>
                      </a:r>
                      <a:r>
                        <a:rPr lang="en-US" dirty="0" err="1"/>
                        <a:t>FEDFormer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TimesNet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Helformer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736288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9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27.10.2025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Настройка и сравнение различных схем декомпозиции временных рядов для архитектуры </a:t>
                      </a:r>
                      <a:r>
                        <a:rPr lang="en-US" dirty="0" err="1"/>
                        <a:t>Helformer</a:t>
                      </a:r>
                      <a:r>
                        <a:rPr lang="en-US" dirty="0"/>
                        <a:t>, </a:t>
                      </a:r>
                      <a:r>
                        <a:rPr lang="ru" dirty="0"/>
                        <a:t>выбор рабочих конфигураций.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999828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13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01.12.2025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Проведение серии экспериментов на наборах </a:t>
                      </a:r>
                      <a:r>
                        <a:rPr lang="en-US" dirty="0"/>
                        <a:t>M3–M4–M5, </a:t>
                      </a:r>
                      <a:r>
                        <a:rPr lang="ru" dirty="0"/>
                        <a:t>сравнение моделей по метрикам </a:t>
                      </a:r>
                      <a:r>
                        <a:rPr lang="en-US" dirty="0" err="1"/>
                        <a:t>sMAPE</a:t>
                      </a:r>
                      <a:r>
                        <a:rPr lang="en-US" dirty="0"/>
                        <a:t>, MAPE, MASE, RMSE.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3496865"/>
                  </a:ext>
                </a:extLst>
              </a:tr>
              <a:tr h="511437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16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20.12.2025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" dirty="0"/>
                        <a:t>Обобщение результатов, подготовка текста отчёта и презентации, сдача материалов на кафедру и защита НИР.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34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246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147144"/>
            <a:ext cx="7055318" cy="657744"/>
          </a:xfrm>
        </p:spPr>
        <p:txBody>
          <a:bodyPr/>
          <a:lstStyle/>
          <a:p>
            <a:r>
              <a:rPr lang="ru-RU" dirty="0"/>
              <a:t>Заключение и выводы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E7DDDC-BF5C-B9CC-AFBC-85FF7816B605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94962" y="1728679"/>
            <a:ext cx="1060207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1. Гибридная модель Helformer (фиксированная декомпозиция Хольта–Уинтерса + трансформерная коррекция остатков) — лучшая модель среди всех 11 протестированных на M3 Competition (sMAPE 10,61%, MASE 0,94, средний ранг 2,00).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 err="1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2. Длина обучающей выборки — критический фактор: при менее 50 наблюдениях все нейросети уступают ETS и ARIMA; при более 100 — DLinear и N-BEATS конкурируют и побеждают.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 err="1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3. Обучаемая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декомпозиция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трансформерного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типа</a:t>
            </a:r>
            <a:r>
              <a:rPr lang="en-US" altLang="en-US" sz="1600" dirty="0">
                <a:solidFill>
                  <a:schemeClr val="tx1"/>
                </a:solidFill>
              </a:rPr>
              <a:t> (</a:t>
            </a:r>
            <a:r>
              <a:rPr lang="en-US" altLang="en-US" sz="1600" dirty="0" err="1">
                <a:solidFill>
                  <a:schemeClr val="tx1"/>
                </a:solidFill>
              </a:rPr>
              <a:t>Autoformer</a:t>
            </a:r>
            <a:r>
              <a:rPr lang="en-US" altLang="en-US" sz="1600" dirty="0">
                <a:solidFill>
                  <a:schemeClr val="tx1"/>
                </a:solidFill>
              </a:rPr>
              <a:t>, </a:t>
            </a:r>
            <a:r>
              <a:rPr lang="en-US" altLang="en-US" sz="1600" dirty="0" err="1">
                <a:solidFill>
                  <a:schemeClr val="tx1"/>
                </a:solidFill>
              </a:rPr>
              <a:t>FEDformer</a:t>
            </a:r>
            <a:r>
              <a:rPr lang="en-US" altLang="en-US" sz="1600" dirty="0">
                <a:solidFill>
                  <a:schemeClr val="tx1"/>
                </a:solidFill>
              </a:rPr>
              <a:t>) </a:t>
            </a:r>
            <a:r>
              <a:rPr lang="en-US" altLang="en-US" sz="1600" dirty="0" err="1">
                <a:solidFill>
                  <a:schemeClr val="tx1"/>
                </a:solidFill>
              </a:rPr>
              <a:t>в</a:t>
            </a:r>
            <a:r>
              <a:rPr lang="ru-RU" altLang="en-US" sz="1600" dirty="0" err="1">
                <a:solidFill>
                  <a:schemeClr val="tx1"/>
                </a:solidFill>
              </a:rPr>
              <a:t>однорядовом</a:t>
            </a:r>
            <a:r>
              <a:rPr lang="ru-RU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режиме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показала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наихудшие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результаты</a:t>
            </a:r>
            <a:r>
              <a:rPr lang="en-US" altLang="en-US" sz="1600" dirty="0">
                <a:solidFill>
                  <a:schemeClr val="tx1"/>
                </a:solidFill>
              </a:rPr>
              <a:t> (</a:t>
            </a:r>
            <a:r>
              <a:rPr lang="en-US" altLang="en-US" sz="1600" dirty="0" err="1">
                <a:solidFill>
                  <a:schemeClr val="tx1"/>
                </a:solidFill>
              </a:rPr>
              <a:t>sMAPE</a:t>
            </a:r>
            <a:r>
              <a:rPr lang="en-US" altLang="en-US" sz="1600" dirty="0">
                <a:solidFill>
                  <a:schemeClr val="tx1"/>
                </a:solidFill>
              </a:rPr>
              <a:t> 22–34%). </a:t>
            </a:r>
            <a:r>
              <a:rPr lang="en-US" altLang="en-US" sz="1600" dirty="0" err="1">
                <a:solidFill>
                  <a:schemeClr val="tx1"/>
                </a:solidFill>
              </a:rPr>
              <a:t>Простая обучаемая декомпозиция (DLinear) эффективна только на длинных рядах.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 err="1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4. Предобучение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трансформеров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корпусе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рядов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улучшает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sMAPE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на</a:t>
            </a:r>
            <a:r>
              <a:rPr lang="en-US" altLang="en-US" sz="1600" dirty="0">
                <a:solidFill>
                  <a:schemeClr val="tx1"/>
                </a:solidFill>
              </a:rPr>
              <a:t> 7–11%, </a:t>
            </a:r>
            <a:r>
              <a:rPr lang="en-US" altLang="en-US" sz="1600" dirty="0" err="1">
                <a:solidFill>
                  <a:schemeClr val="tx1"/>
                </a:solidFill>
              </a:rPr>
              <a:t>частично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компенсируя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дефицит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данных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при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ru-RU" altLang="en-US" sz="1600" dirty="0" err="1">
                <a:solidFill>
                  <a:schemeClr val="tx1"/>
                </a:solidFill>
              </a:rPr>
              <a:t>однорядовом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</a:rPr>
              <a:t>обучении</a:t>
            </a:r>
            <a:r>
              <a:rPr lang="en-US" altLang="en-US" sz="1600" dirty="0">
                <a:solidFill>
                  <a:schemeClr val="tx1"/>
                </a:solidFill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 err="1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solidFill>
                  <a:schemeClr val="tx1"/>
                </a:solidFill>
              </a:rPr>
              <a:t>5. Итеративное прогнозирование выявляет хрупкость обучаемой декомпозиции: FEDformer деградирует на +6,3 п.п., тогда как PatchTST (без декомпозиции) — наиболее устойчивый (+1,8 п.п.).</a:t>
            </a:r>
          </a:p>
        </p:txBody>
      </p:sp>
    </p:spTree>
    <p:extLst>
      <p:ext uri="{BB962C8B-B14F-4D97-AF65-F5344CB8AC3E}">
        <p14:creationId xmlns:p14="http://schemas.microsoft.com/office/powerpoint/2010/main" val="2041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16">
            <a:extLst>
              <a:ext uri="{FF2B5EF4-FFF2-40B4-BE49-F238E27FC236}">
                <a16:creationId xmlns:a16="http://schemas.microsoft.com/office/drawing/2014/main" id="{9472852A-76F7-4C94-9F3E-38A9FA4D3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БЛАГОДАРЮ ЗА ВНИМАНИЕ!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AC49201-F2AA-4E39-B988-F0577D5BBC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5546" y="1549772"/>
            <a:ext cx="4948874" cy="921966"/>
          </a:xfrm>
        </p:spPr>
        <p:txBody>
          <a:bodyPr/>
          <a:lstStyle/>
          <a:p>
            <a:r>
              <a:rPr lang="ru-RU" sz="2000" dirty="0"/>
              <a:t>Построение комбинированных моделей на основе алгоритма </a:t>
            </a:r>
            <a:r>
              <a:rPr lang="en-US" sz="2000" dirty="0" err="1"/>
              <a:t>Helformer</a:t>
            </a:r>
            <a:r>
              <a:rPr lang="en-US" sz="2000" dirty="0"/>
              <a:t> </a:t>
            </a:r>
            <a:r>
              <a:rPr lang="ru-RU" sz="2000" dirty="0"/>
              <a:t>при обработке временных рядов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8377CDFB-EF8B-489A-BCD9-02A4697BA6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5546" y="3276599"/>
            <a:ext cx="4948874" cy="304801"/>
          </a:xfrm>
        </p:spPr>
        <p:txBody>
          <a:bodyPr>
            <a:noAutofit/>
          </a:bodyPr>
          <a:lstStyle/>
          <a:p>
            <a:r>
              <a:rPr lang="ru-RU" dirty="0"/>
              <a:t>Лазарев Александр Кириллович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A11B40D-4061-4C12-817A-6FA9313A57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546" y="3644432"/>
            <a:ext cx="4948874" cy="362115"/>
          </a:xfrm>
        </p:spPr>
        <p:txBody>
          <a:bodyPr/>
          <a:lstStyle/>
          <a:p>
            <a:r>
              <a:rPr lang="ru-RU" dirty="0"/>
              <a:t>РТУ МИРЭА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EE7883C-2C90-2D49-A057-8E3CEC2715C4}"/>
              </a:ext>
            </a:extLst>
          </p:cNvPr>
          <p:cNvSpPr txBox="1">
            <a:spLocks/>
          </p:cNvSpPr>
          <p:nvPr/>
        </p:nvSpPr>
        <p:spPr>
          <a:xfrm>
            <a:off x="9594419" y="6272980"/>
            <a:ext cx="1760370" cy="418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202</a:t>
            </a:r>
            <a:r>
              <a:rPr lang="ru-RU" sz="18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6</a:t>
            </a:r>
            <a:r>
              <a:rPr lang="en-US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 </a:t>
            </a:r>
            <a:r>
              <a:rPr lang="ru-RU" sz="1800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год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19BDAD4-48C5-7F47-A1B5-81BEB035FBF6}"/>
              </a:ext>
            </a:extLst>
          </p:cNvPr>
          <p:cNvSpPr txBox="1">
            <a:spLocks/>
          </p:cNvSpPr>
          <p:nvPr/>
        </p:nvSpPr>
        <p:spPr>
          <a:xfrm>
            <a:off x="835546" y="6272980"/>
            <a:ext cx="7472912" cy="4189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8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Всероссийский инженерный конкурс</a:t>
            </a:r>
          </a:p>
        </p:txBody>
      </p:sp>
      <p:sp>
        <p:nvSpPr>
          <p:cNvPr id="10" name="Текст 19">
            <a:extLst>
              <a:ext uri="{FF2B5EF4-FFF2-40B4-BE49-F238E27FC236}">
                <a16:creationId xmlns:a16="http://schemas.microsoft.com/office/drawing/2014/main" id="{5F7D6AE5-9D72-804E-A86D-EBDFFB592E77}"/>
              </a:ext>
            </a:extLst>
          </p:cNvPr>
          <p:cNvSpPr txBox="1">
            <a:spLocks/>
          </p:cNvSpPr>
          <p:nvPr/>
        </p:nvSpPr>
        <p:spPr>
          <a:xfrm>
            <a:off x="835546" y="5857392"/>
            <a:ext cx="10482942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Уровень образования: бакалавриат</a:t>
            </a:r>
          </a:p>
        </p:txBody>
      </p:sp>
      <p:sp>
        <p:nvSpPr>
          <p:cNvPr id="11" name="Текст 19">
            <a:extLst>
              <a:ext uri="{FF2B5EF4-FFF2-40B4-BE49-F238E27FC236}">
                <a16:creationId xmlns:a16="http://schemas.microsoft.com/office/drawing/2014/main" id="{F319A504-7A55-3F48-9F85-6EBCDCAF910D}"/>
              </a:ext>
            </a:extLst>
          </p:cNvPr>
          <p:cNvSpPr txBox="1">
            <a:spLocks/>
          </p:cNvSpPr>
          <p:nvPr/>
        </p:nvSpPr>
        <p:spPr>
          <a:xfrm>
            <a:off x="835546" y="5495277"/>
            <a:ext cx="4948874" cy="362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bg1"/>
                </a:solidFill>
              </a:rPr>
              <a:t>Курс обучения: 4</a:t>
            </a:r>
          </a:p>
        </p:txBody>
      </p:sp>
    </p:spTree>
    <p:extLst>
      <p:ext uri="{BB962C8B-B14F-4D97-AF65-F5344CB8AC3E}">
        <p14:creationId xmlns:p14="http://schemas.microsoft.com/office/powerpoint/2010/main" val="2511029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вик">
      <a:dk1>
        <a:srgbClr val="1A468D"/>
      </a:dk1>
      <a:lt1>
        <a:srgbClr val="FFFFFF"/>
      </a:lt1>
      <a:dk2>
        <a:srgbClr val="1A468D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ВИК_Робото-конд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983</Words>
  <Application>Microsoft Macintosh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 Condensed</vt:lpstr>
      <vt:lpstr>Arial</vt:lpstr>
      <vt:lpstr>Calibri</vt:lpstr>
      <vt:lpstr>Тема Office</vt:lpstr>
      <vt:lpstr>PowerPoint Presentation</vt:lpstr>
      <vt:lpstr>Актуальность и ожидаемые результаты</vt:lpstr>
      <vt:lpstr>Новизна и практическая значимость</vt:lpstr>
      <vt:lpstr>Результаты: кросс-датасетное сравнение</vt:lpstr>
      <vt:lpstr>Примеры прогнозов</vt:lpstr>
      <vt:lpstr>Итеративное прогнозирование</vt:lpstr>
      <vt:lpstr>Предобучение трансформеров</vt:lpstr>
      <vt:lpstr>План-график реализации проекта</vt:lpstr>
      <vt:lpstr>Заключение и выводы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Лазарев Александр</cp:lastModifiedBy>
  <cp:revision>79</cp:revision>
  <dcterms:created xsi:type="dcterms:W3CDTF">2021-10-15T21:48:49Z</dcterms:created>
  <dcterms:modified xsi:type="dcterms:W3CDTF">2026-04-06T04:25:25Z</dcterms:modified>
</cp:coreProperties>
</file>