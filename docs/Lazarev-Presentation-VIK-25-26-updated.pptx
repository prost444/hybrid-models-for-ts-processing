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9"/>
  </p:notesMasterIdLst>
  <p:sldIdLst>
    <p:sldId id="258" r:id="rId2"/>
    <p:sldId id="261" r:id="rId3"/>
    <p:sldId id="268" r:id="rId4"/>
    <p:sldId id="259" r:id="rId5"/>
    <p:sldId id="262" r:id="rId6"/>
    <p:sldId id="271" r:id="rId7"/>
    <p:sldId id="267" r:id="rId8"/>
  </p:sldIdLst>
  <p:sldSz cx="12192000" cy="6858000"/>
  <p:notesSz cx="6858000" cy="9144000"/>
  <p:embeddedFontLst>
    <p:embeddedFont>
      <p:font typeface="Roboto Condensed" panose="02000000000000000000" pitchFamily="2" charset="0"/>
      <p:regular r:id="rId10"/>
      <p:bold r:id="rId11"/>
      <p:italic r:id="rId12"/>
      <p:boldItalic r:id="rId13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443ED59-20C7-4FDF-8DCA-8A14D1AA1C8C}" name="Microsoft Office User" initials="MOU" userId="Microsoft Office 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46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907" autoAdjust="0"/>
    <p:restoredTop sz="94660"/>
  </p:normalViewPr>
  <p:slideViewPr>
    <p:cSldViewPr snapToGrid="0">
      <p:cViewPr varScale="1">
        <p:scale>
          <a:sx n="90" d="100"/>
          <a:sy n="90" d="100"/>
        </p:scale>
        <p:origin x="224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E7EFF5-45D7-44FE-BFF5-61A3E06B4245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D90BF0-9B09-41AD-B180-93AF1CAF98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505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и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6">
            <a:extLst>
              <a:ext uri="{FF2B5EF4-FFF2-40B4-BE49-F238E27FC236}">
                <a16:creationId xmlns:a16="http://schemas.microsoft.com/office/drawing/2014/main" id="{DE740D8D-FBE9-45AD-95F5-A12BE687B0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37500"/>
          <a:stretch/>
        </p:blipFill>
        <p:spPr>
          <a:xfrm>
            <a:off x="0" y="1633219"/>
            <a:ext cx="7619998" cy="2366945"/>
          </a:xfrm>
          <a:prstGeom prst="rect">
            <a:avLst/>
          </a:prstGeom>
        </p:spPr>
      </p:pic>
      <p:sp>
        <p:nvSpPr>
          <p:cNvPr id="13" name="Текст 12">
            <a:extLst>
              <a:ext uri="{FF2B5EF4-FFF2-40B4-BE49-F238E27FC236}">
                <a16:creationId xmlns:a16="http://schemas.microsoft.com/office/drawing/2014/main" id="{C21F1BD2-5558-4E07-B786-DF4B7CBE7B9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099" y="1719740"/>
            <a:ext cx="5400000" cy="1116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ПРИВЕТСТВУЕМ, ФИНАЛИСТ!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8B76E3C-07A4-4AED-929B-0114068E6FE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37" y="16885"/>
            <a:ext cx="2286001" cy="1428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256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елый слайд_пусто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6" name="Текст 6">
            <a:extLst>
              <a:ext uri="{FF2B5EF4-FFF2-40B4-BE49-F238E27FC236}">
                <a16:creationId xmlns:a16="http://schemas.microsoft.com/office/drawing/2014/main" id="{EF2B7133-3798-48BD-9554-C21FA6E8CC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328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92BBED-4AE2-450E-9014-CCF0A18CBFAA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CF3D2B62-61A1-40A3-A256-8D3F1E546B1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380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елый слайд_колонка и рисун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6" name="Текст 6">
            <a:extLst>
              <a:ext uri="{FF2B5EF4-FFF2-40B4-BE49-F238E27FC236}">
                <a16:creationId xmlns:a16="http://schemas.microsoft.com/office/drawing/2014/main" id="{EF2B7133-3798-48BD-9554-C21FA6E8CC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501975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3A2AB07C-6B49-4477-85E9-64DB38E529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764" y="1703712"/>
            <a:ext cx="5502694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9" name="Рисунок 18">
            <a:extLst>
              <a:ext uri="{FF2B5EF4-FFF2-40B4-BE49-F238E27FC236}">
                <a16:creationId xmlns:a16="http://schemas.microsoft.com/office/drawing/2014/main" id="{AE8EC66D-135E-407B-8726-88413FBEA8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19824" y="1220788"/>
            <a:ext cx="5452412" cy="5035550"/>
          </a:xfrm>
          <a:prstGeom prst="rect">
            <a:avLst/>
          </a:prstGeom>
        </p:spPr>
        <p:txBody>
          <a:bodyPr anchor="b" anchorCtr="1"/>
          <a:lstStyle>
            <a:lvl1pPr marL="0" indent="0">
              <a:buNone/>
              <a:defRPr sz="1400"/>
            </a:lvl1pPr>
          </a:lstStyle>
          <a:p>
            <a:endParaRPr lang="ru-RU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E2DD92DB-AF5C-4B09-96BC-77D146B99B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725CC6C-2D64-425E-BDF2-A1B5E6A13F4E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8017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елый слайд_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822F64B2-290D-4791-918B-5BF969ED1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501975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9900466A-0AE9-4EBF-A6BB-D8FDEA24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764" y="1702744"/>
            <a:ext cx="5502694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1F0C8795-E30C-4D85-999B-17BE4CC8F4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17168" y="1221483"/>
            <a:ext cx="5455067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5D38CA2B-AF0F-45BA-9AB2-E2E58BB989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7887" y="1702744"/>
            <a:ext cx="5454347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pic>
        <p:nvPicPr>
          <p:cNvPr id="16" name="Picture 8">
            <a:extLst>
              <a:ext uri="{FF2B5EF4-FFF2-40B4-BE49-F238E27FC236}">
                <a16:creationId xmlns:a16="http://schemas.microsoft.com/office/drawing/2014/main" id="{94395CBE-E917-48A2-8399-D968DFAD734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7EF542E-5E62-4900-8DFB-C4A3F318FC2D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54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елый слайд_3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822F64B2-290D-4791-918B-5BF969ED1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9900466A-0AE9-4EBF-A6BB-D8FDEA24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764" y="1712368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0" name="Текст 6">
            <a:extLst>
              <a:ext uri="{FF2B5EF4-FFF2-40B4-BE49-F238E27FC236}">
                <a16:creationId xmlns:a16="http://schemas.microsoft.com/office/drawing/2014/main" id="{C6693F5D-1E86-4510-88C2-00B18EC738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96000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6B087493-B8E8-40C9-A124-9D30A067F6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96000" y="1712368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7" name="Текст 6">
            <a:extLst>
              <a:ext uri="{FF2B5EF4-FFF2-40B4-BE49-F238E27FC236}">
                <a16:creationId xmlns:a16="http://schemas.microsoft.com/office/drawing/2014/main" id="{D96285C0-80DE-46E7-9A9A-BE488E924B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2238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392BD8BF-72E9-4428-97DD-B1885252FA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72957" y="1712368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pic>
        <p:nvPicPr>
          <p:cNvPr id="18" name="Picture 8">
            <a:extLst>
              <a:ext uri="{FF2B5EF4-FFF2-40B4-BE49-F238E27FC236}">
                <a16:creationId xmlns:a16="http://schemas.microsoft.com/office/drawing/2014/main" id="{35BB0F49-4C73-4AEA-A501-2E32124E21B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DFA6905-FD12-4A67-89C2-2B30002EF613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61855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ий слайд_пусто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3" name="Заголовок 8">
            <a:extLst>
              <a:ext uri="{FF2B5EF4-FFF2-40B4-BE49-F238E27FC236}">
                <a16:creationId xmlns:a16="http://schemas.microsoft.com/office/drawing/2014/main" id="{254AC82E-E44A-4E49-B7AD-416EBFFEE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C1AD932-0DF2-4F9D-B801-D1B14D1928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486399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F5C78546-CAC3-4CA8-B85B-9B769BE6DE6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D3B7B12-85A2-41DD-A990-A5964AEF276F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3487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ий слайд_колонка и рисун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3" name="Заголовок 8">
            <a:extLst>
              <a:ext uri="{FF2B5EF4-FFF2-40B4-BE49-F238E27FC236}">
                <a16:creationId xmlns:a16="http://schemas.microsoft.com/office/drawing/2014/main" id="{254AC82E-E44A-4E49-B7AD-416EBFFEE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C1AD932-0DF2-4F9D-B801-D1B14D1928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486399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F8C805C-DE97-4647-A33D-C4657135DA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114" y="1720338"/>
            <a:ext cx="5486399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1" name="Рисунок 18">
            <a:extLst>
              <a:ext uri="{FF2B5EF4-FFF2-40B4-BE49-F238E27FC236}">
                <a16:creationId xmlns:a16="http://schemas.microsoft.com/office/drawing/2014/main" id="{4B34B038-383A-47AE-B598-3853C94033E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98668" y="1220788"/>
            <a:ext cx="5486399" cy="5035550"/>
          </a:xfrm>
          <a:prstGeom prst="rect">
            <a:avLst/>
          </a:prstGeom>
        </p:spPr>
        <p:txBody>
          <a:bodyPr anchor="b" anchorCtr="1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F31B65-F902-4E9C-8C36-FAA17D199D0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E992ED4-D7B8-4763-BB4E-9F6FDDF4CC23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0515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ий слайд_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822F64B2-290D-4791-918B-5BF969ED1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501975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9900466A-0AE9-4EBF-A6BB-D8FDEA24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764" y="1721994"/>
            <a:ext cx="5502694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1F0C8795-E30C-4D85-999B-17BE4CC8F4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17169" y="1221483"/>
            <a:ext cx="5454348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5D38CA2B-AF0F-45BA-9AB2-E2E58BB989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7888" y="1721994"/>
            <a:ext cx="5454348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pic>
        <p:nvPicPr>
          <p:cNvPr id="16" name="Picture 8">
            <a:extLst>
              <a:ext uri="{FF2B5EF4-FFF2-40B4-BE49-F238E27FC236}">
                <a16:creationId xmlns:a16="http://schemas.microsoft.com/office/drawing/2014/main" id="{CA6F7E49-A566-4481-9C88-0010F1F83F7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515162D-14CE-4563-8774-13F802CBAFCB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9406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ий слайд_3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822F64B2-290D-4791-918B-5BF969ED1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9900466A-0AE9-4EBF-A6BB-D8FDEA24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0483" y="1721994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0" name="Текст 6">
            <a:extLst>
              <a:ext uri="{FF2B5EF4-FFF2-40B4-BE49-F238E27FC236}">
                <a16:creationId xmlns:a16="http://schemas.microsoft.com/office/drawing/2014/main" id="{C6693F5D-1E86-4510-88C2-00B18EC738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96000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6B087493-B8E8-40C9-A124-9D30A067F6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96000" y="1721994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7" name="Текст 6">
            <a:extLst>
              <a:ext uri="{FF2B5EF4-FFF2-40B4-BE49-F238E27FC236}">
                <a16:creationId xmlns:a16="http://schemas.microsoft.com/office/drawing/2014/main" id="{D96285C0-80DE-46E7-9A9A-BE488E924B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0798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392BD8BF-72E9-4428-97DD-B1885252FA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71517" y="1721994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pic>
        <p:nvPicPr>
          <p:cNvPr id="21" name="Picture 8">
            <a:extLst>
              <a:ext uri="{FF2B5EF4-FFF2-40B4-BE49-F238E27FC236}">
                <a16:creationId xmlns:a16="http://schemas.microsoft.com/office/drawing/2014/main" id="{6BD9029C-5108-4AF3-A1F7-8AFE00FB10F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F9D558F-4713-4605-B399-464201D0AF4C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8572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следняя страниц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9670" y="194284"/>
            <a:ext cx="2510355" cy="655413"/>
          </a:xfrm>
          <a:prstGeom prst="rect">
            <a:avLst/>
          </a:prstGeom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D767B035-C8ED-4A9E-A741-B4070FCDB9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43074"/>
          <a:stretch/>
        </p:blipFill>
        <p:spPr>
          <a:xfrm flipH="1">
            <a:off x="5251615" y="1633219"/>
            <a:ext cx="6940385" cy="2366945"/>
          </a:xfrm>
          <a:prstGeom prst="rect">
            <a:avLst/>
          </a:prstGeo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1330683F-E6D0-49BA-AB32-DED060A4097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35050" y="1886351"/>
            <a:ext cx="4819739" cy="1126356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БЛАГОДАРЮ ЗА ВНИМАНИЕ!</a:t>
            </a:r>
          </a:p>
        </p:txBody>
      </p:sp>
      <p:pic>
        <p:nvPicPr>
          <p:cNvPr id="6" name="Picture 11">
            <a:extLst>
              <a:ext uri="{FF2B5EF4-FFF2-40B4-BE49-F238E27FC236}">
                <a16:creationId xmlns:a16="http://schemas.microsoft.com/office/drawing/2014/main" id="{512F792B-3E91-42A3-8404-10DD04803E5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23836" y="217610"/>
            <a:ext cx="1275668" cy="632087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0300DD6F-90C7-4CDA-B2F2-3D29AD82C0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5546" y="1633537"/>
            <a:ext cx="4948874" cy="540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Тема проекта</a:t>
            </a:r>
          </a:p>
        </p:txBody>
      </p:sp>
      <p:sp>
        <p:nvSpPr>
          <p:cNvPr id="12" name="Текст 10">
            <a:extLst>
              <a:ext uri="{FF2B5EF4-FFF2-40B4-BE49-F238E27FC236}">
                <a16:creationId xmlns:a16="http://schemas.microsoft.com/office/drawing/2014/main" id="{EE558EE7-AF15-450A-8CDC-710453B2B5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546" y="2258343"/>
            <a:ext cx="4948874" cy="304801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Фамилия Имя Отчество</a:t>
            </a:r>
          </a:p>
        </p:txBody>
      </p:sp>
      <p:sp>
        <p:nvSpPr>
          <p:cNvPr id="14" name="Текст 10">
            <a:extLst>
              <a:ext uri="{FF2B5EF4-FFF2-40B4-BE49-F238E27FC236}">
                <a16:creationId xmlns:a16="http://schemas.microsoft.com/office/drawing/2014/main" id="{4DCF5854-D059-4195-8E07-023DE04A76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5546" y="3276599"/>
            <a:ext cx="4948874" cy="304801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Город</a:t>
            </a:r>
          </a:p>
        </p:txBody>
      </p:sp>
      <p:sp>
        <p:nvSpPr>
          <p:cNvPr id="15" name="Текст 10">
            <a:extLst>
              <a:ext uri="{FF2B5EF4-FFF2-40B4-BE49-F238E27FC236}">
                <a16:creationId xmlns:a16="http://schemas.microsoft.com/office/drawing/2014/main" id="{E83AD61D-A7B2-49FF-BC57-1DD602EBD2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5546" y="2647950"/>
            <a:ext cx="4948874" cy="540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Наименование вуза</a:t>
            </a:r>
          </a:p>
        </p:txBody>
      </p:sp>
      <p:sp>
        <p:nvSpPr>
          <p:cNvPr id="16" name="Текст 10">
            <a:extLst>
              <a:ext uri="{FF2B5EF4-FFF2-40B4-BE49-F238E27FC236}">
                <a16:creationId xmlns:a16="http://schemas.microsoft.com/office/drawing/2014/main" id="{73F01592-11C6-48BE-BEBA-C517FF7F46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5546" y="3670049"/>
            <a:ext cx="4948874" cy="304801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Email: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44524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0611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7" r:id="rId2"/>
    <p:sldLayoutId id="2147483649" r:id="rId3"/>
    <p:sldLayoutId id="2147483653" r:id="rId4"/>
    <p:sldLayoutId id="2147483654" r:id="rId5"/>
    <p:sldLayoutId id="2147483658" r:id="rId6"/>
    <p:sldLayoutId id="2147483650" r:id="rId7"/>
    <p:sldLayoutId id="2147483655" r:id="rId8"/>
    <p:sldLayoutId id="2147483656" r:id="rId9"/>
    <p:sldLayoutId id="2147483652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1">
            <a:extLst>
              <a:ext uri="{FF2B5EF4-FFF2-40B4-BE49-F238E27FC236}">
                <a16:creationId xmlns:a16="http://schemas.microsoft.com/office/drawing/2014/main" id="{4AFC1B50-376C-1248-ABF2-37AF10E70B4B}"/>
              </a:ext>
            </a:extLst>
          </p:cNvPr>
          <p:cNvSpPr txBox="1">
            <a:spLocks/>
          </p:cNvSpPr>
          <p:nvPr/>
        </p:nvSpPr>
        <p:spPr>
          <a:xfrm>
            <a:off x="835546" y="1581549"/>
            <a:ext cx="4948874" cy="59335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</a:rPr>
              <a:t>Построение комбинированных моделей на основе алгоритма </a:t>
            </a:r>
            <a:r>
              <a:rPr lang="en-US" sz="3200" dirty="0" err="1">
                <a:solidFill>
                  <a:schemeClr val="bg1"/>
                </a:solidFill>
              </a:rPr>
              <a:t>Helformer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ru-RU" sz="3200" dirty="0">
                <a:solidFill>
                  <a:schemeClr val="bg1"/>
                </a:solidFill>
              </a:rPr>
              <a:t>при обработке временных рядов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0" name="Текст 17">
            <a:extLst>
              <a:ext uri="{FF2B5EF4-FFF2-40B4-BE49-F238E27FC236}">
                <a16:creationId xmlns:a16="http://schemas.microsoft.com/office/drawing/2014/main" id="{4E64B109-A427-A941-9FFA-E698FB468715}"/>
              </a:ext>
            </a:extLst>
          </p:cNvPr>
          <p:cNvSpPr txBox="1">
            <a:spLocks/>
          </p:cNvSpPr>
          <p:nvPr/>
        </p:nvSpPr>
        <p:spPr>
          <a:xfrm>
            <a:off x="835546" y="4971650"/>
            <a:ext cx="4948874" cy="304801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</a:rPr>
              <a:t>Лазарев Александр Кириллович</a:t>
            </a:r>
          </a:p>
        </p:txBody>
      </p:sp>
      <p:sp>
        <p:nvSpPr>
          <p:cNvPr id="12" name="Текст 19">
            <a:extLst>
              <a:ext uri="{FF2B5EF4-FFF2-40B4-BE49-F238E27FC236}">
                <a16:creationId xmlns:a16="http://schemas.microsoft.com/office/drawing/2014/main" id="{5963EF2C-BACE-9845-AE78-7387972EB0B4}"/>
              </a:ext>
            </a:extLst>
          </p:cNvPr>
          <p:cNvSpPr txBox="1">
            <a:spLocks/>
          </p:cNvSpPr>
          <p:nvPr/>
        </p:nvSpPr>
        <p:spPr>
          <a:xfrm>
            <a:off x="835546" y="5390445"/>
            <a:ext cx="4948874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</a:rPr>
              <a:t>РТУ МИРЭА</a:t>
            </a:r>
          </a:p>
        </p:txBody>
      </p:sp>
      <p:sp>
        <p:nvSpPr>
          <p:cNvPr id="5" name="Текст 19">
            <a:extLst>
              <a:ext uri="{FF2B5EF4-FFF2-40B4-BE49-F238E27FC236}">
                <a16:creationId xmlns:a16="http://schemas.microsoft.com/office/drawing/2014/main" id="{022C0AA4-8771-2D47-9769-B74D7633CEB7}"/>
              </a:ext>
            </a:extLst>
          </p:cNvPr>
          <p:cNvSpPr txBox="1">
            <a:spLocks/>
          </p:cNvSpPr>
          <p:nvPr/>
        </p:nvSpPr>
        <p:spPr>
          <a:xfrm>
            <a:off x="835546" y="6317878"/>
            <a:ext cx="10482942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</a:rPr>
              <a:t>Уровень образования: бакалавриат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5E280B86-1BF7-D544-B5A7-5C5CB44A3026}"/>
              </a:ext>
            </a:extLst>
          </p:cNvPr>
          <p:cNvSpPr txBox="1">
            <a:spLocks/>
          </p:cNvSpPr>
          <p:nvPr/>
        </p:nvSpPr>
        <p:spPr>
          <a:xfrm>
            <a:off x="835546" y="5876463"/>
            <a:ext cx="4948874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</a:rPr>
              <a:t>Курс обучения: 4</a:t>
            </a:r>
          </a:p>
        </p:txBody>
      </p:sp>
    </p:spTree>
    <p:extLst>
      <p:ext uri="{BB962C8B-B14F-4D97-AF65-F5344CB8AC3E}">
        <p14:creationId xmlns:p14="http://schemas.microsoft.com/office/powerpoint/2010/main" val="473747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6">
            <a:extLst>
              <a:ext uri="{FF2B5EF4-FFF2-40B4-BE49-F238E27FC236}">
                <a16:creationId xmlns:a16="http://schemas.microsoft.com/office/drawing/2014/main" id="{71ACD7CE-8053-445F-9CFC-EB84FFEA9C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037204"/>
            <a:ext cx="5334498" cy="405186"/>
          </a:xfrm>
        </p:spPr>
        <p:txBody>
          <a:bodyPr/>
          <a:lstStyle/>
          <a:p>
            <a:r>
              <a:rPr lang="ru-RU" dirty="0"/>
              <a:t>Актуальность исследования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A5090A8-2FFA-469F-BBCE-5E36DE948C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14999" y="1043398"/>
            <a:ext cx="5334498" cy="405186"/>
          </a:xfrm>
        </p:spPr>
        <p:txBody>
          <a:bodyPr/>
          <a:lstStyle/>
          <a:p>
            <a:r>
              <a:rPr lang="ru-RU" dirty="0"/>
              <a:t>Результаты исследования</a:t>
            </a:r>
          </a:p>
        </p:txBody>
      </p:sp>
      <p:sp>
        <p:nvSpPr>
          <p:cNvPr id="10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72125" y="1442390"/>
            <a:ext cx="6619875" cy="4376932"/>
          </a:xfrm>
        </p:spPr>
        <p:txBody>
          <a:bodyPr/>
          <a:lstStyle/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>
                <a:solidFill>
                  <a:schemeClr val="tx1"/>
                </a:solidFill>
              </a:rPr>
              <a:t>Реализован экспериментальный контур из 11 моделей: 4 классические (ARIMA, ETS, Prophet, Seasonal Naive), 6 нейросетевых (DLinear, N-BEATS, TimesNet, Autoformer, FEDformer, PatchTST) и гибридная Helformer.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>
                <a:solidFill>
                  <a:schemeClr val="tx1"/>
                </a:solidFill>
              </a:rPr>
              <a:t>Сравнение проведено на 180 рядах из M3 и M4 Competition по 6 метрикам (sMAPE, MAPE, RMSE, MSE, MAE, MASE).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>
                <a:solidFill>
                  <a:schemeClr val="tx1"/>
                </a:solidFill>
              </a:rPr>
              <a:t>Исследованы три режима оценки: прямой прогноз, итеративное прогнозирование и предобучение трансформеров.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>
                <a:solidFill>
                  <a:schemeClr val="tx1"/>
                </a:solidFill>
              </a:rPr>
              <a:t>Helformer (фиксированная декомпозиция + нейросетевая коррекция) показал лучший sMAPE 10,61% на M3.</a:t>
            </a:r>
          </a:p>
        </p:txBody>
      </p:sp>
      <p:sp>
        <p:nvSpPr>
          <p:cNvPr id="13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Актуальность и ожидаемые результаты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9CBF2-BD36-E32A-650C-7EE904BFC586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0" y="1663544"/>
            <a:ext cx="5714999" cy="46166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Временные ряды являются основным инструментом моделирования процессов в экономике, энергетике, транспорте и финансах. Классические статистические модели (ARIMA, ETS) требуют ручной настройки и теряют качество при нарушении стационарности.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Современные нейросетевые архитектуры на основе трансформеров (Autoformer, FEDformer, PatchTST) обещают лучше захватывать долгосрочные зависимости, однако их эффективность критически зависит от способа декомпозиции входного ряда.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Актуален вопрос: при каких условиях обучаемая декомпозиция и нейросетевые механизмы действительно улучшают прогноз, а при каких более простые подходы предпочтительнее?</a:t>
            </a:r>
          </a:p>
        </p:txBody>
      </p:sp>
    </p:spTree>
    <p:extLst>
      <p:ext uri="{BB962C8B-B14F-4D97-AF65-F5344CB8AC3E}">
        <p14:creationId xmlns:p14="http://schemas.microsoft.com/office/powerpoint/2010/main" val="1780682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6">
            <a:extLst>
              <a:ext uri="{FF2B5EF4-FFF2-40B4-BE49-F238E27FC236}">
                <a16:creationId xmlns:a16="http://schemas.microsoft.com/office/drawing/2014/main" id="{71ACD7CE-8053-445F-9CFC-EB84FFEA9C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6703" y="1221483"/>
            <a:ext cx="5334498" cy="405186"/>
          </a:xfrm>
        </p:spPr>
        <p:txBody>
          <a:bodyPr/>
          <a:lstStyle/>
          <a:p>
            <a:r>
              <a:rPr lang="ru-RU" dirty="0"/>
              <a:t>Научная новизна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A5090A8-2FFA-469F-BBCE-5E36DE948C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57887" y="1221483"/>
            <a:ext cx="5957887" cy="405186"/>
          </a:xfrm>
        </p:spPr>
        <p:txBody>
          <a:bodyPr/>
          <a:lstStyle/>
          <a:p>
            <a:r>
              <a:rPr lang="ru-RU" dirty="0"/>
              <a:t>Практическая значимость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6703" y="1626669"/>
            <a:ext cx="5727902" cy="422509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Проведено систематическое сравнение фиксированной и обучаемой декомпозиции временных рядов на 180 рядах из M3 и M4 Competition с участием 11 моделей.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Установлено, что гибридный подход Helformer (фиксированная декомпозиция Хольта–Уинтерса + нейросетевая коррекция) превосходит как чисто статистические, так и чисто нейросетевые методы.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Выявлена граница ~50–100 наблюдений, ниже которой нейросети уступают классическим моделям.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Показано, что предобучение трансформеров на корпусе рядов даёт улучшение на 7–11% sMAPE.</a:t>
            </a:r>
          </a:p>
        </p:txBody>
      </p:sp>
      <p:sp>
        <p:nvSpPr>
          <p:cNvPr id="10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57888" y="1626669"/>
            <a:ext cx="6107409" cy="4225097"/>
          </a:xfrm>
        </p:spPr>
        <p:txBody>
          <a:bodyPr/>
          <a:lstStyle/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>
                <a:solidFill>
                  <a:schemeClr val="tx1"/>
                </a:solidFill>
              </a:rPr>
              <a:t>Разработан воспроизводимый программный стенд на Python (PyTorch), позволяющий сравнивать произвольные модели на стандартных бенчмарках с единым протоколом.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>
                <a:solidFill>
                  <a:schemeClr val="tx1"/>
                </a:solidFill>
              </a:rPr>
              <a:t>Результаты применимы для выбора оптимальной стратегии прогнозирования в зависимости от длины ряда и типа данных.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>
                <a:solidFill>
                  <a:schemeClr val="tx1"/>
                </a:solidFill>
              </a:rPr>
              <a:t>Рекомендации: для коротких рядов с сезонностью оптимален гибридный подход Helformer, для длинных — DLinear или N-BEATS.</a:t>
            </a:r>
          </a:p>
        </p:txBody>
      </p:sp>
      <p:sp>
        <p:nvSpPr>
          <p:cNvPr id="13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Новизна и практическая значимость</a:t>
            </a:r>
          </a:p>
        </p:txBody>
      </p:sp>
    </p:spTree>
    <p:extLst>
      <p:ext uri="{BB962C8B-B14F-4D97-AF65-F5344CB8AC3E}">
        <p14:creationId xmlns:p14="http://schemas.microsoft.com/office/powerpoint/2010/main" val="4161753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F55F4DA6-9028-4545-82AA-A50889F761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2294" y="1292920"/>
            <a:ext cx="11167412" cy="4907855"/>
          </a:xfrm>
        </p:spPr>
        <p:txBody>
          <a:bodyPr/>
          <a:lstStyle/>
          <a:p>
            <a:r>
              <a:rPr lang="ru" sz="1600" dirty="0"/>
              <a:t>Исследование посвящено сравнительному анализу подходов к прогнозированию одномерных временных рядов с акцентом на роли декомпозиции в нейросетевых архитектурах.</a:t>
            </a:r>
          </a:p>
          <a:p/>
          <a:p>
            <a:r>
              <a:rPr lang="ru" sz="1600" dirty="0"/>
              <a:t>Центральный вопрос: в каких условиях обучаемая декомпозиция (DLinear, Autoformer, N-BEATS) эффективнее фиксированной (ETS, Helformer), и наоборот.</a:t>
            </a:r>
          </a:p>
          <a:p/>
          <a:p>
            <a:r>
              <a:rPr lang="ru" sz="1600" dirty="0"/>
              <a:t>Экспериментальная база: 90 рядов M3 (годовые, квартальные, месячные) и 90 рядов M4 (квартальные, месячные, ежедневные) — всего 180 рядов с горизонтами от 6 до 18 шагов.</a:t>
            </a:r>
          </a:p>
          <a:p/>
          <a:p>
            <a:r>
              <a:rPr lang="ru" sz="1600" dirty="0"/>
              <a:t>Ключевые результаты:</a:t>
            </a:r>
          </a:p>
          <a:p>
            <a:r>
              <a:rPr lang="ru" sz="1600" dirty="0"/>
              <a:t>• Helformer — лучшая модель на M3 (sMAPE 10,61%, MASE 0,94)</a:t>
            </a:r>
          </a:p>
          <a:p>
            <a:r>
              <a:rPr lang="ru" sz="1600" dirty="0"/>
              <a:t>• ETS — лучшая среди статистических (sMAPE 13,89%)</a:t>
            </a:r>
          </a:p>
          <a:p>
            <a:r>
              <a:rPr lang="ru" sz="1600" dirty="0"/>
              <a:t>• DLinear — лучший на ежедневных рядах M4 (sMAPE 2,43%)</a:t>
            </a:r>
          </a:p>
          <a:p>
            <a:r>
              <a:rPr lang="ru" sz="1600" dirty="0"/>
              <a:t>• Предобучение улучшает трансформеры на 7–11%</a:t>
            </a:r>
          </a:p>
          <a:p>
            <a:r>
              <a:rPr lang="ru" sz="1600" dirty="0"/>
              <a:t>• Autoformer и FEDformer наименее устойчивы при итеративном прогнозе</a:t>
            </a:r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Описание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2637191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План-график реализации проекта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BC6D921-72FF-5D97-D9D5-63BBBF925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214342"/>
              </p:ext>
            </p:extLst>
          </p:nvPr>
        </p:nvGraphicFramePr>
        <p:xfrm>
          <a:off x="881063" y="1157288"/>
          <a:ext cx="10429874" cy="490055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33450">
                  <a:extLst>
                    <a:ext uri="{9D8B030D-6E8A-4147-A177-3AD203B41FA5}">
                      <a16:colId xmlns:a16="http://schemas.microsoft.com/office/drawing/2014/main" val="814578713"/>
                    </a:ext>
                  </a:extLst>
                </a:gridCol>
                <a:gridCol w="2039255">
                  <a:extLst>
                    <a:ext uri="{9D8B030D-6E8A-4147-A177-3AD203B41FA5}">
                      <a16:colId xmlns:a16="http://schemas.microsoft.com/office/drawing/2014/main" val="1015056024"/>
                    </a:ext>
                  </a:extLst>
                </a:gridCol>
                <a:gridCol w="7457169">
                  <a:extLst>
                    <a:ext uri="{9D8B030D-6E8A-4147-A177-3AD203B41FA5}">
                      <a16:colId xmlns:a16="http://schemas.microsoft.com/office/drawing/2014/main" val="3614927381"/>
                    </a:ext>
                  </a:extLst>
                </a:gridCol>
              </a:tblGrid>
              <a:tr h="511437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Неделя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Сроки выполнения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Этап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2266544"/>
                  </a:ext>
                </a:extLst>
              </a:tr>
              <a:tr h="860163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01.09.2025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" dirty="0"/>
                        <a:t>Выбор и утверждение темы, формулировка цели и задач работы, прохождение инструктажей по технике безопасности и внутреннему распорядку.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3904120"/>
                  </a:ext>
                </a:extLst>
              </a:tr>
              <a:tr h="511437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3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15.09.2025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" dirty="0"/>
                        <a:t>Подготовка и исследование примеров временных рядов с разной структурой (с/без тренда, с/без сезонности, с сильным шумом);</a:t>
                      </a:r>
                    </a:p>
                    <a:p>
                      <a:pPr algn="l"/>
                      <a:r>
                        <a:rPr lang="ru" dirty="0"/>
                        <a:t>Настройка параметров моделей и анализ качества по базовым метрикам.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022019"/>
                  </a:ext>
                </a:extLst>
              </a:tr>
              <a:tr h="511437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7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13.10.2025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" dirty="0"/>
                        <a:t>Реализация и экспериментальное изучение нейросетевых моделей для временных рядов (</a:t>
                      </a:r>
                      <a:r>
                        <a:rPr lang="en-US" dirty="0" err="1"/>
                        <a:t>FEDFormer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TimesNet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Helformer</a:t>
                      </a:r>
                      <a:r>
                        <a:rPr lang="en-US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0736288"/>
                  </a:ext>
                </a:extLst>
              </a:tr>
              <a:tr h="511437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9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27.10.2025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" dirty="0"/>
                        <a:t>Настройка и сравнение различных схем декомпозиции временных рядов для архитектуры </a:t>
                      </a:r>
                      <a:r>
                        <a:rPr lang="en-US" dirty="0" err="1"/>
                        <a:t>Helformer</a:t>
                      </a:r>
                      <a:r>
                        <a:rPr lang="en-US" dirty="0"/>
                        <a:t>, </a:t>
                      </a:r>
                      <a:r>
                        <a:rPr lang="ru" dirty="0"/>
                        <a:t>выбор рабочих конфигураций.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6999828"/>
                  </a:ext>
                </a:extLst>
              </a:tr>
              <a:tr h="511437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13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01.12.2025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" dirty="0"/>
                        <a:t>Проведение серии экспериментов на наборах </a:t>
                      </a:r>
                      <a:r>
                        <a:rPr lang="en-US" dirty="0"/>
                        <a:t>M3–M4–M5, </a:t>
                      </a:r>
                      <a:r>
                        <a:rPr lang="ru" dirty="0"/>
                        <a:t>сравнение моделей по метрикам </a:t>
                      </a:r>
                      <a:r>
                        <a:rPr lang="en-US" dirty="0" err="1"/>
                        <a:t>sMAPE</a:t>
                      </a:r>
                      <a:r>
                        <a:rPr lang="en-US" dirty="0"/>
                        <a:t>, MAPE, MASE, RMSE.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3496865"/>
                  </a:ext>
                </a:extLst>
              </a:tr>
              <a:tr h="511437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16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20.12.2025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" dirty="0"/>
                        <a:t>Обобщение результатов, подготовка текста отчёта и презентации, сдача материалов на кафедру и защита НИР.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347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1246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Заключение и выводы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E7DDDC-BF5C-B9CC-AFBC-85FF7816B605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290513" y="1128054"/>
            <a:ext cx="11596687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err="1">
                <a:solidFill>
                  <a:schemeClr val="tx1"/>
                </a:solidFill>
              </a:rPr>
              <a:t>На основании проведённых экспериментов сформулированы следующие выводы.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err="1">
                <a:solidFill>
                  <a:schemeClr val="tx1"/>
                </a:solidFill>
              </a:rPr>
              <a:t>1. Helformer (фиксированная декомпозиция Хольта–Уинтерса + трансформерная коррекция) — лучшая модель на M3 (sMAPE 10,61%, средний ранг 2,00 из 11).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err="1">
                <a:solidFill>
                  <a:schemeClr val="tx1"/>
                </a:solidFill>
              </a:rPr>
              <a:t>2. Длина ряда — критический фактор: при менее 50 наблюдениях нейросети уступают ETS и ARIMA; при более 100 — конкурируют.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err="1">
                <a:solidFill>
                  <a:schemeClr val="tx1"/>
                </a:solidFill>
              </a:rPr>
              <a:t>3. Обучаемая декомпозиция (DLinear, N-BEATS) эффективна на длинных рядах: DLinear — лучший на M4 daily (sMAPE 2,43%).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err="1">
                <a:solidFill>
                  <a:schemeClr val="tx1"/>
                </a:solidFill>
              </a:rPr>
              <a:t>4. Предобучение на корпусе рядов улучшает трансформеры на 7–11%, делая их конкурентоспособными.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err="1">
                <a:solidFill>
                  <a:schemeClr val="tx1"/>
                </a:solidFill>
              </a:rPr>
              <a:t>5. При итеративном прогнозировании модели с обучаемой декомпозицией деградируют сильнее всего (FEDformer +5 п.п.), PatchTST — наиболее устойчивый (+2 п.п.).</a:t>
            </a:r>
          </a:p>
        </p:txBody>
      </p:sp>
    </p:spTree>
    <p:extLst>
      <p:ext uri="{BB962C8B-B14F-4D97-AF65-F5344CB8AC3E}">
        <p14:creationId xmlns:p14="http://schemas.microsoft.com/office/powerpoint/2010/main" val="204113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Текст 16">
            <a:extLst>
              <a:ext uri="{FF2B5EF4-FFF2-40B4-BE49-F238E27FC236}">
                <a16:creationId xmlns:a16="http://schemas.microsoft.com/office/drawing/2014/main" id="{9472852A-76F7-4C94-9F3E-38A9FA4D3A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БЛАГОДАРЮ ЗА ВНИМАНИЕ!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5AC49201-F2AA-4E39-B988-F0577D5BBC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5546" y="1549772"/>
            <a:ext cx="4948874" cy="921966"/>
          </a:xfrm>
        </p:spPr>
        <p:txBody>
          <a:bodyPr/>
          <a:lstStyle/>
          <a:p>
            <a:r>
              <a:rPr lang="ru-RU" sz="2000" dirty="0"/>
              <a:t>Построение комбинированных моделей на основе алгоритма </a:t>
            </a:r>
            <a:r>
              <a:rPr lang="en-US" sz="2000" dirty="0" err="1"/>
              <a:t>Helformer</a:t>
            </a:r>
            <a:r>
              <a:rPr lang="en-US" sz="2000" dirty="0"/>
              <a:t> </a:t>
            </a:r>
            <a:r>
              <a:rPr lang="ru-RU" sz="2000" dirty="0"/>
              <a:t>при обработке временных рядов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8377CDFB-EF8B-489A-BCD9-02A4697BA60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5546" y="3276599"/>
            <a:ext cx="4948874" cy="304801"/>
          </a:xfrm>
        </p:spPr>
        <p:txBody>
          <a:bodyPr>
            <a:noAutofit/>
          </a:bodyPr>
          <a:lstStyle/>
          <a:p>
            <a:r>
              <a:rPr lang="ru-RU" dirty="0"/>
              <a:t>Лазарев Александр Кириллович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A11B40D-4061-4C12-817A-6FA9313A577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5546" y="3644432"/>
            <a:ext cx="4948874" cy="362115"/>
          </a:xfrm>
        </p:spPr>
        <p:txBody>
          <a:bodyPr/>
          <a:lstStyle/>
          <a:p>
            <a:r>
              <a:rPr lang="ru-RU" dirty="0"/>
              <a:t>РТУ МИРЭА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9EE7883C-2C90-2D49-A057-8E3CEC2715C4}"/>
              </a:ext>
            </a:extLst>
          </p:cNvPr>
          <p:cNvSpPr txBox="1">
            <a:spLocks/>
          </p:cNvSpPr>
          <p:nvPr/>
        </p:nvSpPr>
        <p:spPr>
          <a:xfrm>
            <a:off x="9594419" y="6272980"/>
            <a:ext cx="1760370" cy="4189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800" kern="12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202</a:t>
            </a:r>
            <a:r>
              <a:rPr lang="ru-RU" sz="1800" kern="12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5</a:t>
            </a:r>
            <a:r>
              <a:rPr lang="en-US" sz="1800" kern="12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 </a:t>
            </a:r>
            <a:r>
              <a:rPr lang="ru-RU" sz="1800" kern="12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год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819BDAD4-48C5-7F47-A1B5-81BEB035FBF6}"/>
              </a:ext>
            </a:extLst>
          </p:cNvPr>
          <p:cNvSpPr txBox="1">
            <a:spLocks/>
          </p:cNvSpPr>
          <p:nvPr/>
        </p:nvSpPr>
        <p:spPr>
          <a:xfrm>
            <a:off x="835546" y="6272980"/>
            <a:ext cx="7472912" cy="4189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18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Всероссийский инженерный конкурс</a:t>
            </a:r>
          </a:p>
        </p:txBody>
      </p:sp>
      <p:sp>
        <p:nvSpPr>
          <p:cNvPr id="10" name="Текст 19">
            <a:extLst>
              <a:ext uri="{FF2B5EF4-FFF2-40B4-BE49-F238E27FC236}">
                <a16:creationId xmlns:a16="http://schemas.microsoft.com/office/drawing/2014/main" id="{5F7D6AE5-9D72-804E-A86D-EBDFFB592E77}"/>
              </a:ext>
            </a:extLst>
          </p:cNvPr>
          <p:cNvSpPr txBox="1">
            <a:spLocks/>
          </p:cNvSpPr>
          <p:nvPr/>
        </p:nvSpPr>
        <p:spPr>
          <a:xfrm>
            <a:off x="835546" y="5857392"/>
            <a:ext cx="10482942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chemeClr val="bg1"/>
                </a:solidFill>
              </a:rPr>
              <a:t>Уровень образования: бакалавриат</a:t>
            </a:r>
          </a:p>
        </p:txBody>
      </p:sp>
      <p:sp>
        <p:nvSpPr>
          <p:cNvPr id="11" name="Текст 19">
            <a:extLst>
              <a:ext uri="{FF2B5EF4-FFF2-40B4-BE49-F238E27FC236}">
                <a16:creationId xmlns:a16="http://schemas.microsoft.com/office/drawing/2014/main" id="{F319A504-7A55-3F48-9F85-6EBCDCAF910D}"/>
              </a:ext>
            </a:extLst>
          </p:cNvPr>
          <p:cNvSpPr txBox="1">
            <a:spLocks/>
          </p:cNvSpPr>
          <p:nvPr/>
        </p:nvSpPr>
        <p:spPr>
          <a:xfrm>
            <a:off x="835546" y="5495277"/>
            <a:ext cx="4948874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chemeClr val="bg1"/>
                </a:solidFill>
              </a:rPr>
              <a:t>Курс обучения: 4</a:t>
            </a:r>
          </a:p>
        </p:txBody>
      </p:sp>
    </p:spTree>
    <p:extLst>
      <p:ext uri="{BB962C8B-B14F-4D97-AF65-F5344CB8AC3E}">
        <p14:creationId xmlns:p14="http://schemas.microsoft.com/office/powerpoint/2010/main" val="251102954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вик">
      <a:dk1>
        <a:srgbClr val="1A468D"/>
      </a:dk1>
      <a:lt1>
        <a:srgbClr val="FFFFFF"/>
      </a:lt1>
      <a:dk2>
        <a:srgbClr val="1A468D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ВИК_Робото-конд">
      <a:majorFont>
        <a:latin typeface="Roboto Condensed"/>
        <a:ea typeface=""/>
        <a:cs typeface=""/>
      </a:majorFont>
      <a:minorFont>
        <a:latin typeface="Roboto Condensed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1130</TotalTime>
  <Words>1239</Words>
  <Application>Microsoft Macintosh PowerPoint</Application>
  <PresentationFormat>Widescreen</PresentationFormat>
  <Paragraphs>97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Roboto Condensed</vt:lpstr>
      <vt:lpstr>Arial</vt:lpstr>
      <vt:lpstr>Calibri</vt:lpstr>
      <vt:lpstr>Тема Office</vt:lpstr>
      <vt:lpstr>PowerPoint Presentation</vt:lpstr>
      <vt:lpstr>Актуальность и ожидаемые результаты</vt:lpstr>
      <vt:lpstr>Новизна и практическая значимость</vt:lpstr>
      <vt:lpstr>Описание проекта</vt:lpstr>
      <vt:lpstr>План-график реализации проекта</vt:lpstr>
      <vt:lpstr>Заключение и выводы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Лазарев Александр</cp:lastModifiedBy>
  <cp:revision>78</cp:revision>
  <dcterms:created xsi:type="dcterms:W3CDTF">2021-10-15T21:48:49Z</dcterms:created>
  <dcterms:modified xsi:type="dcterms:W3CDTF">2025-11-27T03:58:20Z</dcterms:modified>
</cp:coreProperties>
</file>