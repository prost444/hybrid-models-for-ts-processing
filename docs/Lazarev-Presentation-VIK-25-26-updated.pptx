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9"/>
  </p:notesMasterIdLst>
  <p:sldIdLst>
    <p:sldId id="258" r:id="rId2"/>
    <p:sldId id="261" r:id="rId3"/>
    <p:sldId id="268" r:id="rId4"/>
    <p:sldId id="259" r:id="rId5"/>
    <p:sldId id="272" r:id="rId19"/>
    <p:sldId id="275" r:id="rId22"/>
    <p:sldId id="273" r:id="rId20"/>
    <p:sldId id="274" r:id="rId21"/>
    <p:sldId id="262" r:id="rId6"/>
    <p:sldId id="271" r:id="rId7"/>
    <p:sldId id="267" r:id="rId8"/>
  </p:sldIdLst>
  <p:sldSz cx="12192000" cy="6858000"/>
  <p:notesSz cx="6858000" cy="9144000"/>
  <p:embeddedFontLst>
    <p:embeddedFont>
      <p:font typeface="Roboto Condensed" panose="02000000000000000000" pitchFamily="2" charset="0"/>
      <p:regular r:id="rId10"/>
      <p:bold r:id="rId11"/>
      <p:italic r:id="rId12"/>
      <p:boldItalic r:id="rId13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443ED59-20C7-4FDF-8DCA-8A14D1AA1C8C}" name="Microsoft Office User" initials="MOU" userId="Microsoft Office User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46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907" autoAdjust="0"/>
    <p:restoredTop sz="94660"/>
  </p:normalViewPr>
  <p:slideViewPr>
    <p:cSldViewPr snapToGrid="0">
      <p:cViewPr varScale="1">
        <p:scale>
          <a:sx n="90" d="100"/>
          <a:sy n="90" d="100"/>
        </p:scale>
        <p:origin x="224" y="10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8/10/relationships/authors" Target="authors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E7EFF5-45D7-44FE-BFF5-61A3E06B4245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D90BF0-9B09-41AD-B180-93AF1CAF989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505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и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6">
            <a:extLst>
              <a:ext uri="{FF2B5EF4-FFF2-40B4-BE49-F238E27FC236}">
                <a16:creationId xmlns:a16="http://schemas.microsoft.com/office/drawing/2014/main" id="{DE740D8D-FBE9-45AD-95F5-A12BE687B0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37500"/>
          <a:stretch/>
        </p:blipFill>
        <p:spPr>
          <a:xfrm>
            <a:off x="0" y="1633219"/>
            <a:ext cx="7619998" cy="2366945"/>
          </a:xfrm>
          <a:prstGeom prst="rect">
            <a:avLst/>
          </a:prstGeom>
        </p:spPr>
      </p:pic>
      <p:sp>
        <p:nvSpPr>
          <p:cNvPr id="13" name="Текст 12">
            <a:extLst>
              <a:ext uri="{FF2B5EF4-FFF2-40B4-BE49-F238E27FC236}">
                <a16:creationId xmlns:a16="http://schemas.microsoft.com/office/drawing/2014/main" id="{C21F1BD2-5558-4E07-B786-DF4B7CBE7B9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099" y="1719740"/>
            <a:ext cx="5400000" cy="1116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ПРИВЕТСТВУЕМ, ФИНАЛИСТ!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8B76E3C-07A4-4AED-929B-0114068E6FE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537" y="16885"/>
            <a:ext cx="2286001" cy="1428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256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елый слайд_пусто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856CA69-ECB4-4D44-BF51-128717D997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6" name="Текст 6">
            <a:extLst>
              <a:ext uri="{FF2B5EF4-FFF2-40B4-BE49-F238E27FC236}">
                <a16:creationId xmlns:a16="http://schemas.microsoft.com/office/drawing/2014/main" id="{EF2B7133-3798-48BD-9554-C21FA6E8CC3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5328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92BBED-4AE2-450E-9014-CCF0A18CBFAA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CF3D2B62-61A1-40A3-A256-8D3F1E546B1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380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елый слайд_колонка и рисун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856CA69-ECB4-4D44-BF51-128717D997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6" name="Текст 6">
            <a:extLst>
              <a:ext uri="{FF2B5EF4-FFF2-40B4-BE49-F238E27FC236}">
                <a16:creationId xmlns:a16="http://schemas.microsoft.com/office/drawing/2014/main" id="{EF2B7133-3798-48BD-9554-C21FA6E8CC3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5501975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9">
            <a:extLst>
              <a:ext uri="{FF2B5EF4-FFF2-40B4-BE49-F238E27FC236}">
                <a16:creationId xmlns:a16="http://schemas.microsoft.com/office/drawing/2014/main" id="{3A2AB07C-6B49-4477-85E9-64DB38E529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9764" y="1703712"/>
            <a:ext cx="5502694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1A468D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9" name="Рисунок 18">
            <a:extLst>
              <a:ext uri="{FF2B5EF4-FFF2-40B4-BE49-F238E27FC236}">
                <a16:creationId xmlns:a16="http://schemas.microsoft.com/office/drawing/2014/main" id="{AE8EC66D-135E-407B-8726-88413FBEA81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19824" y="1220788"/>
            <a:ext cx="5452412" cy="5035550"/>
          </a:xfrm>
          <a:prstGeom prst="rect">
            <a:avLst/>
          </a:prstGeom>
        </p:spPr>
        <p:txBody>
          <a:bodyPr anchor="b" anchorCtr="1"/>
          <a:lstStyle>
            <a:lvl1pPr marL="0" indent="0">
              <a:buNone/>
              <a:defRPr sz="1400"/>
            </a:lvl1pPr>
          </a:lstStyle>
          <a:p>
            <a:endParaRPr lang="ru-RU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E2DD92DB-AF5C-4B09-96BC-77D146B99B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725CC6C-2D64-425E-BDF2-A1B5E6A13F4E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8017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елый слайд_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856CA69-ECB4-4D44-BF51-128717D997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822F64B2-290D-4791-918B-5BF969ED1F9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5501975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9900466A-0AE9-4EBF-A6BB-D8FDEA244A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9764" y="1702744"/>
            <a:ext cx="5502694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1A468D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1F0C8795-E30C-4D85-999B-17BE4CC8F49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17168" y="1221483"/>
            <a:ext cx="5455067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9">
            <a:extLst>
              <a:ext uri="{FF2B5EF4-FFF2-40B4-BE49-F238E27FC236}">
                <a16:creationId xmlns:a16="http://schemas.microsoft.com/office/drawing/2014/main" id="{5D38CA2B-AF0F-45BA-9AB2-E2E58BB989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17887" y="1702744"/>
            <a:ext cx="5454347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1A468D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pic>
        <p:nvPicPr>
          <p:cNvPr id="16" name="Picture 8">
            <a:extLst>
              <a:ext uri="{FF2B5EF4-FFF2-40B4-BE49-F238E27FC236}">
                <a16:creationId xmlns:a16="http://schemas.microsoft.com/office/drawing/2014/main" id="{94395CBE-E917-48A2-8399-D968DFAD734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7EF542E-5E62-4900-8DFB-C4A3F318FC2D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854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елый слайд_3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856CA69-ECB4-4D44-BF51-128717D997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822F64B2-290D-4791-918B-5BF969ED1F9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3600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9900466A-0AE9-4EBF-A6BB-D8FDEA244A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9764" y="1712368"/>
            <a:ext cx="3600000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1A468D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0" name="Текст 6">
            <a:extLst>
              <a:ext uri="{FF2B5EF4-FFF2-40B4-BE49-F238E27FC236}">
                <a16:creationId xmlns:a16="http://schemas.microsoft.com/office/drawing/2014/main" id="{C6693F5D-1E86-4510-88C2-00B18EC738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96000" y="1221483"/>
            <a:ext cx="3600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6B087493-B8E8-40C9-A124-9D30A067F6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96000" y="1712368"/>
            <a:ext cx="3600000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1A468D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7" name="Текст 6">
            <a:extLst>
              <a:ext uri="{FF2B5EF4-FFF2-40B4-BE49-F238E27FC236}">
                <a16:creationId xmlns:a16="http://schemas.microsoft.com/office/drawing/2014/main" id="{D96285C0-80DE-46E7-9A9A-BE488E924B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72238" y="1221483"/>
            <a:ext cx="3600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rgbClr val="1A468D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392BD8BF-72E9-4428-97DD-B1885252FA9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72957" y="1712368"/>
            <a:ext cx="3600000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1A468D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pic>
        <p:nvPicPr>
          <p:cNvPr id="18" name="Picture 8">
            <a:extLst>
              <a:ext uri="{FF2B5EF4-FFF2-40B4-BE49-F238E27FC236}">
                <a16:creationId xmlns:a16="http://schemas.microsoft.com/office/drawing/2014/main" id="{35BB0F49-4C73-4AEA-A501-2E32124E21B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DFA6905-FD12-4A67-89C2-2B30002EF613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61855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ий слайд_пусто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3" name="Заголовок 8">
            <a:extLst>
              <a:ext uri="{FF2B5EF4-FFF2-40B4-BE49-F238E27FC236}">
                <a16:creationId xmlns:a16="http://schemas.microsoft.com/office/drawing/2014/main" id="{254AC82E-E44A-4E49-B7AD-416EBFFEEC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C1AD932-0DF2-4F9D-B801-D1B14D1928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5486399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F5C78546-CAC3-4CA8-B85B-9B769BE6DE6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D3B7B12-85A2-41DD-A990-A5964AEF276F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3487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ий слайд_колонка и рисун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3" name="Заголовок 8">
            <a:extLst>
              <a:ext uri="{FF2B5EF4-FFF2-40B4-BE49-F238E27FC236}">
                <a16:creationId xmlns:a16="http://schemas.microsoft.com/office/drawing/2014/main" id="{254AC82E-E44A-4E49-B7AD-416EBFFEEC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C1AD932-0DF2-4F9D-B801-D1B14D1928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5486399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CF8C805C-DE97-4647-A33D-C4657135DA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9114" y="1720338"/>
            <a:ext cx="5486399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1" name="Рисунок 18">
            <a:extLst>
              <a:ext uri="{FF2B5EF4-FFF2-40B4-BE49-F238E27FC236}">
                <a16:creationId xmlns:a16="http://schemas.microsoft.com/office/drawing/2014/main" id="{4B34B038-383A-47AE-B598-3853C94033E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98668" y="1220788"/>
            <a:ext cx="5486399" cy="5035550"/>
          </a:xfrm>
          <a:prstGeom prst="rect">
            <a:avLst/>
          </a:prstGeom>
        </p:spPr>
        <p:txBody>
          <a:bodyPr anchor="b" anchorCtr="1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F31B65-F902-4E9C-8C36-FAA17D199D0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E992ED4-D7B8-4763-BB4E-9F6FDDF4CC23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05151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ий слайд_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856CA69-ECB4-4D44-BF51-128717D997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822F64B2-290D-4791-918B-5BF969ED1F9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5501975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9900466A-0AE9-4EBF-A6BB-D8FDEA244A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9764" y="1721994"/>
            <a:ext cx="5502694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1F0C8795-E30C-4D85-999B-17BE4CC8F49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17169" y="1221483"/>
            <a:ext cx="5454348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9">
            <a:extLst>
              <a:ext uri="{FF2B5EF4-FFF2-40B4-BE49-F238E27FC236}">
                <a16:creationId xmlns:a16="http://schemas.microsoft.com/office/drawing/2014/main" id="{5D38CA2B-AF0F-45BA-9AB2-E2E58BB989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17888" y="1721994"/>
            <a:ext cx="5454348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pic>
        <p:nvPicPr>
          <p:cNvPr id="16" name="Picture 8">
            <a:extLst>
              <a:ext uri="{FF2B5EF4-FFF2-40B4-BE49-F238E27FC236}">
                <a16:creationId xmlns:a16="http://schemas.microsoft.com/office/drawing/2014/main" id="{CA6F7E49-A566-4481-9C88-0010F1F83F7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515162D-14CE-4563-8774-13F802CBAFCB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9406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иний слайд_3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5833" y="254682"/>
            <a:ext cx="2007337" cy="524083"/>
          </a:xfrm>
          <a:prstGeom prst="rect">
            <a:avLst/>
          </a:prstGeom>
        </p:spPr>
      </p:pic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D856CA69-ECB4-4D44-BF51-128717D997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9764" y="0"/>
            <a:ext cx="7055318" cy="981778"/>
          </a:xfrm>
          <a:prstGeom prst="rect">
            <a:avLst/>
          </a:prstGeom>
        </p:spPr>
        <p:txBody>
          <a:bodyPr anchor="ctr"/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822F64B2-290D-4791-918B-5BF969ED1F9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9764" y="1221483"/>
            <a:ext cx="3600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9900466A-0AE9-4EBF-A6BB-D8FDEA244A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0483" y="1721994"/>
            <a:ext cx="3600000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0" name="Текст 6">
            <a:extLst>
              <a:ext uri="{FF2B5EF4-FFF2-40B4-BE49-F238E27FC236}">
                <a16:creationId xmlns:a16="http://schemas.microsoft.com/office/drawing/2014/main" id="{C6693F5D-1E86-4510-88C2-00B18EC738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96000" y="1221483"/>
            <a:ext cx="3600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6B087493-B8E8-40C9-A124-9D30A067F6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96000" y="1721994"/>
            <a:ext cx="3600000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sp>
        <p:nvSpPr>
          <p:cNvPr id="17" name="Текст 6">
            <a:extLst>
              <a:ext uri="{FF2B5EF4-FFF2-40B4-BE49-F238E27FC236}">
                <a16:creationId xmlns:a16="http://schemas.microsoft.com/office/drawing/2014/main" id="{D96285C0-80DE-46E7-9A9A-BE488E924B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70798" y="1221483"/>
            <a:ext cx="3600000" cy="40518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Текст 9">
            <a:extLst>
              <a:ext uri="{FF2B5EF4-FFF2-40B4-BE49-F238E27FC236}">
                <a16:creationId xmlns:a16="http://schemas.microsoft.com/office/drawing/2014/main" id="{392BD8BF-72E9-4428-97DD-B1885252FA9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071517" y="1721994"/>
            <a:ext cx="3600000" cy="4536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1pPr>
            <a:lvl2pPr>
              <a:defRPr sz="105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50">
                <a:solidFill>
                  <a:schemeClr val="bg1"/>
                </a:solidFill>
              </a:defRPr>
            </a:lvl4pPr>
            <a:lvl5pPr>
              <a:defRPr sz="1050">
                <a:solidFill>
                  <a:schemeClr val="bg1"/>
                </a:solidFill>
              </a:defRPr>
            </a:lvl5pPr>
          </a:lstStyle>
          <a:p>
            <a:pPr algn="l"/>
            <a:r>
              <a:rPr lang="ru-RU" dirty="0"/>
              <a:t>Текст</a:t>
            </a:r>
          </a:p>
        </p:txBody>
      </p:sp>
      <p:pic>
        <p:nvPicPr>
          <p:cNvPr id="21" name="Picture 8">
            <a:extLst>
              <a:ext uri="{FF2B5EF4-FFF2-40B4-BE49-F238E27FC236}">
                <a16:creationId xmlns:a16="http://schemas.microsoft.com/office/drawing/2014/main" id="{6BD9029C-5108-4AF3-A1F7-8AFE00FB10F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40566" y="254682"/>
            <a:ext cx="1007239" cy="49908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F9D558F-4713-4605-B399-464201D0AF4C}"/>
              </a:ext>
            </a:extLst>
          </p:cNvPr>
          <p:cNvSpPr txBox="1"/>
          <p:nvPr userDrawn="1"/>
        </p:nvSpPr>
        <p:spPr>
          <a:xfrm>
            <a:off x="10922804" y="6502400"/>
            <a:ext cx="880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8C0BBA5-A3A7-4401-B4AA-CCF1A2E5CC4D}" type="slidenum">
              <a:rPr lang="ru-RU" sz="1400" smtClean="0">
                <a:solidFill>
                  <a:schemeClr val="bg1"/>
                </a:solidFill>
              </a:rPr>
              <a:pPr algn="r"/>
              <a:t>‹#›</a:t>
            </a:fld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8572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следняя страниц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9670" y="194284"/>
            <a:ext cx="2510355" cy="655413"/>
          </a:xfrm>
          <a:prstGeom prst="rect">
            <a:avLst/>
          </a:prstGeom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D767B035-C8ED-4A9E-A741-B4070FCDB9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43074"/>
          <a:stretch/>
        </p:blipFill>
        <p:spPr>
          <a:xfrm flipH="1">
            <a:off x="5251615" y="1633219"/>
            <a:ext cx="6940385" cy="2366945"/>
          </a:xfrm>
          <a:prstGeom prst="rect">
            <a:avLst/>
          </a:prstGeo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1330683F-E6D0-49BA-AB32-DED060A4097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35050" y="1886351"/>
            <a:ext cx="4819739" cy="1126356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БЛАГОДАРЮ ЗА ВНИМАНИЕ!</a:t>
            </a:r>
          </a:p>
        </p:txBody>
      </p:sp>
      <p:pic>
        <p:nvPicPr>
          <p:cNvPr id="6" name="Picture 11">
            <a:extLst>
              <a:ext uri="{FF2B5EF4-FFF2-40B4-BE49-F238E27FC236}">
                <a16:creationId xmlns:a16="http://schemas.microsoft.com/office/drawing/2014/main" id="{512F792B-3E91-42A3-8404-10DD04803E5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23836" y="217610"/>
            <a:ext cx="1275668" cy="632087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0300DD6F-90C7-4CDA-B2F2-3D29AD82C0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5546" y="1633537"/>
            <a:ext cx="4948874" cy="540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Тема проекта</a:t>
            </a:r>
          </a:p>
        </p:txBody>
      </p:sp>
      <p:sp>
        <p:nvSpPr>
          <p:cNvPr id="12" name="Текст 10">
            <a:extLst>
              <a:ext uri="{FF2B5EF4-FFF2-40B4-BE49-F238E27FC236}">
                <a16:creationId xmlns:a16="http://schemas.microsoft.com/office/drawing/2014/main" id="{EE558EE7-AF15-450A-8CDC-710453B2B57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5546" y="2258343"/>
            <a:ext cx="4948874" cy="304801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Фамилия Имя Отчество</a:t>
            </a:r>
          </a:p>
        </p:txBody>
      </p:sp>
      <p:sp>
        <p:nvSpPr>
          <p:cNvPr id="14" name="Текст 10">
            <a:extLst>
              <a:ext uri="{FF2B5EF4-FFF2-40B4-BE49-F238E27FC236}">
                <a16:creationId xmlns:a16="http://schemas.microsoft.com/office/drawing/2014/main" id="{4DCF5854-D059-4195-8E07-023DE04A76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5546" y="3276599"/>
            <a:ext cx="4948874" cy="304801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Город</a:t>
            </a:r>
          </a:p>
        </p:txBody>
      </p:sp>
      <p:sp>
        <p:nvSpPr>
          <p:cNvPr id="15" name="Текст 10">
            <a:extLst>
              <a:ext uri="{FF2B5EF4-FFF2-40B4-BE49-F238E27FC236}">
                <a16:creationId xmlns:a16="http://schemas.microsoft.com/office/drawing/2014/main" id="{E83AD61D-A7B2-49FF-BC57-1DD602EBD2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5546" y="2647950"/>
            <a:ext cx="4948874" cy="540000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Наименование вуза</a:t>
            </a:r>
          </a:p>
        </p:txBody>
      </p:sp>
      <p:sp>
        <p:nvSpPr>
          <p:cNvPr id="16" name="Текст 10">
            <a:extLst>
              <a:ext uri="{FF2B5EF4-FFF2-40B4-BE49-F238E27FC236}">
                <a16:creationId xmlns:a16="http://schemas.microsoft.com/office/drawing/2014/main" id="{73F01592-11C6-48BE-BEBA-C517FF7F46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5546" y="3670049"/>
            <a:ext cx="4948874" cy="304801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Email: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4452415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0611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7" r:id="rId2"/>
    <p:sldLayoutId id="2147483649" r:id="rId3"/>
    <p:sldLayoutId id="2147483653" r:id="rId4"/>
    <p:sldLayoutId id="2147483654" r:id="rId5"/>
    <p:sldLayoutId id="2147483658" r:id="rId6"/>
    <p:sldLayoutId id="2147483650" r:id="rId7"/>
    <p:sldLayoutId id="2147483655" r:id="rId8"/>
    <p:sldLayoutId id="2147483656" r:id="rId9"/>
    <p:sldLayoutId id="2147483652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11">
            <a:extLst>
              <a:ext uri="{FF2B5EF4-FFF2-40B4-BE49-F238E27FC236}">
                <a16:creationId xmlns:a16="http://schemas.microsoft.com/office/drawing/2014/main" id="{4AFC1B50-376C-1248-ABF2-37AF10E70B4B}"/>
              </a:ext>
            </a:extLst>
          </p:cNvPr>
          <p:cNvSpPr txBox="1">
            <a:spLocks/>
          </p:cNvSpPr>
          <p:nvPr/>
        </p:nvSpPr>
        <p:spPr>
          <a:xfrm>
            <a:off x="835546" y="1581549"/>
            <a:ext cx="4948874" cy="59335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3200" dirty="0">
                <a:solidFill>
                  <a:schemeClr val="bg1"/>
                </a:solidFill>
              </a:rPr>
              <a:t xml:space="preserve">Построение комбинированных моделей на основе алгоритма </a:t>
            </a:r>
            <a:r>
              <a:rPr lang="en-US" sz="3200" dirty="0" err="1">
                <a:solidFill>
                  <a:schemeClr val="bg1"/>
                </a:solidFill>
              </a:rPr>
              <a:t>Helformer</a:t>
            </a:r>
            <a:r>
              <a:rPr lang="en-US" sz="3200" dirty="0">
                <a:solidFill>
                  <a:schemeClr val="bg1"/>
                </a:solidFill>
              </a:rPr>
              <a:t xml:space="preserve"> </a:t>
            </a:r>
            <a:r>
              <a:rPr lang="ru-RU" sz="3200" dirty="0">
                <a:solidFill>
                  <a:schemeClr val="bg1"/>
                </a:solidFill>
              </a:rPr>
              <a:t>при обработке временных рядов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0" name="Текст 17">
            <a:extLst>
              <a:ext uri="{FF2B5EF4-FFF2-40B4-BE49-F238E27FC236}">
                <a16:creationId xmlns:a16="http://schemas.microsoft.com/office/drawing/2014/main" id="{4E64B109-A427-A941-9FFA-E698FB468715}"/>
              </a:ext>
            </a:extLst>
          </p:cNvPr>
          <p:cNvSpPr txBox="1">
            <a:spLocks/>
          </p:cNvSpPr>
          <p:nvPr/>
        </p:nvSpPr>
        <p:spPr>
          <a:xfrm>
            <a:off x="835546" y="4971650"/>
            <a:ext cx="4948874" cy="304801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solidFill>
                  <a:schemeClr val="bg1"/>
                </a:solidFill>
              </a:rPr>
              <a:t>Лазарев Александр Кириллович</a:t>
            </a:r>
          </a:p>
        </p:txBody>
      </p:sp>
      <p:sp>
        <p:nvSpPr>
          <p:cNvPr id="12" name="Текст 19">
            <a:extLst>
              <a:ext uri="{FF2B5EF4-FFF2-40B4-BE49-F238E27FC236}">
                <a16:creationId xmlns:a16="http://schemas.microsoft.com/office/drawing/2014/main" id="{5963EF2C-BACE-9845-AE78-7387972EB0B4}"/>
              </a:ext>
            </a:extLst>
          </p:cNvPr>
          <p:cNvSpPr txBox="1">
            <a:spLocks/>
          </p:cNvSpPr>
          <p:nvPr/>
        </p:nvSpPr>
        <p:spPr>
          <a:xfrm>
            <a:off x="835546" y="5390445"/>
            <a:ext cx="4948874" cy="3621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solidFill>
                  <a:schemeClr val="bg1"/>
                </a:solidFill>
              </a:rPr>
              <a:t>РТУ МИРЭА</a:t>
            </a:r>
          </a:p>
        </p:txBody>
      </p:sp>
      <p:sp>
        <p:nvSpPr>
          <p:cNvPr id="5" name="Текст 19">
            <a:extLst>
              <a:ext uri="{FF2B5EF4-FFF2-40B4-BE49-F238E27FC236}">
                <a16:creationId xmlns:a16="http://schemas.microsoft.com/office/drawing/2014/main" id="{022C0AA4-8771-2D47-9769-B74D7633CEB7}"/>
              </a:ext>
            </a:extLst>
          </p:cNvPr>
          <p:cNvSpPr txBox="1">
            <a:spLocks/>
          </p:cNvSpPr>
          <p:nvPr/>
        </p:nvSpPr>
        <p:spPr>
          <a:xfrm>
            <a:off x="835546" y="6317878"/>
            <a:ext cx="10482942" cy="3621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solidFill>
                  <a:schemeClr val="bg1"/>
                </a:solidFill>
              </a:rPr>
              <a:t>Уровень образования: бакалавриат</a:t>
            </a:r>
          </a:p>
        </p:txBody>
      </p:sp>
      <p:sp>
        <p:nvSpPr>
          <p:cNvPr id="6" name="Текст 19">
            <a:extLst>
              <a:ext uri="{FF2B5EF4-FFF2-40B4-BE49-F238E27FC236}">
                <a16:creationId xmlns:a16="http://schemas.microsoft.com/office/drawing/2014/main" id="{5E280B86-1BF7-D544-B5A7-5C5CB44A3026}"/>
              </a:ext>
            </a:extLst>
          </p:cNvPr>
          <p:cNvSpPr txBox="1">
            <a:spLocks/>
          </p:cNvSpPr>
          <p:nvPr/>
        </p:nvSpPr>
        <p:spPr>
          <a:xfrm>
            <a:off x="835546" y="5876463"/>
            <a:ext cx="4948874" cy="3621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solidFill>
                  <a:schemeClr val="bg1"/>
                </a:solidFill>
              </a:rPr>
              <a:t>Курс обучения: 4</a:t>
            </a:r>
          </a:p>
        </p:txBody>
      </p:sp>
    </p:spTree>
    <p:extLst>
      <p:ext uri="{BB962C8B-B14F-4D97-AF65-F5344CB8AC3E}">
        <p14:creationId xmlns:p14="http://schemas.microsoft.com/office/powerpoint/2010/main" val="473747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Текст 6">
            <a:extLst>
              <a:ext uri="{FF2B5EF4-FFF2-40B4-BE49-F238E27FC236}">
                <a16:creationId xmlns:a16="http://schemas.microsoft.com/office/drawing/2014/main" id="{71ACD7CE-8053-445F-9CFC-EB84FFEA9C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037204"/>
            <a:ext cx="5334498" cy="405186"/>
          </a:xfrm>
        </p:spPr>
        <p:txBody>
          <a:bodyPr/>
          <a:lstStyle/>
          <a:p>
            <a:r>
              <a:rPr lang="ru-RU" dirty="0"/>
              <a:t>Актуальность исследования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0A5090A8-2FFA-469F-BBCE-5E36DE948C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714999" y="1043398"/>
            <a:ext cx="5334498" cy="405186"/>
          </a:xfrm>
        </p:spPr>
        <p:txBody>
          <a:bodyPr/>
          <a:lstStyle/>
          <a:p>
            <a:r>
              <a:rPr lang="ru-RU" dirty="0"/>
              <a:t>Полученные результаты</a:t>
            </a:r>
          </a:p>
        </p:txBody>
      </p:sp>
      <p:sp>
        <p:nvSpPr>
          <p:cNvPr id="10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72125" y="1442390"/>
            <a:ext cx="6619875" cy="4376932"/>
          </a:xfrm>
        </p:spPr>
        <p:txBody>
          <a:bodyPr/>
          <a:lstStyle/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>Реализован контур из 11 моделей: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>• Классические: ARIMA, ETS, Prophet, Seasonal Naive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>• Нейросетевые с обучаемой декомпозицией: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 xml:space="preserve">   DLinear, N-BEATS, Autoformer, FEDformer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>• Нейросетевые без декомпозиции: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 xml:space="preserve">   PatchTST, TimesNet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>• Гибридная: Helformer (HW + трансформер)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>Сравнение на 180 рядах (M3 + M4 Competition)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>по 6 метрикам: sMAPE, MAPE, RMSE, MSE, MAE, MASE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>Три режима оценки: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>• Прямой прогноз (direct)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>• Итеративный прогноз (rollout)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>• Предобучение трансформеров (pretrain)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>Главный результат: Helformer — лучшая модель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>на M3 (sMAPE 10,61%, MASE 0,94)</a:t>
            </a:r>
          </a:p>
        </p:txBody>
      </p:sp>
      <p:sp>
        <p:nvSpPr>
          <p:cNvPr id="13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Актуальность и ожидаемые результаты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9CBF2-BD36-E32A-650C-7EE904BFC586}"/>
              </a:ext>
            </a:extLst>
          </p:cNvPr>
          <p:cNvSpPr>
            <a:spLocks noGrp="1" noChangeArrowheads="1"/>
          </p:cNvSpPr>
          <p:nvPr>
            <p:ph type="body" sz="quarter" idx="11"/>
          </p:nvPr>
        </p:nvSpPr>
        <p:spPr bwMode="auto">
          <a:xfrm>
            <a:off x="0" y="1663544"/>
            <a:ext cx="5714999" cy="46166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i="0" u="none" strike="noStrike" cap="none" normalizeH="0" baseline="0" dirty="0" err="1" sz="1100">
                <a:ln>
                  <a:noFill/>
                </a:ln>
                <a:solidFill>
                  <a:schemeClr val="tx1"/>
                </a:solidFill>
                <a:effectLst/>
              </a:rPr>
              <a:t>Временные ряды являются основным инструментом моделирования динамических процессов в экономике, энергетике, транспорте и финансах. Точность прогноза напрямую определяет качество планирования ресурсов и оценки рисков.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i="0" u="none" strike="noStrike" cap="none" normalizeH="0" baseline="0" dirty="0" err="1" sz="1100">
                <a:ln>
                  <a:noFill/>
                </a:ln>
                <a:solidFill>
                  <a:schemeClr val="tx1"/>
                </a:solidFill>
                <a:effectLst/>
              </a:rPr>
              <a:t>Классические модели (ARIMA, ETS) хорошо изучены, но требуют ручной настройки и плохо обрабатывают нестационарность.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i="0" u="none" strike="noStrike" cap="none" normalizeH="0" baseline="0" dirty="0" err="1" sz="1100">
                <a:ln>
                  <a:noFill/>
                </a:ln>
                <a:solidFill>
                  <a:schemeClr val="tx1"/>
                </a:solidFill>
                <a:effectLst/>
              </a:rPr>
              <a:t>Нейросетевые трансформеры (Autoformer, FEDformer, PatchTST) внедряют обучаемую декомпозицию ряда на тренд и сезонность непосредственно внутри архитектуры, однако их эффективность зависит от длины ряда и режима обучения.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i="0" u="none" strike="noStrike" cap="none" normalizeH="0" baseline="0" dirty="0" err="1" sz="1100">
                <a:ln>
                  <a:noFill/>
                </a:ln>
                <a:solidFill>
                  <a:schemeClr val="tx1"/>
                </a:solidFill>
                <a:effectLst/>
              </a:rPr>
              <a:t>Центральный вопрос: когда обучаемая декомпозиция эффективнее фиксированной статистической, и при каких условиях гибридный подход (Helformer) оказывается лучшим?</a:t>
            </a:r>
          </a:p>
        </p:txBody>
      </p:sp>
    </p:spTree>
    <p:extLst>
      <p:ext uri="{BB962C8B-B14F-4D97-AF65-F5344CB8AC3E}">
        <p14:creationId xmlns:p14="http://schemas.microsoft.com/office/powerpoint/2010/main" val="1780682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Текст 6">
            <a:extLst>
              <a:ext uri="{FF2B5EF4-FFF2-40B4-BE49-F238E27FC236}">
                <a16:creationId xmlns:a16="http://schemas.microsoft.com/office/drawing/2014/main" id="{71ACD7CE-8053-445F-9CFC-EB84FFEA9C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6703" y="1221483"/>
            <a:ext cx="5334498" cy="405186"/>
          </a:xfrm>
        </p:spPr>
        <p:txBody>
          <a:bodyPr/>
          <a:lstStyle/>
          <a:p>
            <a:r>
              <a:rPr lang="ru-RU" dirty="0"/>
              <a:t>Научная новизна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0A5090A8-2FFA-469F-BBCE-5E36DE948C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57887" y="1221483"/>
            <a:ext cx="5957887" cy="405186"/>
          </a:xfrm>
        </p:spPr>
        <p:txBody>
          <a:bodyPr/>
          <a:lstStyle/>
          <a:p>
            <a:r>
              <a:rPr lang="ru-RU" dirty="0"/>
              <a:t>Практическая значимость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6703" y="1626669"/>
            <a:ext cx="5727902" cy="422509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z="1100"/>
              <a:t>1. Проведено систематическое сравнение фиксированной и обучаемой декомпозиции на 180 рядах M3/M4 с участием 11 моделей — крупнейшее в данной постановке.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z="1100"/>
              <a:t>2. Helformer (HW-декомпозиция + трансформер) превосходит все чисто нейросетевые модели: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z="1100"/>
              <a:t xml:space="preserve">   • sMAPE 10,61% vs 13,89% у 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z="1100"/>
              <a:t xml:space="preserve">   • sMAPE 10,61% vs 17,87% у TimesNet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z="1100"/>
              <a:t xml:space="preserve">   • MASE 0,94 vs 1,47 у 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z="1100"/>
              <a:t>3. Выявлена граница ~50–100 наблюдений: ниже неё нейросети уступают статистике.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z="1100"/>
              <a:t>4. Предобучение трансформеров на корпусе рядов даёт +7–11% sMAPE.</a:t>
            </a:r>
          </a:p>
        </p:txBody>
      </p:sp>
      <p:sp>
        <p:nvSpPr>
          <p:cNvPr id="10" name="Текст 5">
            <a:extLst>
              <a:ext uri="{FF2B5EF4-FFF2-40B4-BE49-F238E27FC236}">
                <a16:creationId xmlns:a16="http://schemas.microsoft.com/office/drawing/2014/main" id="{B0715760-7422-45EB-8CBE-31C8A2B799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957888" y="1626669"/>
            <a:ext cx="6107409" cy="4225097"/>
          </a:xfrm>
        </p:spPr>
        <p:txBody>
          <a:bodyPr/>
          <a:lstStyle/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>Воспроизводимый программный стенд на Python/PyTorch с модульной архитектурой: фабрики моделей, JSON-конфиги, чекпоинтирование, GPU-поддержка.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>Практические рекомендации по выбору модели: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>• Короткие ряды с сезонностью → Helformer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>• Длинные ряды (&gt;100 точек) → DLinear или N-BEATS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>• Средние ряды → ETS или TimesNet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>• При наличии корпуса → предобучение трансформеров</a:t>
            </a: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</a:p>
          <a:p>
            <a:pPr marL="285750" lvl="0" indent="-2857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 err="1" sz="1100">
                <a:solidFill>
                  <a:schemeClr val="tx1"/>
                </a:solidFill>
              </a:rPr>
              <a:t>Результаты применимы к прогнозированию в финансах, энергетике, логистике, городской инфраструктуре.</a:t>
            </a:r>
          </a:p>
        </p:txBody>
      </p:sp>
      <p:sp>
        <p:nvSpPr>
          <p:cNvPr id="13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Новизна и практическая значимость</a:t>
            </a:r>
          </a:p>
        </p:txBody>
      </p:sp>
    </p:spTree>
    <p:extLst>
      <p:ext uri="{BB962C8B-B14F-4D97-AF65-F5344CB8AC3E}">
        <p14:creationId xmlns:p14="http://schemas.microsoft.com/office/powerpoint/2010/main" val="4161753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F55F4DA6-9028-4545-82AA-A50889F761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2294" y="1292920"/>
            <a:ext cx="11167412" cy="4907855"/>
          </a:xfrm>
        </p:spPr>
        <p:txBody>
          <a:bodyPr/>
          <a:lstStyle/>
          <a:p>
            <a:r>
              <a:rPr lang="ru" sz="1000" dirty="0"/>
              <a:t>Отличие фиксированной и обучаемой декомпозиции:</a:t>
            </a:r>
          </a:p>
          <a:p/>
          <a:p>
            <a:r>
              <a:rPr lang="ru" sz="1000" dirty="0"/>
              <a:t>Фиксированная декомпозиция (ETS, Helformer): ряд разлагается методом Хольта–Уинтерса на тренд, сезонность и остаток ДО подачи в нейросеть. Параметры декомпозиции определяются статистически, нейросеть обрабатывает только остатки.</a:t>
            </a:r>
          </a:p>
          <a:p/>
          <a:p>
            <a:r>
              <a:rPr lang="ru" sz="1000" dirty="0"/>
              <a:t>Обучаемая декомпозиция (Autoformer, DLinear): декомпозиция встроена в саму нейросеть. Autoformer выполняет progressive decomposition на каждом слое энкодера через скользящее среднее, а DLinear использует обучаемое ядро для разделения тренда и остатка с последующей линейной проекцией.</a:t>
            </a:r>
          </a:p>
          <a:p/>
          <a:p>
            <a:r>
              <a:rPr lang="ru" sz="1000" dirty="0"/>
              <a:t>Протокол эксперимента:</a:t>
            </a:r>
          </a:p>
          <a:p>
            <a:r>
              <a:rPr lang="ru" sz="1000" dirty="0"/>
              <a:t>• Per-series обучение: каждая нейросеть обучается отдельно на каждом ряде (80 эпох, AdamW, z-score нормализация)</a:t>
            </a:r>
          </a:p>
          <a:p>
            <a:r>
              <a:rPr lang="ru" sz="1000" dirty="0"/>
              <a:t>• M3: 90 рядов (30 yearly H=6, 30 quarterly H=8, 30 monthly H=18)</a:t>
            </a:r>
          </a:p>
          <a:p>
            <a:r>
              <a:rPr lang="ru" sz="1000" dirty="0"/>
              <a:t>• M4: 90 рядов (30 quarterly H=8, 30 monthly H=18, 30 daily H=14)</a:t>
            </a:r>
          </a:p>
          <a:p>
            <a:r>
              <a:rPr lang="ru" sz="1000" dirty="0"/>
              <a:t>• Seed=42, GPU RTX A4000, воспроизводимые конфигурации</a:t>
            </a:r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Методология исследования</a:t>
            </a:r>
          </a:p>
        </p:txBody>
      </p:sp>
    </p:spTree>
    <p:extLst>
      <p:ext uri="{BB962C8B-B14F-4D97-AF65-F5344CB8AC3E}">
        <p14:creationId xmlns:p14="http://schemas.microsoft.com/office/powerpoint/2010/main" val="2637191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План-график реализации проекта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0BC6D921-72FF-5D97-D9D5-63BBBF9252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8214342"/>
              </p:ext>
            </p:extLst>
          </p:nvPr>
        </p:nvGraphicFramePr>
        <p:xfrm>
          <a:off x="881063" y="1157288"/>
          <a:ext cx="10429874" cy="4900557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33450">
                  <a:extLst>
                    <a:ext uri="{9D8B030D-6E8A-4147-A177-3AD203B41FA5}">
                      <a16:colId xmlns:a16="http://schemas.microsoft.com/office/drawing/2014/main" val="814578713"/>
                    </a:ext>
                  </a:extLst>
                </a:gridCol>
                <a:gridCol w="2039255">
                  <a:extLst>
                    <a:ext uri="{9D8B030D-6E8A-4147-A177-3AD203B41FA5}">
                      <a16:colId xmlns:a16="http://schemas.microsoft.com/office/drawing/2014/main" val="1015056024"/>
                    </a:ext>
                  </a:extLst>
                </a:gridCol>
                <a:gridCol w="7457169">
                  <a:extLst>
                    <a:ext uri="{9D8B030D-6E8A-4147-A177-3AD203B41FA5}">
                      <a16:colId xmlns:a16="http://schemas.microsoft.com/office/drawing/2014/main" val="3614927381"/>
                    </a:ext>
                  </a:extLst>
                </a:gridCol>
              </a:tblGrid>
              <a:tr h="511437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Неделя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Сроки выполнения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Этап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2266544"/>
                  </a:ext>
                </a:extLst>
              </a:tr>
              <a:tr h="860163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01.09.2025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" dirty="0"/>
                        <a:t>Выбор и утверждение темы, формулировка цели и задач работы, прохождение инструктажей по технике безопасности и внутреннему распорядку.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3904120"/>
                  </a:ext>
                </a:extLst>
              </a:tr>
              <a:tr h="511437"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3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15.09.2025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" dirty="0"/>
                        <a:t>Подготовка и исследование примеров временных рядов с разной структурой (с/без тренда, с/без сезонности, с сильным шумом);</a:t>
                      </a:r>
                    </a:p>
                    <a:p>
                      <a:pPr algn="l"/>
                      <a:r>
                        <a:rPr lang="ru" dirty="0"/>
                        <a:t>Настройка параметров моделей и анализ качества по базовым метрикам.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022019"/>
                  </a:ext>
                </a:extLst>
              </a:tr>
              <a:tr h="511437"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7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13.10.2025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" dirty="0"/>
                        <a:t>Реализация и экспериментальное изучение нейросетевых моделей для временных рядов (</a:t>
                      </a:r>
                      <a:r>
                        <a:rPr lang="en-US" dirty="0" err="1"/>
                        <a:t>FEDFormer</a:t>
                      </a:r>
                      <a:r>
                        <a:rPr lang="en-US" dirty="0"/>
                        <a:t xml:space="preserve">, </a:t>
                      </a:r>
                      <a:r>
                        <a:rPr lang="en-US" dirty="0" err="1"/>
                        <a:t>TimesNet</a:t>
                      </a:r>
                      <a:r>
                        <a:rPr lang="en-US" dirty="0"/>
                        <a:t xml:space="preserve">, </a:t>
                      </a:r>
                      <a:r>
                        <a:rPr lang="en-US" dirty="0" err="1"/>
                        <a:t>Helformer</a:t>
                      </a:r>
                      <a:r>
                        <a:rPr lang="en-US" dirty="0"/>
                        <a:t>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0736288"/>
                  </a:ext>
                </a:extLst>
              </a:tr>
              <a:tr h="511437"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9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27.10.2025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" dirty="0"/>
                        <a:t xml:space="preserve">Настройка и сравнение различных схем декомпозиции временных рядов для архитектуры </a:t>
                      </a:r>
                      <a:r>
                        <a:rPr lang="en-US" dirty="0" err="1"/>
                        <a:t>Helformer</a:t>
                      </a:r>
                      <a:r>
                        <a:rPr lang="en-US" dirty="0"/>
                        <a:t xml:space="preserve">, </a:t>
                      </a:r>
                      <a:r>
                        <a:rPr lang="ru" dirty="0"/>
                        <a:t>выбор рабочих конфигураций.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6999828"/>
                  </a:ext>
                </a:extLst>
              </a:tr>
              <a:tr h="511437"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13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01.12.2025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" dirty="0"/>
                        <a:t xml:space="preserve">Проведение серии экспериментов на наборах </a:t>
                      </a:r>
                      <a:r>
                        <a:rPr lang="en-US" dirty="0"/>
                        <a:t xml:space="preserve">M3–M4–M5, </a:t>
                      </a:r>
                      <a:r>
                        <a:rPr lang="ru" dirty="0"/>
                        <a:t xml:space="preserve">сравнение моделей по метрикам </a:t>
                      </a:r>
                      <a:r>
                        <a:rPr lang="en-US" dirty="0" err="1"/>
                        <a:t>sMAPE</a:t>
                      </a:r>
                      <a:r>
                        <a:rPr lang="en-US" dirty="0"/>
                        <a:t>, MAPE, MASE, RMSE.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3496865"/>
                  </a:ext>
                </a:extLst>
              </a:tr>
              <a:tr h="511437"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16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20.12.2025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" dirty="0"/>
                        <a:t>Обобщение результатов, подготовка текста отчёта и презентации, сдача материалов на кафедру и защита НИР.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53470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1246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3C71EE4E-0F40-4112-ADFB-8AEFEF48A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4" y="147144"/>
            <a:ext cx="7055318" cy="657744"/>
          </a:xfrm>
        </p:spPr>
        <p:txBody>
          <a:bodyPr/>
          <a:lstStyle/>
          <a:p>
            <a:r>
              <a:rPr lang="ru-RU" dirty="0"/>
              <a:t>Заключение и выводы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7E7DDDC-BF5C-B9CC-AFBC-85FF7816B605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290513" y="1128054"/>
            <a:ext cx="11596687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000" dirty="0" err="1">
                <a:solidFill>
                  <a:schemeClr val="tx1"/>
                </a:solidFill>
              </a:rPr>
              <a:t>1. Гибридная модель Helformer (фиксированная декомпозиция Хольта–Уинтерса + трансформерная коррекция остатков) — лучшая модель среди всех 11 протестированных на M3 Competition (sMAPE 10,61%, MASE 0,94, средний ранг 2,00).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000" dirty="0" err="1">
                <a:solidFill>
                  <a:schemeClr val="tx1"/>
                </a:solidFill>
              </a:rPr>
              <a:t>2. Длина обучающей выборки — критический фактор: при менее 50 наблюдениях все нейросети уступают ETS и ARIMA; при более 100 — DLinear и N-BEATS конкурируют и побеждают.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000" dirty="0" err="1">
                <a:solidFill>
                  <a:schemeClr val="tx1"/>
                </a:solidFill>
              </a:rPr>
              <a:t>3. Обучаемая декомпозиция трансформерного типа (Autoformer, FEDformer) в per-series режиме показала наихудшие результаты (sMAPE 22–34%). Простая обучаемая декомпозиция (DLinear) эффективна только на длинных рядах.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000" dirty="0" err="1">
                <a:solidFill>
                  <a:schemeClr val="tx1"/>
                </a:solidFill>
              </a:rPr>
              <a:t>4. Предобучение трансформеров на корпусе рядов улучшает sMAPE на 7–11%, частично компенсируя дефицит данных при per-series обучении.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000" dirty="0" err="1">
                <a:solidFill>
                  <a:schemeClr val="tx1"/>
                </a:solidFill>
              </a:rPr>
              <a:t>5. Итеративное прогнозирование выявляет хрупкость обучаемой декомпозиции: FEDformer деградирует на +6,3 п.п., тогда как PatchTST (без декомпозиции) — наиболее устойчивый (+1,8 п.п.).</a:t>
            </a:r>
          </a:p>
        </p:txBody>
      </p:sp>
    </p:spTree>
    <p:extLst>
      <p:ext uri="{BB962C8B-B14F-4D97-AF65-F5344CB8AC3E}">
        <p14:creationId xmlns:p14="http://schemas.microsoft.com/office/powerpoint/2010/main" val="204113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Текст 16">
            <a:extLst>
              <a:ext uri="{FF2B5EF4-FFF2-40B4-BE49-F238E27FC236}">
                <a16:creationId xmlns:a16="http://schemas.microsoft.com/office/drawing/2014/main" id="{9472852A-76F7-4C94-9F3E-38A9FA4D3A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БЛАГОДАРЮ ЗА ВНИМАНИЕ!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5AC49201-F2AA-4E39-B988-F0577D5BBC0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5546" y="1549772"/>
            <a:ext cx="4948874" cy="921966"/>
          </a:xfrm>
        </p:spPr>
        <p:txBody>
          <a:bodyPr/>
          <a:lstStyle/>
          <a:p>
            <a:r>
              <a:rPr lang="ru-RU" sz="2000" dirty="0"/>
              <a:t xml:space="preserve">Построение комбинированных моделей на основе алгоритма </a:t>
            </a:r>
            <a:r>
              <a:rPr lang="en-US" sz="2000" dirty="0" err="1"/>
              <a:t>Helformer</a:t>
            </a:r>
            <a:r>
              <a:rPr lang="en-US" sz="2000" dirty="0"/>
              <a:t xml:space="preserve"> </a:t>
            </a:r>
            <a:r>
              <a:rPr lang="ru-RU" sz="2000" dirty="0"/>
              <a:t>при обработке временных рядов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8377CDFB-EF8B-489A-BCD9-02A4697BA60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35546" y="3276599"/>
            <a:ext cx="4948874" cy="304801"/>
          </a:xfrm>
        </p:spPr>
        <p:txBody>
          <a:bodyPr>
            <a:noAutofit/>
          </a:bodyPr>
          <a:lstStyle/>
          <a:p>
            <a:r>
              <a:rPr lang="ru-RU" dirty="0"/>
              <a:t>Лазарев Александр Кириллович</a:t>
            </a: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A11B40D-4061-4C12-817A-6FA9313A577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5546" y="3644432"/>
            <a:ext cx="4948874" cy="362115"/>
          </a:xfrm>
        </p:spPr>
        <p:txBody>
          <a:bodyPr/>
          <a:lstStyle/>
          <a:p>
            <a:r>
              <a:rPr lang="ru-RU" dirty="0"/>
              <a:t>РТУ МИРЭА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9EE7883C-2C90-2D49-A057-8E3CEC2715C4}"/>
              </a:ext>
            </a:extLst>
          </p:cNvPr>
          <p:cNvSpPr txBox="1">
            <a:spLocks/>
          </p:cNvSpPr>
          <p:nvPr/>
        </p:nvSpPr>
        <p:spPr>
          <a:xfrm>
            <a:off x="9594419" y="6272980"/>
            <a:ext cx="1760370" cy="4189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1800" kern="120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Calibri" panose="020F0502020204030204" pitchFamily="34" charset="0"/>
              </a:rPr>
              <a:t>202</a:t>
            </a:r>
            <a:r>
              <a:rPr lang="ru-RU" sz="1800" kern="120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Calibri" panose="020F0502020204030204" pitchFamily="34" charset="0"/>
              </a:rPr>
              <a:t>5</a:t>
            </a:r>
            <a:r>
              <a:rPr lang="en-US" sz="1800" kern="120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Calibri" panose="020F0502020204030204" pitchFamily="34" charset="0"/>
              </a:rPr>
              <a:t xml:space="preserve"> </a:t>
            </a:r>
            <a:r>
              <a:rPr lang="ru-RU" sz="1800" kern="120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Calibri" panose="020F0502020204030204" pitchFamily="34" charset="0"/>
              </a:rPr>
              <a:t>год</a:t>
            </a:r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819BDAD4-48C5-7F47-A1B5-81BEB035FBF6}"/>
              </a:ext>
            </a:extLst>
          </p:cNvPr>
          <p:cNvSpPr txBox="1">
            <a:spLocks/>
          </p:cNvSpPr>
          <p:nvPr/>
        </p:nvSpPr>
        <p:spPr>
          <a:xfrm>
            <a:off x="835546" y="6272980"/>
            <a:ext cx="7472912" cy="4189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ru-RU" sz="180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Calibri" panose="020F0502020204030204" pitchFamily="34" charset="0"/>
              </a:rPr>
              <a:t>Всероссийский инженерный конкурс</a:t>
            </a:r>
          </a:p>
        </p:txBody>
      </p:sp>
      <p:sp>
        <p:nvSpPr>
          <p:cNvPr id="10" name="Текст 19">
            <a:extLst>
              <a:ext uri="{FF2B5EF4-FFF2-40B4-BE49-F238E27FC236}">
                <a16:creationId xmlns:a16="http://schemas.microsoft.com/office/drawing/2014/main" id="{5F7D6AE5-9D72-804E-A86D-EBDFFB592E77}"/>
              </a:ext>
            </a:extLst>
          </p:cNvPr>
          <p:cNvSpPr txBox="1">
            <a:spLocks/>
          </p:cNvSpPr>
          <p:nvPr/>
        </p:nvSpPr>
        <p:spPr>
          <a:xfrm>
            <a:off x="835546" y="5857392"/>
            <a:ext cx="10482942" cy="3621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dirty="0">
                <a:solidFill>
                  <a:schemeClr val="bg1"/>
                </a:solidFill>
              </a:rPr>
              <a:t>Уровень образования: бакалавриат</a:t>
            </a:r>
          </a:p>
        </p:txBody>
      </p:sp>
      <p:sp>
        <p:nvSpPr>
          <p:cNvPr id="11" name="Текст 19">
            <a:extLst>
              <a:ext uri="{FF2B5EF4-FFF2-40B4-BE49-F238E27FC236}">
                <a16:creationId xmlns:a16="http://schemas.microsoft.com/office/drawing/2014/main" id="{F319A504-7A55-3F48-9F85-6EBCDCAF910D}"/>
              </a:ext>
            </a:extLst>
          </p:cNvPr>
          <p:cNvSpPr txBox="1">
            <a:spLocks/>
          </p:cNvSpPr>
          <p:nvPr/>
        </p:nvSpPr>
        <p:spPr>
          <a:xfrm>
            <a:off x="835546" y="5495277"/>
            <a:ext cx="4948874" cy="3621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dirty="0">
                <a:solidFill>
                  <a:schemeClr val="bg1"/>
                </a:solidFill>
              </a:rPr>
              <a:t>Курс обучения: 4</a:t>
            </a:r>
          </a:p>
        </p:txBody>
      </p:sp>
    </p:spTree>
    <p:extLst>
      <p:ext uri="{BB962C8B-B14F-4D97-AF65-F5344CB8AC3E}">
        <p14:creationId xmlns:p14="http://schemas.microsoft.com/office/powerpoint/2010/main" val="2511029548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Результаты: кросс-датасетное сравнение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ru-RU" dirty="0"/>
              <a:t>Основные наблюдения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ru-RU" dirty="0" sz="1100"/>
              <a:t>Helformer — лучшая модель на M3:</a:t>
            </a:r>
          </a:p>
          <a:p>
            <a:r>
              <a:rPr lang="ru-RU" dirty="0" sz="1100"/>
              <a:t>sMAPE 10,61% (vs 13,89% ETS)</a:t>
            </a:r>
          </a:p>
          <a:p/>
          <a:p>
            <a:r>
              <a:rPr lang="ru-RU" dirty="0" sz="1100"/>
              <a:t>ETS — лучшая статистическая:</a:t>
            </a:r>
          </a:p>
          <a:p>
            <a:r>
              <a:rPr lang="ru-RU" dirty="0" sz="1100"/>
              <a:t>стабильно top-2 на всех частотах</a:t>
            </a:r>
          </a:p>
          <a:p/>
          <a:p>
            <a:r>
              <a:rPr lang="ru-RU" dirty="0" sz="1100"/>
              <a:t>DLinear — лучший на M4 daily:</a:t>
            </a:r>
          </a:p>
          <a:p>
            <a:r>
              <a:rPr lang="ru-RU" dirty="0" sz="1100"/>
              <a:t>sMAPE 2,43% (длинные ряды)</a:t>
            </a:r>
          </a:p>
          <a:p/>
          <a:p>
            <a:r>
              <a:rPr lang="ru-RU" dirty="0" sz="1100"/>
              <a:t>Autoformer, FEDformer —</a:t>
            </a:r>
          </a:p>
          <a:p>
            <a:r>
              <a:rPr lang="ru-RU" dirty="0" sz="1100"/>
              <a:t>слабейшие (sMAPE 22–34%),</a:t>
            </a:r>
          </a:p>
          <a:p>
            <a:r>
              <a:rPr lang="ru-RU" dirty="0" sz="1100"/>
              <a:t>обучаемая decomp не окупается</a:t>
            </a:r>
          </a:p>
          <a:p>
            <a:r>
              <a:rPr lang="ru-RU" dirty="0" sz="1100"/>
              <a:t>при per-series обучении</a:t>
            </a:r>
          </a:p>
        </p:txBody>
      </p:sp>
      <p:pic>
        <p:nvPicPr>
          <p:cNvPr id="5" name="Picture Placeholder 4" descr="heatmap_smape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8259" r="28259"/>
          <a:stretch>
            <a:fillRect/>
          </a:stretch>
        </p:blipFill>
        <p:spPr/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Итеративное прогнозирование (rollout)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ru-RU" dirty="0"/>
              <a:t>Деградация при rollout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ru-RU" dirty="0" sz="1100"/>
              <a:t>При итеративном прогнозе модель</a:t>
            </a:r>
          </a:p>
          <a:p>
            <a:r>
              <a:rPr lang="ru-RU" dirty="0" sz="1100"/>
              <a:t>предсказывает по одному шагу,</a:t>
            </a:r>
          </a:p>
          <a:p>
            <a:r>
              <a:rPr lang="ru-RU" dirty="0" sz="1100"/>
              <a:t>используя собственные предсказания</a:t>
            </a:r>
          </a:p>
          <a:p>
            <a:r>
              <a:rPr lang="ru-RU" dirty="0" sz="1100"/>
              <a:t>как входные данные.</a:t>
            </a:r>
          </a:p>
          <a:p/>
          <a:p>
            <a:r>
              <a:rPr lang="ru-RU" dirty="0" sz="1100"/>
              <a:t>Деградация sMAPE (M3):</a:t>
            </a:r>
          </a:p>
          <a:p>
            <a:r>
              <a:rPr lang="ru-RU" dirty="0" sz="1100"/>
              <a:t>• FEDformer: +6,3 п.п.</a:t>
            </a:r>
          </a:p>
          <a:p>
            <a:r>
              <a:rPr lang="ru-RU" dirty="0" sz="1100"/>
              <a:t>• Autoformer: +4,9 п.п.</a:t>
            </a:r>
          </a:p>
          <a:p>
            <a:r>
              <a:rPr lang="ru-RU" dirty="0" sz="1100"/>
              <a:t>• TimesNet: +4,3 п.п.</a:t>
            </a:r>
          </a:p>
          <a:p>
            <a:r>
              <a:rPr lang="ru-RU" dirty="0" sz="1100"/>
              <a:t>• N-BEATS: +3,9 п.п.</a:t>
            </a:r>
          </a:p>
          <a:p>
            <a:r>
              <a:rPr lang="ru-RU" dirty="0" sz="1100"/>
              <a:t>• PatchTST: +1,8 п.п. (лучший)</a:t>
            </a:r>
          </a:p>
          <a:p>
            <a:r>
              <a:rPr lang="ru-RU" dirty="0" sz="1100"/>
              <a:t>• DLinear: +0,4 п.п.</a:t>
            </a:r>
          </a:p>
          <a:p>
            <a:r>
              <a:rPr lang="ru-RU" dirty="0" sz="1100"/>
              <a:t>• ETS, ARIMA: 0,0 п.п.</a:t>
            </a:r>
          </a:p>
          <a:p/>
          <a:p>
            <a:r>
              <a:rPr lang="ru-RU" dirty="0" sz="1100"/>
              <a:t>Вывод: сложная обучаемая</a:t>
            </a:r>
          </a:p>
          <a:p>
            <a:r>
              <a:rPr lang="ru-RU" dirty="0" sz="1100"/>
              <a:t>декомпозиция наименее устойчива</a:t>
            </a:r>
          </a:p>
        </p:txBody>
      </p:sp>
      <p:pic>
        <p:nvPicPr>
          <p:cNvPr id="5" name="Picture Placeholder 4" descr="rollout_m3_quarterly_T478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5975" r="25975"/>
          <a:stretch>
            <a:fillRect/>
          </a:stretch>
        </p:blipFill>
        <p:spPr/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Предобучение трансформеров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ru-RU" dirty="0"/>
              <a:t>Эффект предобучения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ru-RU" dirty="0" sz="1100"/>
              <a:t>Вместо обучения каждой модели</a:t>
            </a:r>
          </a:p>
          <a:p>
            <a:r>
              <a:rPr lang="ru-RU" dirty="0" sz="1100"/>
              <a:t>с нуля на одном ряде —</a:t>
            </a:r>
          </a:p>
          <a:p>
            <a:r>
              <a:rPr lang="ru-RU" dirty="0" sz="1100"/>
              <a:t>предобучение на всех 1428</a:t>
            </a:r>
          </a:p>
          <a:p>
            <a:r>
              <a:rPr lang="ru-RU" dirty="0" sz="1100"/>
              <a:t>месячных рядах M3 (70 тыс. окон),</a:t>
            </a:r>
          </a:p>
          <a:p>
            <a:r>
              <a:rPr lang="ru-RU" dirty="0" sz="1100"/>
              <a:t>затем дообучение 20 эпох.</a:t>
            </a:r>
          </a:p>
          <a:p/>
          <a:p>
            <a:r>
              <a:rPr lang="ru-RU" dirty="0" sz="1100"/>
              <a:t>Улучшение sMAPE:</a:t>
            </a:r>
          </a:p>
          <a:p>
            <a:r>
              <a:rPr lang="ru-RU" dirty="0" sz="1100"/>
              <a:t>• PatchTST: 19,0 → 17,0 (−10,8%)</a:t>
            </a:r>
          </a:p>
          <a:p>
            <a:r>
              <a:rPr lang="ru-RU" dirty="0" sz="1100"/>
              <a:t>• Autoformer: 16,7 → 15,1 (−9,6%)</a:t>
            </a:r>
          </a:p>
          <a:p>
            <a:r>
              <a:rPr lang="ru-RU" dirty="0" sz="1100"/>
              <a:t>• FEDformer: 18,6 → 17,2 (−7,3%)</a:t>
            </a:r>
          </a:p>
          <a:p/>
          <a:p>
            <a:r>
              <a:rPr lang="ru-RU" dirty="0" sz="1100"/>
              <a:t>Вывод: трансформерам критически</a:t>
            </a:r>
          </a:p>
          <a:p>
            <a:r>
              <a:rPr lang="ru-RU" dirty="0" sz="1100"/>
              <a:t>не хватает данных при per-series</a:t>
            </a:r>
          </a:p>
          <a:p>
            <a:r>
              <a:rPr lang="ru-RU" dirty="0" sz="1100"/>
              <a:t>обучении. Предобучение частично</a:t>
            </a:r>
          </a:p>
          <a:p>
            <a:r>
              <a:rPr lang="ru-RU" dirty="0" sz="1100"/>
              <a:t>компенсирует этот дефицит.</a:t>
            </a:r>
          </a:p>
        </p:txBody>
      </p:sp>
      <p:pic>
        <p:nvPicPr>
          <p:cNvPr id="5" name="Picture Placeholder 4" descr="pretrain_m3_monthly_patchtst_T779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6031" r="26031"/>
          <a:stretch>
            <a:fillRect/>
          </a:stretch>
        </p:blipFill>
        <p:spPr/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 прогнозов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ru-RU" dirty="0"/>
              <a:t>Визуальный анализ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ru-RU" dirty="0" sz="1100"/>
              <a:t>На графике — прогноз всех 11</a:t>
            </a:r>
          </a:p>
          <a:p>
            <a:r>
              <a:rPr lang="ru-RU" dirty="0" sz="1100"/>
              <a:t>моделей на квартальном ряде M3.</a:t>
            </a:r>
          </a:p>
          <a:p/>
          <a:p>
            <a:r>
              <a:rPr lang="ru-RU" dirty="0" sz="1100"/>
              <a:t>Синий — обучающая выборка,</a:t>
            </a:r>
          </a:p>
          <a:p>
            <a:r>
              <a:rPr lang="ru-RU" dirty="0" sz="1100"/>
              <a:t>красный — тестовая (8 шагов).</a:t>
            </a:r>
          </a:p>
          <a:p>
            <a:r>
              <a:rPr lang="ru-RU" dirty="0" sz="1100"/>
              <a:t>Пунктир — прогнозы моделей.</a:t>
            </a:r>
          </a:p>
          <a:p/>
          <a:p>
            <a:r>
              <a:rPr lang="ru-RU" dirty="0" sz="1100"/>
              <a:t>Helformer (фиолетовый) и ETS</a:t>
            </a:r>
          </a:p>
          <a:p>
            <a:r>
              <a:rPr lang="ru-RU" dirty="0" sz="1100"/>
              <a:t>(тёмно-синий) ближе всего</a:t>
            </a:r>
          </a:p>
          <a:p>
            <a:r>
              <a:rPr lang="ru-RU" dirty="0" sz="1100"/>
              <a:t>к реальным значениям.</a:t>
            </a:r>
          </a:p>
          <a:p/>
          <a:p>
            <a:r>
              <a:rPr lang="ru-RU" dirty="0" sz="1100"/>
              <a:t>Autoformer и FEDformer дают</a:t>
            </a:r>
          </a:p>
          <a:p>
            <a:r>
              <a:rPr lang="ru-RU" dirty="0" sz="1100"/>
              <a:t>наибольшие отклонения.</a:t>
            </a:r>
          </a:p>
        </p:txBody>
      </p:sp>
      <p:pic>
        <p:nvPicPr>
          <p:cNvPr id="5" name="Picture Placeholder 4" descr="m3_quarterly_T478.pn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l="27599" r="27599"/>
          <a:stretch>
            <a:fillRect/>
          </a:stretch>
        </p:blipFill>
        <p:spPr/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вик">
      <a:dk1>
        <a:srgbClr val="1A468D"/>
      </a:dk1>
      <a:lt1>
        <a:srgbClr val="FFFFFF"/>
      </a:lt1>
      <a:dk2>
        <a:srgbClr val="1A468D"/>
      </a:dk2>
      <a:lt2>
        <a:srgbClr val="FFFFFF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ВИК_Робото-конд">
      <a:majorFont>
        <a:latin typeface="Roboto Condensed"/>
        <a:ea typeface=""/>
        <a:cs typeface=""/>
      </a:majorFont>
      <a:minorFont>
        <a:latin typeface="Roboto Condensed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1130</TotalTime>
  <Words>1239</Words>
  <Application>Microsoft Macintosh PowerPoint</Application>
  <PresentationFormat>Widescreen</PresentationFormat>
  <Paragraphs>97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Roboto Condensed</vt:lpstr>
      <vt:lpstr>Arial</vt:lpstr>
      <vt:lpstr>Calibri</vt:lpstr>
      <vt:lpstr>Тема Office</vt:lpstr>
      <vt:lpstr>PowerPoint Presentation</vt:lpstr>
      <vt:lpstr>Актуальность и ожидаемые результаты</vt:lpstr>
      <vt:lpstr>Новизна и практическая значимость</vt:lpstr>
      <vt:lpstr>Описание проекта</vt:lpstr>
      <vt:lpstr>План-график реализации проекта</vt:lpstr>
      <vt:lpstr>Заключение и выводы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Лазарев Александр</cp:lastModifiedBy>
  <cp:revision>78</cp:revision>
  <dcterms:created xsi:type="dcterms:W3CDTF">2021-10-15T21:48:49Z</dcterms:created>
  <dcterms:modified xsi:type="dcterms:W3CDTF">2025-11-27T03:58:20Z</dcterms:modified>
</cp:coreProperties>
</file>