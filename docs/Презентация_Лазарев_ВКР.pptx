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224528"/>
            <a:ext cx="4023360" cy="3175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035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МИРЭА — Российский технологический университет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50976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7C2DE"/>
                </a:solidFill>
                <a:latin typeface="Calibri"/>
              </a:rPr>
              <a:t>Институт искусственного интеллекта · Кафедра высшей математики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A5F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Прогнозирование временных рядов за счёт</a:t>
            </a:r>
          </a:p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обучаемой декомпозиции и нейросетевых механизмов</a:t>
            </a:r>
          </a:p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учёта долгосрочных зависимостей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2628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7C2DE"/>
                </a:solidFill>
                <a:latin typeface="Calibri"/>
              </a:rPr>
              <a:t>Выполнил: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студент группы КМБО-03-22 — Лазарев А.К.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5604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7C2DE"/>
                </a:solidFill>
                <a:latin typeface="Calibri"/>
              </a:rPr>
              <a:t>Научный руководитель: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к.ф.-м.н., доцент кафедры ВМ — Петрусевич Д.А.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89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C2DE"/>
                </a:solidFill>
                <a:latin typeface="Calibri"/>
              </a:rPr>
              <a:t>Москва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Актуальность и цель исследования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1. Постановка задачи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27632"/>
            <a:ext cx="5532120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792224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Проблематика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31136"/>
            <a:ext cx="5074920" cy="3246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92E3A"/>
                </a:solidFill>
                <a:latin typeface="Calibri"/>
              </a:rPr>
              <a:t>Прикладная значимость. </a:t>
            </a:r>
            <a:r>
              <a:rPr sz="1500" b="0" i="0">
                <a:solidFill>
                  <a:srgbClr val="292E3A"/>
                </a:solidFill>
                <a:latin typeface="Calibri"/>
              </a:rPr>
              <a:t>Краткосрочный прогноз применяется в планировании спроса, трафика и ресурсов.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92E3A"/>
                </a:solidFill>
                <a:latin typeface="Calibri"/>
              </a:rPr>
              <a:t>Отсутствие универсальной модели. </a:t>
            </a:r>
            <a:r>
              <a:rPr sz="1500" b="0" i="0">
                <a:solidFill>
                  <a:srgbClr val="292E3A"/>
                </a:solidFill>
                <a:latin typeface="Calibri"/>
              </a:rPr>
              <a:t>Статистические методы устойчивы на коротких рядах, нейросетевые — на длинных и сложных.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92E3A"/>
                </a:solidFill>
                <a:latin typeface="Calibri"/>
              </a:rPr>
              <a:t>Открытый вопрос. </a:t>
            </a:r>
            <a:r>
              <a:rPr sz="1500" b="0" i="0">
                <a:solidFill>
                  <a:srgbClr val="292E3A"/>
                </a:solidFill>
                <a:latin typeface="Calibri"/>
              </a:rPr>
              <a:t>Оправдывают ли обучаемая декомпозиция и механизмы долгосрочных зависимостей свою сложность?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27632"/>
            <a:ext cx="5148072" cy="3977639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27632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A5F"/>
                </a:solidFill>
                <a:latin typeface="Calibri"/>
              </a:rPr>
              <a:t>ЦЕЛЬ РАБОТЫ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31720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Установить условия, при которых обучаемая декомпозиция временных рядов и нейросетевые механизмы учёта долгосрочных зависимостей обеспечивают практическое преимущество над классическими статистическими моделями, и определить области, где более простые методы остаются предпочтительными.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Классические статистические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1. Четыре эталонные модели сравнения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27632"/>
            <a:ext cx="2660904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2660904" cy="548640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28216"/>
            <a:ext cx="2660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Seasonal Naive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331720"/>
            <a:ext cx="22768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Прогноз воспроизводит значения предыдущего сезонного периода. Не имеет обучаемых параметров.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754880"/>
            <a:ext cx="2258568" cy="15240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864608"/>
            <a:ext cx="227685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C25A40"/>
                </a:solidFill>
                <a:latin typeface="Calibri"/>
              </a:rPr>
              <a:t>Роль: эталон для метрики MASE и нижняя граница качества.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1627632"/>
            <a:ext cx="2660904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9856" y="1627632"/>
            <a:ext cx="2660904" cy="548640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1728216"/>
            <a:ext cx="2660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Auto-ARIMA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331720"/>
            <a:ext cx="22768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Линейная модель стационаризованного ряда: авторегрессия, интегрирование (разности) и скользящее среднее. Порядки (p, d, q) подбираются автоматически по информационному критерию.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21024" y="4754880"/>
            <a:ext cx="2258568" cy="15240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4864608"/>
            <a:ext cx="227685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C25A40"/>
                </a:solidFill>
                <a:latin typeface="Calibri"/>
              </a:rPr>
              <a:t>Сильная сторона: устойчивость на коротких рядах.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1627632"/>
            <a:ext cx="2660904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1627632"/>
            <a:ext cx="2660904" cy="548640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728216"/>
            <a:ext cx="2660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31720"/>
            <a:ext cx="22768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Экспоненциальное сглаживание уровня, тренда и сезонности в пространстве состояний. Веса α, β, γ оцениваются по правдоподобию.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54880"/>
            <a:ext cx="2258568" cy="15240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864608"/>
            <a:ext cx="227685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C25A40"/>
                </a:solidFill>
                <a:latin typeface="Calibri"/>
              </a:rPr>
              <a:t>Сильная сторона: плавная динамика и сезонность.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79408" y="1627632"/>
            <a:ext cx="2660904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9408" y="1627632"/>
            <a:ext cx="2660904" cy="548640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9408" y="1728216"/>
            <a:ext cx="2660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Prophet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331720"/>
            <a:ext cx="22768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Аддитивная декомпозиция: кусочно-линейный тренд, сезонные гармоники и календарные эффекты с байесовской оценкой параметров.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0576" y="4754880"/>
            <a:ext cx="2258568" cy="15240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0576" y="4864608"/>
            <a:ext cx="227685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1">
                <a:solidFill>
                  <a:srgbClr val="C25A40"/>
                </a:solidFill>
                <a:latin typeface="Calibri"/>
              </a:rPr>
              <a:t>Особенность: гибкая настройка сезонных компонент.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Классические модели интерпретируемы и устойчивы при ограниченной истории наблюдений — это сильная база сравнения.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Нейросетевые модели и их архитектуры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1. Семь моделей: от линейных до гибридных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pic>
        <p:nvPicPr>
          <p:cNvPr id="11" name="Picture 10" descr="arch_neural_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0059"/>
            <a:ext cx="7818120" cy="38762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13648" y="1517904"/>
            <a:ext cx="2935224" cy="416052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1517904"/>
            <a:ext cx="50800" cy="416052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682496"/>
            <a:ext cx="2569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Семейства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21408"/>
            <a:ext cx="2478024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Линейные: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DLinear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Базисные: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N-BEATS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Свёрточные: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TimesNet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Трансформеры: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Autoformer, FEDformer, PatchTST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Гибридные: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Helformer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Модели различаются способом выделения компонент ряда и механизмом учёта зависимостей — это и есть предмет сравнения.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Экспериментальная база и протокол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2. Данные, режимы, тип декомпозиции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27632"/>
            <a:ext cx="3474720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7922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31136"/>
            <a:ext cx="3017520" cy="3246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M3 Competition.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Полный набор — 2829 рядов: 645 годовых, 756 квартальных, 1428 месячных.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M4 Competition.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3000 рядов: 1000 квартальных, 1000 месячных, 1000 ежедневных.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Итого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6 частотных категорий, 5829 рядов.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Метрики.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sMAPE, MASE, RMSE — для устойчивости выводов к выбору меры.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627632"/>
            <a:ext cx="3474720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4" y="1627632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17922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Три режима прогнозирования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231136"/>
            <a:ext cx="3017520" cy="3246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Прямой.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Весь горизонт прогнозируется за один проход модели.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Итеративный.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Пошаговое продвижение с подстановкой собственных прогнозов; ошибка накапливается.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С предобучением.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Обучение на корпусе рядов с последующим дообучением на целевом ряде.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1627632"/>
            <a:ext cx="3657600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82127" y="1627632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9" y="17922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Тип декомпозиции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231136"/>
            <a:ext cx="3200400" cy="3246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Фиксированная.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Правило задано заранее — ETS, DLinear, Helformer.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Обучаемая.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Компоненты выделяет сеть — Autoformer, FEDformer, TimesNet.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92E3A"/>
                </a:solidFill>
                <a:latin typeface="Calibri"/>
              </a:rPr>
              <a:t>Без декомпозиции. </a:t>
            </a:r>
            <a:r>
              <a:rPr sz="1400" b="0" i="0">
                <a:solidFill>
                  <a:srgbClr val="292E3A"/>
                </a:solidFill>
                <a:latin typeface="Calibri"/>
              </a:rPr>
              <a:t>Прямое моделирование — Auto-ARIMA, PatchTST.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Сопоставление по трём осям — длина ряда, режим обучения и тип декомпозиции — формирует структуру анализа.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Прямое прогнозирование: общая картина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Сравнительная позиция моделей по частотам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pic>
        <p:nvPicPr>
          <p:cNvPr id="11" name="Picture 10" descr="rank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9467"/>
            <a:ext cx="7360920" cy="363910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38160" y="1554480"/>
            <a:ext cx="3410712" cy="406908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50800" cy="406908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71907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Наблюдения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157984"/>
            <a:ext cx="2953512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Лидерство классики.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Auto-ARIMA, ETS, Seasonal Naive — верхние ранги на всех частотах.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Лучшая нейросеть.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TimesNet, средний ранг ≈ 4.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Отставание трансформеров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в режиме обучения на одном ряде.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В режиме обучения на одном ряде классические модели сохраняют лидерство, однако разрыв убывает с ростом длины ряда.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Длина обучающей выборки как фактор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Пороговая зависимость качества от длины ряда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pic>
        <p:nvPicPr>
          <p:cNvPr id="11" name="Picture 10" descr="bar_m4_daily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1177"/>
            <a:ext cx="7040880" cy="28956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18120" y="1554480"/>
            <a:ext cx="3730752" cy="406908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554480"/>
            <a:ext cx="50800" cy="406908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719072"/>
            <a:ext cx="33649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Пороговый эффект (≈ 50–100 набл.)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157984"/>
            <a:ext cx="3273552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Короткие ряды.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Уверенное преимущество классических моделей.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Длинные ряды M4 daily.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Нейросети конкурентоспособны.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TimesNet (3.62)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сопоставим с Auto-ARIMA (3.22) и ETS (3.46).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Существует пороговая длина обучающей выборки: ниже неё лидирует классика, выше — нейросетевые модели выходят на её уровень.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Предобучение: эффект переноса знаний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Относительное улучшение по частотам и моделям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pic>
        <p:nvPicPr>
          <p:cNvPr id="11" name="Picture 10" descr="pretrain_effect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46809"/>
            <a:ext cx="7223760" cy="219298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01000" y="1554480"/>
            <a:ext cx="3547872" cy="3977639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54480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556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A5F"/>
                </a:solidFill>
                <a:latin typeface="Calibri"/>
              </a:rPr>
              <a:t>СРЕДНИЙ ВЫИГРЫШ sMAPE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+31.5 %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C2DE"/>
                </a:solidFill>
                <a:latin typeface="Calibri"/>
              </a:rPr>
              <a:t>DLinear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+25.5 %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03904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C2DE"/>
                </a:solidFill>
                <a:latin typeface="Calibri"/>
              </a:rPr>
              <a:t>Autoformer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37083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+18.2 %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8289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C2DE"/>
                </a:solidFill>
                <a:latin typeface="Calibri"/>
              </a:rPr>
              <a:t>Helformer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Предобучение на корпусе рядов выводит ранее слабые нейросетевые модели на конкурентоспособный уровень.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Предобучение: эффект на прогнозе ряда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Одна модель: обучение с нуля против предобучения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pic>
        <p:nvPicPr>
          <p:cNvPr id="11" name="Picture 10" descr="pretrain_forecast_autoformer_D2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03046"/>
            <a:ext cx="7223760" cy="25262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01000" y="1554480"/>
            <a:ext cx="3547872" cy="402336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54480"/>
            <a:ext cx="50800" cy="402336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719072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Что показывает график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157984"/>
            <a:ext cx="30906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Серая линия —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обучающая история, чёрная — фактические значения.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Пунктир (с нуля).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Прогноз Autoformer без предобучения, sMAPE 3.8 %.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Сплошная (предобучен).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После предобучения sMAPE 1.0 % — прогноз плотно следует факту.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Предобучение на корпусе рядов существенно повышает точность прогноза одной и той же модели.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Сводное сравнение: sMAPE по категориям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Предобученные нейросети и классические модели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591056"/>
          <a:ext cx="10913364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101852"/>
                <a:gridCol w="1101852"/>
                <a:gridCol w="1101852"/>
                <a:gridCol w="1101852"/>
                <a:gridCol w="1101852"/>
                <a:gridCol w="1101852"/>
                <a:gridCol w="1101852"/>
              </a:tblGrid>
              <a:tr h="21101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M3-Y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M3-Q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M3-M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M4-Q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M4-M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M4-D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Ср.</a:t>
                      </a:r>
                    </a:p>
                  </a:txBody>
                  <a:tcPr marL="63500" marR="50800" marT="25400" marB="25400" anchor="ctr">
                    <a:solidFill>
                      <a:srgbClr val="1B2649"/>
                    </a:solidFill>
                  </a:tcPr>
                </a:tc>
              </a:tr>
              <a:tr h="21101">
                <a:tc gridSpan="8">
                  <a:txBody>
                    <a:bodyPr/>
                    <a:lstStyle/>
                    <a:p>
                      <a:pPr algn="l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>Классические модели (per-series)</a:t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66E82"/>
                          </a:solidFill>
                          <a:latin typeface="Calibri"/>
                        </a:rPr>
                        <a:t>Auto-ARIMA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17.9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10.9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18.1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10.2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3.22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12.5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66E82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19.1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17.4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3.46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66E82"/>
                          </a:solidFill>
                          <a:latin typeface="Calibri"/>
                        </a:rPr>
                        <a:t>Seasonal Naive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17.9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17.2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12.2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4.05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66E82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</a:tr>
              <a:tr h="21101">
                <a:tc gridSpan="8">
                  <a:txBody>
                    <a:bodyPr/>
                    <a:lstStyle/>
                    <a:p>
                      <a:pPr algn="l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>Нейросетевые модели (с предобучением)</a:t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b="1" i="1" sz="125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2E3D6B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92E3A"/>
                          </a:solidFill>
                          <a:latin typeface="Calibri"/>
                        </a:rPr>
                        <a:t>DLinear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23.7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12.7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17.2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2.44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92E3A"/>
                          </a:solidFill>
                          <a:latin typeface="Calibri"/>
                        </a:rPr>
                        <a:t>TimesNet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25.1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12.4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17.2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2.46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92E3A"/>
                          </a:solidFill>
                          <a:latin typeface="Calibri"/>
                        </a:rPr>
                        <a:t>PatchTST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23.1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15.2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2.36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92E3A"/>
                          </a:solidFill>
                          <a:latin typeface="Calibri"/>
                        </a:rPr>
                        <a:t>Autoformer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23.4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15.1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20.1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2.81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92E3A"/>
                          </a:solidFill>
                          <a:latin typeface="Calibri"/>
                        </a:rPr>
                        <a:t>FEDformer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15.8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15.6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4.16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15.7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</a:tr>
              <a:tr h="2110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92E3A"/>
                          </a:solidFill>
                          <a:latin typeface="Calibri"/>
                        </a:rPr>
                        <a:t>N-BEATS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21.5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18.3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3.20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211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92E3A"/>
                          </a:solidFill>
                          <a:latin typeface="Calibri"/>
                        </a:rPr>
                        <a:t>Helformer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46.3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25A40"/>
                          </a:solidFill>
                          <a:latin typeface="Calibri"/>
                        </a:rPr>
                        <a:t>2.87</a:t>
                      </a:r>
                    </a:p>
                  </a:txBody>
                  <a:tcPr marL="63500" marR="50800" marT="25400" marB="25400" anchor="ctr">
                    <a:solidFill>
                      <a:srgbClr val="FCE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92E3A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marL="63500" marR="50800" marT="25400" marB="25400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5907024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07024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80176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907024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На M3 monthly и M4 daily предобученные нейросети превосходят лучшую классику; на коротких рядах классика сохраняет преимущество.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Анализ отдельных временных рядов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Массовый характер преимущества нейросетей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pic>
        <p:nvPicPr>
          <p:cNvPr id="11" name="Picture 10" descr="cherry_D2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6347"/>
            <a:ext cx="7406640" cy="31253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83879" y="1554480"/>
            <a:ext cx="3364992" cy="4069080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554480"/>
            <a:ext cx="50800" cy="406908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517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15184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B7C2DE"/>
                </a:solidFill>
                <a:latin typeface="Calibri"/>
              </a:rPr>
              <a:t>из 1000 ежедневных рядов M4 — нейросеть точнее классики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8444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295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7083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B7C2DE"/>
                </a:solidFill>
                <a:latin typeface="Calibri"/>
              </a:rPr>
              <a:t>рядов, где побеждают 3 и более нейросетевых модели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Преимущество нейросетевых моделей на длинных рядах носит массовый, а не единичный характер.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Итеративное прогнозирование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Устойчивость моделей к накоплению ошибки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27632"/>
            <a:ext cx="6675120" cy="3977639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79222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Деградация при переходе от прямого режима к итеративному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31136"/>
            <a:ext cx="6217920" cy="3246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92E3A"/>
                </a:solidFill>
                <a:latin typeface="Calibri"/>
              </a:rPr>
              <a:t>Обучаемая декомпозиция уязвима. </a:t>
            </a:r>
            <a:r>
              <a:rPr sz="1450" b="0" i="0">
                <a:solidFill>
                  <a:srgbClr val="292E3A"/>
                </a:solidFill>
                <a:latin typeface="Calibri"/>
              </a:rPr>
              <a:t>FEDformer и TimesNet теряют около 5 п.п. sMAPE — выделенные компоненты искажаются на собственных прогнозах.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92E3A"/>
                </a:solidFill>
                <a:latin typeface="Calibri"/>
              </a:rPr>
              <a:t>PatchTST устойчив. </a:t>
            </a:r>
            <a:r>
              <a:rPr sz="1450" b="0" i="0">
                <a:solidFill>
                  <a:srgbClr val="292E3A"/>
                </a:solidFill>
                <a:latin typeface="Calibri"/>
              </a:rPr>
              <a:t>Наименьшая деградация среди трансформеров: модель работает с патчами без явного разделения на компоненты.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92E3A"/>
                </a:solidFill>
                <a:latin typeface="Calibri"/>
              </a:rPr>
              <a:t>Классические модели стабильны. </a:t>
            </a:r>
            <a:r>
              <a:rPr sz="1450" b="0" i="0">
                <a:solidFill>
                  <a:srgbClr val="292E3A"/>
                </a:solidFill>
                <a:latin typeface="Calibri"/>
              </a:rPr>
              <a:t>ETS и Auto-ARIMA практически нечувствительны к режиму — рекуррентная структура заложена в самой модели.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92E3A"/>
                </a:solidFill>
                <a:latin typeface="Calibri"/>
              </a:rPr>
              <a:t>Закономерность. </a:t>
            </a:r>
            <a:r>
              <a:rPr sz="1450" b="0" i="0">
                <a:solidFill>
                  <a:srgbClr val="292E3A"/>
                </a:solidFill>
                <a:latin typeface="Calibri"/>
              </a:rPr>
              <a:t>Чем сложнее обучаемое разложение, тем сильнее накопление ошибки на горизонте.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627632"/>
            <a:ext cx="4005072" cy="3977639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627632"/>
            <a:ext cx="50800" cy="397763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8470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5F"/>
                </a:solidFill>
                <a:latin typeface="Calibri"/>
              </a:rPr>
              <a:t>СЛЕДСТВИЕ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286000"/>
            <a:ext cx="3611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Сложная обучаемая декомпозиция повышает риск накопления ошибки при многошаговом прогнозе. В задачах с итеративным прогнозированием простые и классические модели предпочтительнее.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526280"/>
            <a:ext cx="3383280" cy="12700"/>
          </a:xfrm>
          <a:prstGeom prst="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681728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E07A5F"/>
                </a:solidFill>
                <a:latin typeface="Calibri"/>
              </a:rPr>
              <a:t>Рекомендация: </a:t>
            </a:r>
            <a:r>
              <a:rPr sz="1400" b="0" i="0">
                <a:solidFill>
                  <a:srgbClr val="B7C2DE"/>
                </a:solidFill>
                <a:latin typeface="Calibri"/>
              </a:rPr>
              <a:t>выбор модели должен учитывать не только точность, но и режим её применения.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Тип декомпозиции должен соответствовать режиму прогнозирования.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Итеративное прогнозирование: прямой vs итеративный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3. Прогноз на квартальном ряде M3 (T478)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pic>
        <p:nvPicPr>
          <p:cNvPr id="11" name="Picture 10" descr="rollout_m3_quarterly_T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53168"/>
            <a:ext cx="7269480" cy="3225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46720" y="1554480"/>
            <a:ext cx="3502152" cy="402336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50800" cy="402336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1907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649"/>
                </a:solidFill>
                <a:latin typeface="Calibri"/>
              </a:rPr>
              <a:t>Как читать график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57984"/>
            <a:ext cx="304495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Чёрная линия —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фактические значения.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Пунктир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— прямой прогноз модели.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Сплошная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— итеративный прогноз той же модели.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5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92E3A"/>
                </a:solidFill>
                <a:latin typeface="Calibri"/>
              </a:rPr>
              <a:t>Расхождение </a:t>
            </a:r>
            <a:r>
              <a:rPr sz="1350" b="0" i="0">
                <a:solidFill>
                  <a:srgbClr val="292E3A"/>
                </a:solidFill>
                <a:latin typeface="Calibri"/>
              </a:rPr>
              <a:t>пунктира и сплошной линии показывает деградацию модели в итеративном режиме.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79008"/>
            <a:ext cx="10908792" cy="56692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79008"/>
            <a:ext cx="50800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5A40"/>
                </a:solidFill>
                <a:latin typeface="Calibri"/>
              </a:rPr>
              <a:t>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779008"/>
            <a:ext cx="9418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92E3A"/>
                </a:solidFill>
                <a:latin typeface="Calibri"/>
              </a:rPr>
              <a:t>Модели с обучаемой декомпозицией заметно отклоняются от факта в итеративном режиме; классические — нет.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5024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81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9326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Выводы и практические рекомендации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7C2DE"/>
                </a:solidFill>
                <a:latin typeface="Calibri"/>
              </a:rPr>
              <a:t>Раздел 4. Основные результаты исследования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384048"/>
            <a:ext cx="868680" cy="457200"/>
          </a:xfrm>
          <a:prstGeom prst="roundRect">
            <a:avLst/>
          </a:prstGeom>
          <a:solidFill>
            <a:srgbClr val="2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4754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37376"/>
            <a:ext cx="10908792" cy="9525"/>
          </a:xfrm>
          <a:prstGeom prst="rect">
            <a:avLst/>
          </a:prstGeom>
          <a:solidFill>
            <a:srgbClr val="D7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E82"/>
                </a:solidFill>
                <a:latin typeface="Calibri"/>
              </a:rPr>
              <a:t>Прогнозирование временных рядов · ВКР · Лазарев А.К. ·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591056"/>
            <a:ext cx="10908792" cy="85953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91056"/>
            <a:ext cx="50800" cy="85953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1783080"/>
            <a:ext cx="512064" cy="512064"/>
          </a:xfrm>
          <a:prstGeom prst="ellipse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856232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709928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649"/>
                </a:solidFill>
                <a:latin typeface="Calibri"/>
              </a:rPr>
              <a:t>Длина обучающей выборки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82496"/>
            <a:ext cx="6492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Определяющий фактор. Ниже ≈ 50–100 наблюдений предпочтительны ETS и Auto-ARIMA; выше — нейросети конкурентоспособны.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05456"/>
            <a:ext cx="10908792" cy="859536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05456"/>
            <a:ext cx="50800" cy="85953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2697480"/>
            <a:ext cx="512064" cy="512064"/>
          </a:xfrm>
          <a:prstGeom prst="ellipse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70632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624328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649"/>
                </a:solidFill>
                <a:latin typeface="Calibri"/>
              </a:rPr>
              <a:t>TimesNet — лучшая нейросеть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596896"/>
            <a:ext cx="6492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В режиме обучения на одном ряде; обучаемая 2D-декомпозиция эффективна при достаточном объёме данных.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19856"/>
            <a:ext cx="10908792" cy="85953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419856"/>
            <a:ext cx="50800" cy="85953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611880"/>
            <a:ext cx="512064" cy="512064"/>
          </a:xfrm>
          <a:prstGeom prst="ellipse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685032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538728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649"/>
                </a:solidFill>
                <a:latin typeface="Calibri"/>
              </a:rPr>
              <a:t>Предобучение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511296"/>
            <a:ext cx="6492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Повышает качество нейросетей на 18–32 % и выводит их на уровень и выше классики на M3 monthly и M4 daily.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34256"/>
            <a:ext cx="10908792" cy="859536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334256"/>
            <a:ext cx="50800" cy="85953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4526280"/>
            <a:ext cx="512064" cy="512064"/>
          </a:xfrm>
          <a:prstGeom prst="ellipse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99432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453128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649"/>
                </a:solidFill>
                <a:latin typeface="Calibri"/>
              </a:rPr>
              <a:t>Тип декомпозиции и режим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425696"/>
            <a:ext cx="6492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Фиксированная декомпозиция устойчивее, обучаемая адаптивнее, но хрупка при итеративном прогнозировании.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48656"/>
            <a:ext cx="10908792" cy="85953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248656"/>
            <a:ext cx="50800" cy="85953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" y="5440680"/>
            <a:ext cx="512064" cy="512064"/>
          </a:xfrm>
          <a:prstGeom prst="ellipse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513832"/>
            <a:ext cx="512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367528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649"/>
                </a:solidFill>
                <a:latin typeface="Calibri"/>
              </a:rPr>
              <a:t>Общий вывод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340096"/>
            <a:ext cx="6492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92E3A"/>
                </a:solidFill>
                <a:latin typeface="Calibri"/>
              </a:rPr>
              <a:t>Эффективность нейросетевых механизмов не абсолютна — она определяется длиной ряда, режимом обучения и объёмом данных.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3703320"/>
            <a:ext cx="4023360" cy="3175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B7C2DE"/>
                </a:solidFill>
                <a:latin typeface="Calibri"/>
              </a:rPr>
              <a:t>Прогнозирование временных рядов за счёт обучаемой декомпозиции и нейросетевых механизмов учёта долгосрочных зависимостей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Лазарев А.К. · КМБО-03-22 · Научный руководитель — Петрусевич Д.А.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7C2DE"/>
                </a:solidFill>
                <a:latin typeface="Calibri"/>
              </a:rPr>
              <a:t>Готов ответить на вопросы комиссии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