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4224528"/>
            <a:ext cx="4023360" cy="3175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03504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FFFFFF"/>
                </a:solidFill>
                <a:latin typeface="Calibri"/>
              </a:rPr>
              <a:t>МИРЭА — Российский технологический университет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50976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B7C2DE"/>
                </a:solidFill>
                <a:latin typeface="Calibri"/>
              </a:rPr>
              <a:t>Институт искусственного интеллекта · Кафедра высшей математики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78308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07A5F"/>
                </a:solidFill>
                <a:latin typeface="Calibri"/>
              </a:rPr>
              <a:t>ВЫПУСКНАЯ КВАЛИФИКАЦИОННАЯ РАБОТА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286000"/>
            <a:ext cx="106984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Прогнозирование временных рядов за счёт</a:t>
            </a:r>
          </a:p>
          <a:p>
            <a:pPr algn="l">
              <a:lnSpc>
                <a:spcPct val="106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обучаемой декомпозиции и нейросетевых механизмов</a:t>
            </a:r>
          </a:p>
          <a:p>
            <a:pPr algn="l">
              <a:lnSpc>
                <a:spcPct val="106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учёта долгосрочных зависимостей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526280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B7C2DE"/>
                </a:solidFill>
                <a:latin typeface="Calibri"/>
              </a:rPr>
              <a:t>Выполнил: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студент группы КМБО-03-22 — Лазарев А.К.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956048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B7C2DE"/>
                </a:solidFill>
                <a:latin typeface="Calibri"/>
              </a:rPr>
              <a:t>Научный руководитель: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к.ф.-м.н., доцент кафедры ВМ — Петрусевич Д.А.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98932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B7C2DE"/>
                </a:solidFill>
                <a:latin typeface="Calibri"/>
              </a:rPr>
              <a:t>Москва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5024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5024"/>
            <a:ext cx="12191695" cy="381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93268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Актуальность и цель исследования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89611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B7C2DE"/>
                </a:solidFill>
                <a:latin typeface="Calibri"/>
              </a:rPr>
              <a:t>Раздел 1. Постановка задачи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27080" y="384048"/>
            <a:ext cx="868680" cy="457200"/>
          </a:xfrm>
          <a:prstGeom prst="roundRect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7080" y="475488"/>
            <a:ext cx="868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02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37376"/>
            <a:ext cx="10908792" cy="9525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E82"/>
                </a:solidFill>
                <a:latin typeface="Calibri"/>
              </a:rPr>
              <a:t>Прогнозирование временных рядов · ВКР · Лазарев А.К. ·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627632"/>
            <a:ext cx="5532120" cy="3977639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1627632"/>
            <a:ext cx="50800" cy="3977639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1792224"/>
            <a:ext cx="5166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649"/>
                </a:solidFill>
                <a:latin typeface="Calibri"/>
              </a:rPr>
              <a:t>Проблематика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231136"/>
            <a:ext cx="5074920" cy="3246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5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500" b="1" i="0">
                <a:solidFill>
                  <a:srgbClr val="292E3A"/>
                </a:solidFill>
                <a:latin typeface="Calibri"/>
              </a:rPr>
              <a:t>Прикладная значимость. </a:t>
            </a:r>
            <a:r>
              <a:rPr sz="1500" b="0" i="0">
                <a:solidFill>
                  <a:srgbClr val="292E3A"/>
                </a:solidFill>
                <a:latin typeface="Calibri"/>
              </a:rPr>
              <a:t>Краткосрочный прогноз применяется в планировании спроса, трафика и ресурсов.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5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500" b="1" i="0">
                <a:solidFill>
                  <a:srgbClr val="292E3A"/>
                </a:solidFill>
                <a:latin typeface="Calibri"/>
              </a:rPr>
              <a:t>Отсутствие универсальной модели. </a:t>
            </a:r>
            <a:r>
              <a:rPr sz="1500" b="0" i="0">
                <a:solidFill>
                  <a:srgbClr val="292E3A"/>
                </a:solidFill>
                <a:latin typeface="Calibri"/>
              </a:rPr>
              <a:t>Статистические методы устойчивы на коротких рядах, нейросетевые — на длинных и сложных.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5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500" b="1" i="0">
                <a:solidFill>
                  <a:srgbClr val="292E3A"/>
                </a:solidFill>
                <a:latin typeface="Calibri"/>
              </a:rPr>
              <a:t>Открытый вопрос. </a:t>
            </a:r>
            <a:r>
              <a:rPr sz="1500" b="0" i="0">
                <a:solidFill>
                  <a:srgbClr val="292E3A"/>
                </a:solidFill>
                <a:latin typeface="Calibri"/>
              </a:rPr>
              <a:t>Оправдывают ли обучаемая декомпозиция и механизмы долгосрочных зависимостей свою сложность?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1627632"/>
            <a:ext cx="5148072" cy="3977639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1627632"/>
            <a:ext cx="50800" cy="3977639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18288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07A5F"/>
                </a:solidFill>
                <a:latin typeface="Calibri"/>
              </a:rPr>
              <a:t>ЦЕЛЬ РАБОТЫ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2331720"/>
            <a:ext cx="46177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 i="0">
                <a:solidFill>
                  <a:srgbClr val="FFFFFF"/>
                </a:solidFill>
                <a:latin typeface="Calibri"/>
              </a:rPr>
              <a:t>Установить условия, при которых обучаемая декомпозиция временных рядов и нейросетевые механизмы учёта долгосрочных зависимостей обеспечивают практическое преимущество над классическими статистическими моделями, и определить области, где более простые методы остаются предпочтительными.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5024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5024"/>
            <a:ext cx="12191695" cy="381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93268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Классические статистические модели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89611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B7C2DE"/>
                </a:solidFill>
                <a:latin typeface="Calibri"/>
              </a:rPr>
              <a:t>Раздел 1. Четыре эталонные модели сравнения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27080" y="384048"/>
            <a:ext cx="868680" cy="457200"/>
          </a:xfrm>
          <a:prstGeom prst="roundRect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7080" y="475488"/>
            <a:ext cx="868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03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37376"/>
            <a:ext cx="10908792" cy="9525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E82"/>
                </a:solidFill>
                <a:latin typeface="Calibri"/>
              </a:rPr>
              <a:t>Прогнозирование временных рядов · ВКР · Лазарев А.К. ·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627632"/>
            <a:ext cx="2660904" cy="3977639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1627632"/>
            <a:ext cx="2660904" cy="548640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1728216"/>
            <a:ext cx="26609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Seasonal Naive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2331720"/>
            <a:ext cx="2276856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292E3A"/>
                </a:solidFill>
                <a:latin typeface="Calibri"/>
              </a:rPr>
              <a:t>Прогноз воспроизводит значения предыдущего сезонного периода. Не имеет обучаемых параметров.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" y="4754880"/>
            <a:ext cx="2258568" cy="15240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4864608"/>
            <a:ext cx="227685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1">
                <a:solidFill>
                  <a:srgbClr val="C25A40"/>
                </a:solidFill>
                <a:latin typeface="Calibri"/>
              </a:rPr>
              <a:t>Роль: эталон для метрики MASE и нижняя граница качества.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19856" y="1627632"/>
            <a:ext cx="2660904" cy="3977639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19856" y="1627632"/>
            <a:ext cx="2660904" cy="548640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19856" y="1728216"/>
            <a:ext cx="26609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Auto-ARIMA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21024" y="2331720"/>
            <a:ext cx="2276856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292E3A"/>
                </a:solidFill>
                <a:latin typeface="Calibri"/>
              </a:rPr>
              <a:t>Линейная модель стационаризованного ряда: авторегрессия, интегрирование (разности) и скользящее среднее. Порядки (p, d, q) подбираются автоматически по информационному критерию.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21024" y="4754880"/>
            <a:ext cx="2258568" cy="15240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21024" y="4864608"/>
            <a:ext cx="227685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1">
                <a:solidFill>
                  <a:srgbClr val="C25A40"/>
                </a:solidFill>
                <a:latin typeface="Calibri"/>
              </a:rPr>
              <a:t>Сильная сторона: устойчивость на коротких рядах.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9632" y="1627632"/>
            <a:ext cx="2660904" cy="3977639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99632" y="1627632"/>
            <a:ext cx="2660904" cy="548640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99632" y="1728216"/>
            <a:ext cx="26609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ETS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2331720"/>
            <a:ext cx="2276856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292E3A"/>
                </a:solidFill>
                <a:latin typeface="Calibri"/>
              </a:rPr>
              <a:t>Экспоненциальное сглаживание уровня, тренда и сезонности в пространстве состояний. Веса α, β, γ оцениваются по правдоподобию.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4754880"/>
            <a:ext cx="2258568" cy="15240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4864608"/>
            <a:ext cx="227685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1">
                <a:solidFill>
                  <a:srgbClr val="C25A40"/>
                </a:solidFill>
                <a:latin typeface="Calibri"/>
              </a:rPr>
              <a:t>Сильная сторона: плавная динамика и сезонность.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79408" y="1627632"/>
            <a:ext cx="2660904" cy="3977639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979408" y="1627632"/>
            <a:ext cx="2660904" cy="548640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79408" y="1728216"/>
            <a:ext cx="26609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Prophet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80576" y="2331720"/>
            <a:ext cx="2276856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292E3A"/>
                </a:solidFill>
                <a:latin typeface="Calibri"/>
              </a:rPr>
              <a:t>Аддитивная декомпозиция: кусочно-линейный тренд, сезонные гармоники и календарные эффекты с байесовской оценкой параметров.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80576" y="4754880"/>
            <a:ext cx="2258568" cy="15240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80576" y="4864608"/>
            <a:ext cx="227685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1">
                <a:solidFill>
                  <a:srgbClr val="C25A40"/>
                </a:solidFill>
                <a:latin typeface="Calibri"/>
              </a:rPr>
              <a:t>Особенность: гибкая настройка сезонных компонент.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5779008"/>
            <a:ext cx="10908792" cy="566928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0080" y="5779008"/>
            <a:ext cx="50800" cy="566928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" y="5852160"/>
            <a:ext cx="1554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5A40"/>
                </a:solidFill>
                <a:latin typeface="Calibri"/>
              </a:rPr>
              <a:t>ВЫВОД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65960" y="5779008"/>
            <a:ext cx="9418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292E3A"/>
                </a:solidFill>
                <a:latin typeface="Calibri"/>
              </a:rPr>
              <a:t>Классические модели интерпретируемы и устойчивы при ограниченной истории наблюдений — это сильная база сравнения.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5024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5024"/>
            <a:ext cx="12191695" cy="381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93268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Нейросетевые модели и их архитектуры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89611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B7C2DE"/>
                </a:solidFill>
                <a:latin typeface="Calibri"/>
              </a:rPr>
              <a:t>Раздел 1. Семь моделей: от линейных до гибридных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27080" y="384048"/>
            <a:ext cx="868680" cy="457200"/>
          </a:xfrm>
          <a:prstGeom prst="roundRect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7080" y="475488"/>
            <a:ext cx="868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04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37376"/>
            <a:ext cx="10908792" cy="9525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E82"/>
                </a:solidFill>
                <a:latin typeface="Calibri"/>
              </a:rPr>
              <a:t>Прогнозирование временных рядов · ВКР · Лазарев А.К. · 2026</a:t>
            </a:r>
          </a:p>
        </p:txBody>
      </p:sp>
      <p:pic>
        <p:nvPicPr>
          <p:cNvPr id="11" name="Picture 10" descr="arch_neural_pipeli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60059"/>
            <a:ext cx="7818120" cy="387621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8613648" y="1517904"/>
            <a:ext cx="2935224" cy="4160520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613648" y="1517904"/>
            <a:ext cx="50800" cy="416052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0" y="1682496"/>
            <a:ext cx="2569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649"/>
                </a:solidFill>
                <a:latin typeface="Calibri"/>
              </a:rPr>
              <a:t>Семейства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121408"/>
            <a:ext cx="2478024" cy="34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3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350" b="1" i="0">
                <a:solidFill>
                  <a:srgbClr val="292E3A"/>
                </a:solidFill>
                <a:latin typeface="Calibri"/>
              </a:rPr>
              <a:t>Линейные: </a:t>
            </a:r>
            <a:r>
              <a:rPr sz="1350" b="0" i="0">
                <a:solidFill>
                  <a:srgbClr val="292E3A"/>
                </a:solidFill>
                <a:latin typeface="Calibri"/>
              </a:rPr>
              <a:t>DLinear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3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350" b="1" i="0">
                <a:solidFill>
                  <a:srgbClr val="292E3A"/>
                </a:solidFill>
                <a:latin typeface="Calibri"/>
              </a:rPr>
              <a:t>Базисные: </a:t>
            </a:r>
            <a:r>
              <a:rPr sz="1350" b="0" i="0">
                <a:solidFill>
                  <a:srgbClr val="292E3A"/>
                </a:solidFill>
                <a:latin typeface="Calibri"/>
              </a:rPr>
              <a:t>N-BEATS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3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350" b="1" i="0">
                <a:solidFill>
                  <a:srgbClr val="292E3A"/>
                </a:solidFill>
                <a:latin typeface="Calibri"/>
              </a:rPr>
              <a:t>Свёрточные: </a:t>
            </a:r>
            <a:r>
              <a:rPr sz="1350" b="0" i="0">
                <a:solidFill>
                  <a:srgbClr val="292E3A"/>
                </a:solidFill>
                <a:latin typeface="Calibri"/>
              </a:rPr>
              <a:t>TimesNet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3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350" b="1" i="0">
                <a:solidFill>
                  <a:srgbClr val="292E3A"/>
                </a:solidFill>
                <a:latin typeface="Calibri"/>
              </a:rPr>
              <a:t>Трансформеры: </a:t>
            </a:r>
            <a:r>
              <a:rPr sz="1350" b="0" i="0">
                <a:solidFill>
                  <a:srgbClr val="292E3A"/>
                </a:solidFill>
                <a:latin typeface="Calibri"/>
              </a:rPr>
              <a:t>Autoformer, FEDformer, PatchTST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3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350" b="1" i="0">
                <a:solidFill>
                  <a:srgbClr val="292E3A"/>
                </a:solidFill>
                <a:latin typeface="Calibri"/>
              </a:rPr>
              <a:t>Гибридные: </a:t>
            </a:r>
            <a:r>
              <a:rPr sz="1350" b="0" i="0">
                <a:solidFill>
                  <a:srgbClr val="292E3A"/>
                </a:solidFill>
                <a:latin typeface="Calibri"/>
              </a:rPr>
              <a:t>Helformer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779008"/>
            <a:ext cx="10908792" cy="566928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5779008"/>
            <a:ext cx="50800" cy="566928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852160"/>
            <a:ext cx="1554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5A40"/>
                </a:solidFill>
                <a:latin typeface="Calibri"/>
              </a:rPr>
              <a:t>ВЫВОД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5779008"/>
            <a:ext cx="9418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292E3A"/>
                </a:solidFill>
                <a:latin typeface="Calibri"/>
              </a:rPr>
              <a:t>Модели различаются способом выделения компонент ряда и механизмом учёта зависимостей — это и есть предмет сравнения.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5024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5024"/>
            <a:ext cx="12191695" cy="381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93268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Экспериментальная база и протокол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89611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B7C2DE"/>
                </a:solidFill>
                <a:latin typeface="Calibri"/>
              </a:rPr>
              <a:t>Раздел 2. Данные, режимы, тип декомпозиции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27080" y="384048"/>
            <a:ext cx="868680" cy="457200"/>
          </a:xfrm>
          <a:prstGeom prst="roundRect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7080" y="475488"/>
            <a:ext cx="868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05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37376"/>
            <a:ext cx="10908792" cy="9525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E82"/>
                </a:solidFill>
                <a:latin typeface="Calibri"/>
              </a:rPr>
              <a:t>Прогнозирование временных рядов · ВКР · Лазарев А.К. ·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627632"/>
            <a:ext cx="3474720" cy="3977639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1627632"/>
            <a:ext cx="50800" cy="3977639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1792224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649"/>
                </a:solidFill>
                <a:latin typeface="Calibri"/>
              </a:rPr>
              <a:t>Данные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231136"/>
            <a:ext cx="3017520" cy="3246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300"/>
              </a:spcAft>
            </a:pPr>
            <a:r>
              <a:rPr sz="14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400" b="1" i="0">
                <a:solidFill>
                  <a:srgbClr val="292E3A"/>
                </a:solidFill>
                <a:latin typeface="Calibri"/>
              </a:rPr>
              <a:t>M3 Competition. </a:t>
            </a:r>
            <a:r>
              <a:rPr sz="1400" b="0" i="0">
                <a:solidFill>
                  <a:srgbClr val="292E3A"/>
                </a:solidFill>
                <a:latin typeface="Calibri"/>
              </a:rPr>
              <a:t>Полный набор — 2829 рядов: 645 годовых, 756 квартальных, 1428 месячных.</a:t>
            </a:r>
          </a:p>
          <a:p>
            <a:pPr algn="l">
              <a:lnSpc>
                <a:spcPct val="110000"/>
              </a:lnSpc>
              <a:spcAft>
                <a:spcPts val="1300"/>
              </a:spcAft>
            </a:pPr>
            <a:r>
              <a:rPr sz="14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400" b="1" i="0">
                <a:solidFill>
                  <a:srgbClr val="292E3A"/>
                </a:solidFill>
                <a:latin typeface="Calibri"/>
              </a:rPr>
              <a:t>M4 Competition. </a:t>
            </a:r>
            <a:r>
              <a:rPr sz="1400" b="0" i="0">
                <a:solidFill>
                  <a:srgbClr val="292E3A"/>
                </a:solidFill>
                <a:latin typeface="Calibri"/>
              </a:rPr>
              <a:t>3000 рядов: 1000 квартальных, 1000 месячных, 1000 ежедневных.</a:t>
            </a:r>
          </a:p>
          <a:p>
            <a:pPr algn="l">
              <a:lnSpc>
                <a:spcPct val="110000"/>
              </a:lnSpc>
              <a:spcAft>
                <a:spcPts val="1300"/>
              </a:spcAft>
            </a:pPr>
            <a:r>
              <a:rPr sz="14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400" b="1" i="0">
                <a:solidFill>
                  <a:srgbClr val="292E3A"/>
                </a:solidFill>
                <a:latin typeface="Calibri"/>
              </a:rPr>
              <a:t>Итого </a:t>
            </a:r>
            <a:r>
              <a:rPr sz="1400" b="0" i="0">
                <a:solidFill>
                  <a:srgbClr val="292E3A"/>
                </a:solidFill>
                <a:latin typeface="Calibri"/>
              </a:rPr>
              <a:t>6 частотных категорий, 5829 рядов.</a:t>
            </a:r>
          </a:p>
          <a:p>
            <a:pPr algn="l">
              <a:lnSpc>
                <a:spcPct val="110000"/>
              </a:lnSpc>
              <a:spcAft>
                <a:spcPts val="1300"/>
              </a:spcAft>
            </a:pPr>
            <a:r>
              <a:rPr sz="14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400" b="1" i="0">
                <a:solidFill>
                  <a:srgbClr val="292E3A"/>
                </a:solidFill>
                <a:latin typeface="Calibri"/>
              </a:rPr>
              <a:t>Метрики. </a:t>
            </a:r>
            <a:r>
              <a:rPr sz="1400" b="0" i="0">
                <a:solidFill>
                  <a:srgbClr val="292E3A"/>
                </a:solidFill>
                <a:latin typeface="Calibri"/>
              </a:rPr>
              <a:t>sMAPE, MASE, RMSE — для устойчивости выводов к выбору меры.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61104" y="1627632"/>
            <a:ext cx="3474720" cy="3977639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61104" y="1627632"/>
            <a:ext cx="50800" cy="3977639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17136" y="1792224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649"/>
                </a:solidFill>
                <a:latin typeface="Calibri"/>
              </a:rPr>
              <a:t>Три режима прогнозирования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17136" y="2231136"/>
            <a:ext cx="3017520" cy="3246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300"/>
              </a:spcAft>
            </a:pPr>
            <a:r>
              <a:rPr sz="14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400" b="1" i="0">
                <a:solidFill>
                  <a:srgbClr val="292E3A"/>
                </a:solidFill>
                <a:latin typeface="Calibri"/>
              </a:rPr>
              <a:t>Прямой. </a:t>
            </a:r>
            <a:r>
              <a:rPr sz="1400" b="0" i="0">
                <a:solidFill>
                  <a:srgbClr val="292E3A"/>
                </a:solidFill>
                <a:latin typeface="Calibri"/>
              </a:rPr>
              <a:t>Весь горизонт прогнозируется за один проход модели.</a:t>
            </a:r>
          </a:p>
          <a:p>
            <a:pPr algn="l">
              <a:lnSpc>
                <a:spcPct val="110000"/>
              </a:lnSpc>
              <a:spcAft>
                <a:spcPts val="1300"/>
              </a:spcAft>
            </a:pPr>
            <a:r>
              <a:rPr sz="14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400" b="1" i="0">
                <a:solidFill>
                  <a:srgbClr val="292E3A"/>
                </a:solidFill>
                <a:latin typeface="Calibri"/>
              </a:rPr>
              <a:t>Итеративный. </a:t>
            </a:r>
            <a:r>
              <a:rPr sz="1400" b="0" i="0">
                <a:solidFill>
                  <a:srgbClr val="292E3A"/>
                </a:solidFill>
                <a:latin typeface="Calibri"/>
              </a:rPr>
              <a:t>Пошаговое продвижение с подстановкой собственных прогнозов; ошибка накапливается.</a:t>
            </a:r>
          </a:p>
          <a:p>
            <a:pPr algn="l">
              <a:lnSpc>
                <a:spcPct val="110000"/>
              </a:lnSpc>
              <a:spcAft>
                <a:spcPts val="1300"/>
              </a:spcAft>
            </a:pPr>
            <a:r>
              <a:rPr sz="14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400" b="1" i="0">
                <a:solidFill>
                  <a:srgbClr val="292E3A"/>
                </a:solidFill>
                <a:latin typeface="Calibri"/>
              </a:rPr>
              <a:t>С предобучением. </a:t>
            </a:r>
            <a:r>
              <a:rPr sz="1400" b="0" i="0">
                <a:solidFill>
                  <a:srgbClr val="292E3A"/>
                </a:solidFill>
                <a:latin typeface="Calibri"/>
              </a:rPr>
              <a:t>Обучение на корпусе рядов с последующим дообучением на целевом ряде.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82127" y="1627632"/>
            <a:ext cx="3657600" cy="3977639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882127" y="1627632"/>
            <a:ext cx="50800" cy="3977639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8159" y="1792224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649"/>
                </a:solidFill>
                <a:latin typeface="Calibri"/>
              </a:rPr>
              <a:t>Тип декомпозиции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59" y="2231136"/>
            <a:ext cx="3200400" cy="3246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300"/>
              </a:spcAft>
            </a:pPr>
            <a:r>
              <a:rPr sz="14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400" b="1" i="0">
                <a:solidFill>
                  <a:srgbClr val="292E3A"/>
                </a:solidFill>
                <a:latin typeface="Calibri"/>
              </a:rPr>
              <a:t>Фиксированная. </a:t>
            </a:r>
            <a:r>
              <a:rPr sz="1400" b="0" i="0">
                <a:solidFill>
                  <a:srgbClr val="292E3A"/>
                </a:solidFill>
                <a:latin typeface="Calibri"/>
              </a:rPr>
              <a:t>Правило задано заранее — ETS, DLinear, Helformer.</a:t>
            </a:r>
          </a:p>
          <a:p>
            <a:pPr algn="l">
              <a:lnSpc>
                <a:spcPct val="110000"/>
              </a:lnSpc>
              <a:spcAft>
                <a:spcPts val="1300"/>
              </a:spcAft>
            </a:pPr>
            <a:r>
              <a:rPr sz="14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400" b="1" i="0">
                <a:solidFill>
                  <a:srgbClr val="292E3A"/>
                </a:solidFill>
                <a:latin typeface="Calibri"/>
              </a:rPr>
              <a:t>Обучаемая. </a:t>
            </a:r>
            <a:r>
              <a:rPr sz="1400" b="0" i="0">
                <a:solidFill>
                  <a:srgbClr val="292E3A"/>
                </a:solidFill>
                <a:latin typeface="Calibri"/>
              </a:rPr>
              <a:t>Компоненты выделяет сеть — Autoformer, FEDformer, TimesNet.</a:t>
            </a:r>
          </a:p>
          <a:p>
            <a:pPr algn="l">
              <a:lnSpc>
                <a:spcPct val="110000"/>
              </a:lnSpc>
              <a:spcAft>
                <a:spcPts val="1300"/>
              </a:spcAft>
            </a:pPr>
            <a:r>
              <a:rPr sz="14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400" b="1" i="0">
                <a:solidFill>
                  <a:srgbClr val="292E3A"/>
                </a:solidFill>
                <a:latin typeface="Calibri"/>
              </a:rPr>
              <a:t>Без декомпозиции. </a:t>
            </a:r>
            <a:r>
              <a:rPr sz="1400" b="0" i="0">
                <a:solidFill>
                  <a:srgbClr val="292E3A"/>
                </a:solidFill>
                <a:latin typeface="Calibri"/>
              </a:rPr>
              <a:t>Прямое моделирование — Auto-ARIMA, PatchTST.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779008"/>
            <a:ext cx="10908792" cy="566928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5779008"/>
            <a:ext cx="50800" cy="566928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852160"/>
            <a:ext cx="1554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5A40"/>
                </a:solidFill>
                <a:latin typeface="Calibri"/>
              </a:rPr>
              <a:t>ВЫВОД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65960" y="5779008"/>
            <a:ext cx="9418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292E3A"/>
                </a:solidFill>
                <a:latin typeface="Calibri"/>
              </a:rPr>
              <a:t>Сопоставление по трём осям — длина ряда, режим обучения и тип декомпозиции — формирует структуру анализа.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5024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5024"/>
            <a:ext cx="12191695" cy="381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93268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Прямое прогнозирование: кто точнее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89611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B7C2DE"/>
                </a:solidFill>
                <a:latin typeface="Calibri"/>
              </a:rPr>
              <a:t>Раздел 3. Ранг моделей по 6 частотным категориям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27080" y="384048"/>
            <a:ext cx="868680" cy="457200"/>
          </a:xfrm>
          <a:prstGeom prst="roundRect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7080" y="475488"/>
            <a:ext cx="868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06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37376"/>
            <a:ext cx="10908792" cy="9525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E82"/>
                </a:solidFill>
                <a:latin typeface="Calibri"/>
              </a:rPr>
              <a:t>Прогнозирование временных рядов · ВКР · Лазарев А.К. · 2026</a:t>
            </a:r>
          </a:p>
        </p:txBody>
      </p:sp>
      <p:pic>
        <p:nvPicPr>
          <p:cNvPr id="11" name="Picture 10" descr="heatmap_ra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3320"/>
            <a:ext cx="7223760" cy="3845679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8001000" y="1554480"/>
            <a:ext cx="3547872" cy="4023360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01000" y="1554480"/>
            <a:ext cx="50800" cy="402336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7032" y="1719072"/>
            <a:ext cx="3182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649"/>
                </a:solidFill>
                <a:latin typeface="Calibri"/>
              </a:rPr>
              <a:t>Как читать карту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2" y="2157984"/>
            <a:ext cx="3090672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100"/>
              </a:spcAft>
            </a:pPr>
            <a:r>
              <a:rPr sz="13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350" b="1" i="0">
                <a:solidFill>
                  <a:srgbClr val="292E3A"/>
                </a:solidFill>
                <a:latin typeface="Calibri"/>
              </a:rPr>
              <a:t>Строка — модель, </a:t>
            </a:r>
            <a:r>
              <a:rPr sz="1350" b="0" i="0">
                <a:solidFill>
                  <a:srgbClr val="292E3A"/>
                </a:solidFill>
                <a:latin typeface="Calibri"/>
              </a:rPr>
              <a:t>столбец — частотная категория.</a:t>
            </a:r>
          </a:p>
          <a:p>
            <a:pPr algn="l">
              <a:lnSpc>
                <a:spcPct val="110000"/>
              </a:lnSpc>
              <a:spcAft>
                <a:spcPts val="1100"/>
              </a:spcAft>
            </a:pPr>
            <a:r>
              <a:rPr sz="13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350" b="1" i="0">
                <a:solidFill>
                  <a:srgbClr val="292E3A"/>
                </a:solidFill>
                <a:latin typeface="Calibri"/>
              </a:rPr>
              <a:t>Цвет — ранг: </a:t>
            </a:r>
            <a:r>
              <a:rPr sz="1350" b="0" i="0">
                <a:solidFill>
                  <a:srgbClr val="292E3A"/>
                </a:solidFill>
                <a:latin typeface="Calibri"/>
              </a:rPr>
              <a:t>зелёный = лучше, красный = хуже.</a:t>
            </a:r>
          </a:p>
          <a:p>
            <a:pPr algn="l">
              <a:lnSpc>
                <a:spcPct val="110000"/>
              </a:lnSpc>
              <a:spcAft>
                <a:spcPts val="1100"/>
              </a:spcAft>
            </a:pPr>
            <a:r>
              <a:rPr sz="13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350" b="1" i="0">
                <a:solidFill>
                  <a:srgbClr val="292E3A"/>
                </a:solidFill>
                <a:latin typeface="Calibri"/>
              </a:rPr>
              <a:t>Зелёная полоса вверху </a:t>
            </a:r>
            <a:r>
              <a:rPr sz="1350" b="0" i="0">
                <a:solidFill>
                  <a:srgbClr val="292E3A"/>
                </a:solidFill>
                <a:latin typeface="Calibri"/>
              </a:rPr>
              <a:t>— классика (Auto-ARIMA, ETS, S. Naive) стабильно в топе.</a:t>
            </a:r>
          </a:p>
          <a:p>
            <a:pPr algn="l">
              <a:lnSpc>
                <a:spcPct val="110000"/>
              </a:lnSpc>
              <a:spcAft>
                <a:spcPts val="1100"/>
              </a:spcAft>
            </a:pPr>
            <a:r>
              <a:rPr sz="13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350" b="1" i="0">
                <a:solidFill>
                  <a:srgbClr val="292E3A"/>
                </a:solidFill>
                <a:latin typeface="Calibri"/>
              </a:rPr>
              <a:t>TimesNet </a:t>
            </a:r>
            <a:r>
              <a:rPr sz="1350" b="0" i="0">
                <a:solidFill>
                  <a:srgbClr val="292E3A"/>
                </a:solidFill>
                <a:latin typeface="Calibri"/>
              </a:rPr>
              <a:t>— единственная нейросеть рядом с лидерами.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779008"/>
            <a:ext cx="10908792" cy="566928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5779008"/>
            <a:ext cx="50800" cy="566928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852160"/>
            <a:ext cx="1554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5A40"/>
                </a:solidFill>
                <a:latin typeface="Calibri"/>
              </a:rPr>
              <a:t>ВЫВОД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5779008"/>
            <a:ext cx="9418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292E3A"/>
                </a:solidFill>
                <a:latin typeface="Calibri"/>
              </a:rPr>
              <a:t>В режиме обучения на одном ряде классика устойчиво лидирует во всех категориях; среди нейросетей выделяется только TimesNet.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5024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5024"/>
            <a:ext cx="12191695" cy="381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93268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Длина обучающей выборки как фактор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89611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B7C2DE"/>
                </a:solidFill>
                <a:latin typeface="Calibri"/>
              </a:rPr>
              <a:t>Раздел 3. Пороговая зависимость качества от длины ряда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27080" y="384048"/>
            <a:ext cx="868680" cy="457200"/>
          </a:xfrm>
          <a:prstGeom prst="roundRect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7080" y="475488"/>
            <a:ext cx="868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07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37376"/>
            <a:ext cx="10908792" cy="9525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E82"/>
                </a:solidFill>
                <a:latin typeface="Calibri"/>
              </a:rPr>
              <a:t>Прогнозирование временных рядов · ВКР · Лазарев А.К. · 2026</a:t>
            </a:r>
          </a:p>
        </p:txBody>
      </p:sp>
      <p:pic>
        <p:nvPicPr>
          <p:cNvPr id="11" name="Picture 10" descr="bar_m4_daily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41177"/>
            <a:ext cx="7040880" cy="289568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818120" y="1554480"/>
            <a:ext cx="3730752" cy="4069080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818120" y="1554480"/>
            <a:ext cx="50800" cy="406908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74152" y="1719072"/>
            <a:ext cx="33649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649"/>
                </a:solidFill>
                <a:latin typeface="Calibri"/>
              </a:rPr>
              <a:t>Пороговый эффект (≈ 50–100 набл.)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74152" y="2157984"/>
            <a:ext cx="3273552" cy="3337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100"/>
              </a:spcAft>
            </a:pPr>
            <a:r>
              <a:rPr sz="13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350" b="1" i="0">
                <a:solidFill>
                  <a:srgbClr val="292E3A"/>
                </a:solidFill>
                <a:latin typeface="Calibri"/>
              </a:rPr>
              <a:t>Короткие ряды. </a:t>
            </a:r>
            <a:r>
              <a:rPr sz="1350" b="0" i="0">
                <a:solidFill>
                  <a:srgbClr val="292E3A"/>
                </a:solidFill>
                <a:latin typeface="Calibri"/>
              </a:rPr>
              <a:t>Уверенное преимущество классических моделей.</a:t>
            </a:r>
          </a:p>
          <a:p>
            <a:pPr algn="l">
              <a:lnSpc>
                <a:spcPct val="110000"/>
              </a:lnSpc>
              <a:spcAft>
                <a:spcPts val="1100"/>
              </a:spcAft>
            </a:pPr>
            <a:r>
              <a:rPr sz="13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350" b="1" i="0">
                <a:solidFill>
                  <a:srgbClr val="292E3A"/>
                </a:solidFill>
                <a:latin typeface="Calibri"/>
              </a:rPr>
              <a:t>Длинные ряды M4 daily. </a:t>
            </a:r>
            <a:r>
              <a:rPr sz="1350" b="0" i="0">
                <a:solidFill>
                  <a:srgbClr val="292E3A"/>
                </a:solidFill>
                <a:latin typeface="Calibri"/>
              </a:rPr>
              <a:t>Нейросети конкурентоспособны.</a:t>
            </a:r>
          </a:p>
          <a:p>
            <a:pPr algn="l">
              <a:lnSpc>
                <a:spcPct val="110000"/>
              </a:lnSpc>
              <a:spcAft>
                <a:spcPts val="1100"/>
              </a:spcAft>
            </a:pPr>
            <a:r>
              <a:rPr sz="13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350" b="1" i="0">
                <a:solidFill>
                  <a:srgbClr val="292E3A"/>
                </a:solidFill>
                <a:latin typeface="Calibri"/>
              </a:rPr>
              <a:t>TimesNet (3.62) </a:t>
            </a:r>
            <a:r>
              <a:rPr sz="1350" b="0" i="0">
                <a:solidFill>
                  <a:srgbClr val="292E3A"/>
                </a:solidFill>
                <a:latin typeface="Calibri"/>
              </a:rPr>
              <a:t>сопоставим с Auto-ARIMA (3.22) и ETS (3.46).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779008"/>
            <a:ext cx="10908792" cy="566928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5779008"/>
            <a:ext cx="50800" cy="566928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852160"/>
            <a:ext cx="1554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5A40"/>
                </a:solidFill>
                <a:latin typeface="Calibri"/>
              </a:rPr>
              <a:t>ВЫВОД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5779008"/>
            <a:ext cx="9418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292E3A"/>
                </a:solidFill>
                <a:latin typeface="Calibri"/>
              </a:rPr>
              <a:t>Существует пороговая длина обучающей выборки: ниже неё лидирует классика, выше — нейросетевые модели выходят на её уровень.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5024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5024"/>
            <a:ext cx="12191695" cy="381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93268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Предобучение: эффект переноса знаний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89611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B7C2DE"/>
                </a:solidFill>
                <a:latin typeface="Calibri"/>
              </a:rPr>
              <a:t>Раздел 3. Относительное улучшение по частотам и моделям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27080" y="384048"/>
            <a:ext cx="868680" cy="457200"/>
          </a:xfrm>
          <a:prstGeom prst="roundRect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7080" y="475488"/>
            <a:ext cx="868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08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37376"/>
            <a:ext cx="10908792" cy="9525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E82"/>
                </a:solidFill>
                <a:latin typeface="Calibri"/>
              </a:rPr>
              <a:t>Прогнозирование временных рядов · ВКР · Лазарев А.К. · 2026</a:t>
            </a:r>
          </a:p>
        </p:txBody>
      </p:sp>
      <p:pic>
        <p:nvPicPr>
          <p:cNvPr id="11" name="Picture 10" descr="pretrain_effect_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446809"/>
            <a:ext cx="7223760" cy="2192981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8001000" y="1554480"/>
            <a:ext cx="3547872" cy="3977639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01000" y="1554480"/>
            <a:ext cx="50800" cy="3977639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755648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07A5F"/>
                </a:solidFill>
                <a:latin typeface="Calibri"/>
              </a:rPr>
              <a:t>СРЕДНИЙ ВЫИГРЫШ sMAPE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212848"/>
            <a:ext cx="3200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+31.5 %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2724912"/>
            <a:ext cx="3200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B7C2DE"/>
                </a:solidFill>
                <a:latin typeface="Calibri"/>
              </a:rPr>
              <a:t>DLinear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3291840"/>
            <a:ext cx="3200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+25.5 %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3803904"/>
            <a:ext cx="3200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B7C2DE"/>
                </a:solidFill>
                <a:latin typeface="Calibri"/>
              </a:rPr>
              <a:t>Autoformer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4370832"/>
            <a:ext cx="3200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+18.2 %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4882896"/>
            <a:ext cx="3200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B7C2DE"/>
                </a:solidFill>
                <a:latin typeface="Calibri"/>
              </a:rPr>
              <a:t>Helformer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779008"/>
            <a:ext cx="10908792" cy="566928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5779008"/>
            <a:ext cx="50800" cy="566928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852160"/>
            <a:ext cx="1554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5A40"/>
                </a:solidFill>
                <a:latin typeface="Calibri"/>
              </a:rPr>
              <a:t>ВЫВОД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65960" y="5779008"/>
            <a:ext cx="9418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292E3A"/>
                </a:solidFill>
                <a:latin typeface="Calibri"/>
              </a:rPr>
              <a:t>Предобучение на корпусе рядов выводит ранее слабые нейросетевые модели на конкурентоспособный уровень.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5024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5024"/>
            <a:ext cx="12191695" cy="381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93268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Предобучение: эффект на прогнозе ряда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89611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B7C2DE"/>
                </a:solidFill>
                <a:latin typeface="Calibri"/>
              </a:rPr>
              <a:t>Раздел 3. Одна модель: обучение с нуля против предобучения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27080" y="384048"/>
            <a:ext cx="868680" cy="457200"/>
          </a:xfrm>
          <a:prstGeom prst="roundRect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7080" y="475488"/>
            <a:ext cx="868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09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37376"/>
            <a:ext cx="10908792" cy="9525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E82"/>
                </a:solidFill>
                <a:latin typeface="Calibri"/>
              </a:rPr>
              <a:t>Прогнозирование временных рядов · ВКР · Лазарев А.К. · 2026</a:t>
            </a:r>
          </a:p>
        </p:txBody>
      </p:sp>
      <p:pic>
        <p:nvPicPr>
          <p:cNvPr id="11" name="Picture 10" descr="pretrain_forecast_autoformer_D21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303046"/>
            <a:ext cx="7223760" cy="2526228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8001000" y="1554480"/>
            <a:ext cx="3547872" cy="4023360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01000" y="1554480"/>
            <a:ext cx="50800" cy="402336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7032" y="1719072"/>
            <a:ext cx="3182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649"/>
                </a:solidFill>
                <a:latin typeface="Calibri"/>
              </a:rPr>
              <a:t>Что показывает график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2" y="2157984"/>
            <a:ext cx="3090672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3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350" b="1" i="0">
                <a:solidFill>
                  <a:srgbClr val="292E3A"/>
                </a:solidFill>
                <a:latin typeface="Calibri"/>
              </a:rPr>
              <a:t>Серая линия — </a:t>
            </a:r>
            <a:r>
              <a:rPr sz="1350" b="0" i="0">
                <a:solidFill>
                  <a:srgbClr val="292E3A"/>
                </a:solidFill>
                <a:latin typeface="Calibri"/>
              </a:rPr>
              <a:t>обучающая история, чёрная — фактические значения.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3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350" b="1" i="0">
                <a:solidFill>
                  <a:srgbClr val="292E3A"/>
                </a:solidFill>
                <a:latin typeface="Calibri"/>
              </a:rPr>
              <a:t>Пунктир (с нуля). </a:t>
            </a:r>
            <a:r>
              <a:rPr sz="1350" b="0" i="0">
                <a:solidFill>
                  <a:srgbClr val="292E3A"/>
                </a:solidFill>
                <a:latin typeface="Calibri"/>
              </a:rPr>
              <a:t>Прогноз Autoformer без предобучения, sMAPE 3.8 %.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3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350" b="1" i="0">
                <a:solidFill>
                  <a:srgbClr val="292E3A"/>
                </a:solidFill>
                <a:latin typeface="Calibri"/>
              </a:rPr>
              <a:t>Сплошная (предобучен). </a:t>
            </a:r>
            <a:r>
              <a:rPr sz="1350" b="0" i="0">
                <a:solidFill>
                  <a:srgbClr val="292E3A"/>
                </a:solidFill>
                <a:latin typeface="Calibri"/>
              </a:rPr>
              <a:t>После предобучения sMAPE 1.0 % — прогноз плотно следует факту.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779008"/>
            <a:ext cx="10908792" cy="566928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5779008"/>
            <a:ext cx="50800" cy="566928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852160"/>
            <a:ext cx="1554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5A40"/>
                </a:solidFill>
                <a:latin typeface="Calibri"/>
              </a:rPr>
              <a:t>ВЫВОД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5779008"/>
            <a:ext cx="9418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292E3A"/>
                </a:solidFill>
                <a:latin typeface="Calibri"/>
              </a:rPr>
              <a:t>Предобучение на корпусе рядов существенно повышает точность прогноза одной и той же модели.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5024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5024"/>
            <a:ext cx="12191695" cy="381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93268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Сводное сравнение: sMAPE по категориям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89611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B7C2DE"/>
                </a:solidFill>
                <a:latin typeface="Calibri"/>
              </a:rPr>
              <a:t>Раздел 3. Предобученные нейросети и классические модели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27080" y="384048"/>
            <a:ext cx="868680" cy="457200"/>
          </a:xfrm>
          <a:prstGeom prst="roundRect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7080" y="475488"/>
            <a:ext cx="868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10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37376"/>
            <a:ext cx="10908792" cy="9525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E82"/>
                </a:solidFill>
                <a:latin typeface="Calibri"/>
              </a:rPr>
              <a:t>Прогнозирование временных рядов · ВКР · Лазарев А.К. · 2026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1591056"/>
          <a:ext cx="10913364" cy="274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0400"/>
                <a:gridCol w="1101852"/>
                <a:gridCol w="1101852"/>
                <a:gridCol w="1101852"/>
                <a:gridCol w="1101852"/>
                <a:gridCol w="1101852"/>
                <a:gridCol w="1101852"/>
                <a:gridCol w="1101852"/>
              </a:tblGrid>
              <a:tr h="21101">
                <a:tc>
                  <a:txBody>
                    <a:bodyPr/>
                    <a:lstStyle/>
                    <a:p>
                      <a:pPr algn="l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Модель</a:t>
                      </a:r>
                    </a:p>
                  </a:txBody>
                  <a:tcPr marL="63500" marR="50800" marT="25400" marB="25400" anchor="ctr">
                    <a:solidFill>
                      <a:srgbClr val="1B26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M3-Y</a:t>
                      </a:r>
                    </a:p>
                  </a:txBody>
                  <a:tcPr marL="63500" marR="50800" marT="25400" marB="25400" anchor="ctr">
                    <a:solidFill>
                      <a:srgbClr val="1B26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M3-Q</a:t>
                      </a:r>
                    </a:p>
                  </a:txBody>
                  <a:tcPr marL="63500" marR="50800" marT="25400" marB="25400" anchor="ctr">
                    <a:solidFill>
                      <a:srgbClr val="1B26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M3-M</a:t>
                      </a:r>
                    </a:p>
                  </a:txBody>
                  <a:tcPr marL="63500" marR="50800" marT="25400" marB="25400" anchor="ctr">
                    <a:solidFill>
                      <a:srgbClr val="1B26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M4-Q</a:t>
                      </a:r>
                    </a:p>
                  </a:txBody>
                  <a:tcPr marL="63500" marR="50800" marT="25400" marB="25400" anchor="ctr">
                    <a:solidFill>
                      <a:srgbClr val="1B26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M4-M</a:t>
                      </a:r>
                    </a:p>
                  </a:txBody>
                  <a:tcPr marL="63500" marR="50800" marT="25400" marB="25400" anchor="ctr">
                    <a:solidFill>
                      <a:srgbClr val="1B26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M4-D</a:t>
                      </a:r>
                    </a:p>
                  </a:txBody>
                  <a:tcPr marL="63500" marR="50800" marT="25400" marB="25400" anchor="ctr">
                    <a:solidFill>
                      <a:srgbClr val="1B26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Ср.</a:t>
                      </a:r>
                    </a:p>
                  </a:txBody>
                  <a:tcPr marL="63500" marR="50800" marT="25400" marB="25400" anchor="ctr">
                    <a:solidFill>
                      <a:srgbClr val="1B2649"/>
                    </a:solidFill>
                  </a:tcPr>
                </a:tc>
              </a:tr>
              <a:tr h="21101">
                <a:tc gridSpan="8">
                  <a:txBody>
                    <a:bodyPr/>
                    <a:lstStyle/>
                    <a:p>
                      <a:pPr algn="l"/>
                      <a:r>
                        <a:rPr b="1" i="1" sz="1250">
                          <a:solidFill>
                            <a:srgbClr val="FFFFFF"/>
                          </a:solidFill>
                          <a:latin typeface="Calibri"/>
                        </a:rPr>
                        <a:t>Классические модели (per-series)</a:t>
                      </a:r>
                    </a:p>
                  </a:txBody>
                  <a:tcPr marL="63500" marR="50800" marT="25400" marB="25400" anchor="ctr">
                    <a:solidFill>
                      <a:srgbClr val="2E3D6B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b="1" i="1" sz="125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50800" marT="25400" marB="25400" anchor="ctr">
                    <a:solidFill>
                      <a:srgbClr val="2E3D6B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b="1" i="1" sz="125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50800" marT="25400" marB="25400" anchor="ctr">
                    <a:solidFill>
                      <a:srgbClr val="2E3D6B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b="1" i="1" sz="125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50800" marT="25400" marB="25400" anchor="ctr">
                    <a:solidFill>
                      <a:srgbClr val="2E3D6B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b="1" i="1" sz="125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50800" marT="25400" marB="25400" anchor="ctr">
                    <a:solidFill>
                      <a:srgbClr val="2E3D6B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b="1" i="1" sz="125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50800" marT="25400" marB="25400" anchor="ctr">
                    <a:solidFill>
                      <a:srgbClr val="2E3D6B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b="1" i="1" sz="125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50800" marT="25400" marB="25400" anchor="ctr">
                    <a:solidFill>
                      <a:srgbClr val="2E3D6B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b="1" i="1" sz="125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50800" marT="25400" marB="25400" anchor="ctr">
                    <a:solidFill>
                      <a:srgbClr val="2E3D6B"/>
                    </a:solidFill>
                  </a:tcPr>
                </a:tc>
              </a:tr>
              <a:tr h="21101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666E82"/>
                          </a:solidFill>
                          <a:latin typeface="Calibri"/>
                        </a:rPr>
                        <a:t>Auto-ARIMA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17.9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10.9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18.1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10.2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14.7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3.22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12.5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</a:tr>
              <a:tr h="21101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666E82"/>
                          </a:solidFill>
                          <a:latin typeface="Calibri"/>
                        </a:rPr>
                        <a:t>ETS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19.1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10.8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17.4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9.7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15.1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3.46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12.6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</a:tr>
              <a:tr h="21101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666E82"/>
                          </a:solidFill>
                          <a:latin typeface="Calibri"/>
                        </a:rPr>
                        <a:t>Seasonal Naive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17.9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11.1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17.2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12.2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15.9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4.05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13.0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</a:tr>
              <a:tr h="21101">
                <a:tc gridSpan="8">
                  <a:txBody>
                    <a:bodyPr/>
                    <a:lstStyle/>
                    <a:p>
                      <a:pPr algn="l"/>
                      <a:r>
                        <a:rPr b="1" i="1" sz="1250">
                          <a:solidFill>
                            <a:srgbClr val="FFFFFF"/>
                          </a:solidFill>
                          <a:latin typeface="Calibri"/>
                        </a:rPr>
                        <a:t>Нейросетевые модели (с предобучением)</a:t>
                      </a:r>
                    </a:p>
                  </a:txBody>
                  <a:tcPr marL="63500" marR="50800" marT="25400" marB="25400" anchor="ctr">
                    <a:solidFill>
                      <a:srgbClr val="2E3D6B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b="1" i="1" sz="125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50800" marT="25400" marB="25400" anchor="ctr">
                    <a:solidFill>
                      <a:srgbClr val="2E3D6B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b="1" i="1" sz="125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50800" marT="25400" marB="25400" anchor="ctr">
                    <a:solidFill>
                      <a:srgbClr val="2E3D6B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b="1" i="1" sz="125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50800" marT="25400" marB="25400" anchor="ctr">
                    <a:solidFill>
                      <a:srgbClr val="2E3D6B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b="1" i="1" sz="125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50800" marT="25400" marB="25400" anchor="ctr">
                    <a:solidFill>
                      <a:srgbClr val="2E3D6B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b="1" i="1" sz="125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50800" marT="25400" marB="25400" anchor="ctr">
                    <a:solidFill>
                      <a:srgbClr val="2E3D6B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b="1" i="1" sz="125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50800" marT="25400" marB="25400" anchor="ctr">
                    <a:solidFill>
                      <a:srgbClr val="2E3D6B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b="1" i="1" sz="125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50800" marT="25400" marB="25400" anchor="ctr">
                    <a:solidFill>
                      <a:srgbClr val="2E3D6B"/>
                    </a:solidFill>
                  </a:tcPr>
                </a:tc>
              </a:tr>
              <a:tr h="21101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92E3A"/>
                          </a:solidFill>
                          <a:latin typeface="Calibri"/>
                        </a:rPr>
                        <a:t>DLinear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23.7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12.7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25A40"/>
                          </a:solidFill>
                          <a:latin typeface="Calibri"/>
                        </a:rPr>
                        <a:t>14.0</a:t>
                      </a:r>
                    </a:p>
                  </a:txBody>
                  <a:tcPr marL="63500" marR="50800" marT="25400" marB="25400" anchor="ctr">
                    <a:solidFill>
                      <a:srgbClr val="FCE9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15.4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17.2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25A40"/>
                          </a:solidFill>
                          <a:latin typeface="Calibri"/>
                        </a:rPr>
                        <a:t>2.44</a:t>
                      </a:r>
                    </a:p>
                  </a:txBody>
                  <a:tcPr marL="63500" marR="50800" marT="25400" marB="25400" anchor="ctr">
                    <a:solidFill>
                      <a:srgbClr val="FCE9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14.2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</a:tr>
              <a:tr h="21101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92E3A"/>
                          </a:solidFill>
                          <a:latin typeface="Calibri"/>
                        </a:rPr>
                        <a:t>TimesNet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25.1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12.4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25A40"/>
                          </a:solidFill>
                          <a:latin typeface="Calibri"/>
                        </a:rPr>
                        <a:t>13.7</a:t>
                      </a:r>
                    </a:p>
                  </a:txBody>
                  <a:tcPr marL="63500" marR="50800" marT="25400" marB="25400" anchor="ctr">
                    <a:solidFill>
                      <a:srgbClr val="FCE9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22.5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17.2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25A40"/>
                          </a:solidFill>
                          <a:latin typeface="Calibri"/>
                        </a:rPr>
                        <a:t>2.46</a:t>
                      </a:r>
                    </a:p>
                  </a:txBody>
                  <a:tcPr marL="63500" marR="50800" marT="25400" marB="25400" anchor="ctr">
                    <a:solidFill>
                      <a:srgbClr val="FCE9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15.6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</a:tr>
              <a:tr h="21101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92E3A"/>
                          </a:solidFill>
                          <a:latin typeface="Calibri"/>
                        </a:rPr>
                        <a:t>PatchTST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23.1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15.1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25A40"/>
                          </a:solidFill>
                          <a:latin typeface="Calibri"/>
                        </a:rPr>
                        <a:t>15.2</a:t>
                      </a:r>
                    </a:p>
                  </a:txBody>
                  <a:tcPr marL="63500" marR="50800" marT="25400" marB="25400" anchor="ctr">
                    <a:solidFill>
                      <a:srgbClr val="FCE9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19.6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17.5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25A40"/>
                          </a:solidFill>
                          <a:latin typeface="Calibri"/>
                        </a:rPr>
                        <a:t>2.36</a:t>
                      </a:r>
                    </a:p>
                  </a:txBody>
                  <a:tcPr marL="63500" marR="50800" marT="25400" marB="25400" anchor="ctr">
                    <a:solidFill>
                      <a:srgbClr val="FCE9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15.5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</a:tr>
              <a:tr h="21101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92E3A"/>
                          </a:solidFill>
                          <a:latin typeface="Calibri"/>
                        </a:rPr>
                        <a:t>Autoformer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23.4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13.8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25A40"/>
                          </a:solidFill>
                          <a:latin typeface="Calibri"/>
                        </a:rPr>
                        <a:t>15.1</a:t>
                      </a:r>
                    </a:p>
                  </a:txBody>
                  <a:tcPr marL="63500" marR="50800" marT="25400" marB="25400" anchor="ctr">
                    <a:solidFill>
                      <a:srgbClr val="FCE9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20.1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16.3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25A40"/>
                          </a:solidFill>
                          <a:latin typeface="Calibri"/>
                        </a:rPr>
                        <a:t>2.81</a:t>
                      </a:r>
                    </a:p>
                  </a:txBody>
                  <a:tcPr marL="63500" marR="50800" marT="25400" marB="25400" anchor="ctr">
                    <a:solidFill>
                      <a:srgbClr val="FCE9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15.3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</a:tr>
              <a:tr h="21101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92E3A"/>
                          </a:solidFill>
                          <a:latin typeface="Calibri"/>
                        </a:rPr>
                        <a:t>FEDformer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22.8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15.8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25A40"/>
                          </a:solidFill>
                          <a:latin typeface="Calibri"/>
                        </a:rPr>
                        <a:t>16.3</a:t>
                      </a:r>
                    </a:p>
                  </a:txBody>
                  <a:tcPr marL="63500" marR="50800" marT="25400" marB="25400" anchor="ctr">
                    <a:solidFill>
                      <a:srgbClr val="FCE9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19.6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15.6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25A40"/>
                          </a:solidFill>
                          <a:latin typeface="Calibri"/>
                        </a:rPr>
                        <a:t>4.16</a:t>
                      </a:r>
                    </a:p>
                  </a:txBody>
                  <a:tcPr marL="63500" marR="50800" marT="25400" marB="25400" anchor="ctr">
                    <a:solidFill>
                      <a:srgbClr val="FCE9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15.7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</a:tr>
              <a:tr h="21101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92E3A"/>
                          </a:solidFill>
                          <a:latin typeface="Calibri"/>
                        </a:rPr>
                        <a:t>N-BEATS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23.8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14.4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25A40"/>
                          </a:solidFill>
                          <a:latin typeface="Calibri"/>
                        </a:rPr>
                        <a:t>17.3</a:t>
                      </a:r>
                    </a:p>
                  </a:txBody>
                  <a:tcPr marL="63500" marR="50800" marT="25400" marB="25400" anchor="ctr">
                    <a:solidFill>
                      <a:srgbClr val="FCE9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21.5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18.3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25A40"/>
                          </a:solidFill>
                          <a:latin typeface="Calibri"/>
                        </a:rPr>
                        <a:t>3.20</a:t>
                      </a:r>
                    </a:p>
                  </a:txBody>
                  <a:tcPr marL="63500" marR="50800" marT="25400" marB="25400" anchor="ctr">
                    <a:solidFill>
                      <a:srgbClr val="FCE9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16.4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</a:tr>
              <a:tr h="2110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92E3A"/>
                          </a:solidFill>
                          <a:latin typeface="Calibri"/>
                        </a:rPr>
                        <a:t>Helformer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29.8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21.4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25A40"/>
                          </a:solidFill>
                          <a:latin typeface="Calibri"/>
                        </a:rPr>
                        <a:t>23.0</a:t>
                      </a:r>
                    </a:p>
                  </a:txBody>
                  <a:tcPr marL="63500" marR="50800" marT="25400" marB="25400" anchor="ctr">
                    <a:solidFill>
                      <a:srgbClr val="FCE9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20.5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46.3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25A40"/>
                          </a:solidFill>
                          <a:latin typeface="Calibri"/>
                        </a:rPr>
                        <a:t>2.87</a:t>
                      </a:r>
                    </a:p>
                  </a:txBody>
                  <a:tcPr marL="63500" marR="50800" marT="25400" marB="25400" anchor="ctr">
                    <a:solidFill>
                      <a:srgbClr val="FCE9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24.0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40080" y="5907024"/>
            <a:ext cx="10908792" cy="566928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5907024"/>
            <a:ext cx="50800" cy="566928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980176"/>
            <a:ext cx="1554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5A40"/>
                </a:solidFill>
                <a:latin typeface="Calibri"/>
              </a:rPr>
              <a:t>ВЫВОД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5907024"/>
            <a:ext cx="9418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292E3A"/>
                </a:solidFill>
                <a:latin typeface="Calibri"/>
              </a:rPr>
              <a:t>На M3 monthly и M4 daily предобученные нейросети превосходят лучшую классику; на коротких рядах классика сохраняет преимущество.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5024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5024"/>
            <a:ext cx="12191695" cy="381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93268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Анализ отдельных временных рядов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89611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B7C2DE"/>
                </a:solidFill>
                <a:latin typeface="Calibri"/>
              </a:rPr>
              <a:t>Раздел 3. Массовый характер преимущества нейросетей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27080" y="384048"/>
            <a:ext cx="868680" cy="457200"/>
          </a:xfrm>
          <a:prstGeom prst="roundRect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7080" y="475488"/>
            <a:ext cx="868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11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37376"/>
            <a:ext cx="10908792" cy="9525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E82"/>
                </a:solidFill>
                <a:latin typeface="Calibri"/>
              </a:rPr>
              <a:t>Прогнозирование временных рядов · ВКР · Лазарев А.К. · 2026</a:t>
            </a:r>
          </a:p>
        </p:txBody>
      </p:sp>
      <p:pic>
        <p:nvPicPr>
          <p:cNvPr id="11" name="Picture 10" descr="cherry_D20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26347"/>
            <a:ext cx="7406640" cy="312534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8183879" y="1554480"/>
            <a:ext cx="3364992" cy="4069080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83879" y="1554480"/>
            <a:ext cx="50800" cy="406908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1828800"/>
            <a:ext cx="2926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FFFFFF"/>
                </a:solidFill>
                <a:latin typeface="Calibri"/>
              </a:rPr>
              <a:t>517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615184"/>
            <a:ext cx="2926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B7C2DE"/>
                </a:solidFill>
                <a:latin typeface="Calibri"/>
              </a:rPr>
              <a:t>из 1000 ежедневных рядов M4 — нейросеть точнее классики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584448"/>
            <a:ext cx="2926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FFFFFF"/>
                </a:solidFill>
                <a:latin typeface="Calibri"/>
              </a:rPr>
              <a:t>295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4370832"/>
            <a:ext cx="2926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B7C2DE"/>
                </a:solidFill>
                <a:latin typeface="Calibri"/>
              </a:rPr>
              <a:t>рядов, где побеждают 3 и более нейросетевых модели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779008"/>
            <a:ext cx="10908792" cy="566928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779008"/>
            <a:ext cx="50800" cy="566928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852160"/>
            <a:ext cx="1554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5A40"/>
                </a:solidFill>
                <a:latin typeface="Calibri"/>
              </a:rPr>
              <a:t>ВЫВОД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5779008"/>
            <a:ext cx="9418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292E3A"/>
                </a:solidFill>
                <a:latin typeface="Calibri"/>
              </a:rPr>
              <a:t>Преимущество нейросетевых моделей на длинных рядах носит массовый, а не единичный характер.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5024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5024"/>
            <a:ext cx="12191695" cy="381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93268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Итеративное прогнозирование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89611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B7C2DE"/>
                </a:solidFill>
                <a:latin typeface="Calibri"/>
              </a:rPr>
              <a:t>Раздел 3. Устойчивость моделей к накоплению ошибки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27080" y="384048"/>
            <a:ext cx="868680" cy="457200"/>
          </a:xfrm>
          <a:prstGeom prst="roundRect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7080" y="475488"/>
            <a:ext cx="868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12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37376"/>
            <a:ext cx="10908792" cy="9525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E82"/>
                </a:solidFill>
                <a:latin typeface="Calibri"/>
              </a:rPr>
              <a:t>Прогнозирование временных рядов · ВКР · Лазарев А.К. ·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627632"/>
            <a:ext cx="6675120" cy="3977639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1627632"/>
            <a:ext cx="50800" cy="3977639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1792224"/>
            <a:ext cx="6309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649"/>
                </a:solidFill>
                <a:latin typeface="Calibri"/>
              </a:rPr>
              <a:t>Деградация при переходе от прямого режима к итеративному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231136"/>
            <a:ext cx="6217920" cy="3246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300"/>
              </a:spcAft>
            </a:pPr>
            <a:r>
              <a:rPr sz="14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450" b="1" i="0">
                <a:solidFill>
                  <a:srgbClr val="292E3A"/>
                </a:solidFill>
                <a:latin typeface="Calibri"/>
              </a:rPr>
              <a:t>Обучаемая декомпозиция уязвима. </a:t>
            </a:r>
            <a:r>
              <a:rPr sz="1450" b="0" i="0">
                <a:solidFill>
                  <a:srgbClr val="292E3A"/>
                </a:solidFill>
                <a:latin typeface="Calibri"/>
              </a:rPr>
              <a:t>FEDformer и TimesNet теряют около 5 п.п. sMAPE — выделенные компоненты искажаются на собственных прогнозах.</a:t>
            </a:r>
          </a:p>
          <a:p>
            <a:pPr algn="l">
              <a:lnSpc>
                <a:spcPct val="110000"/>
              </a:lnSpc>
              <a:spcAft>
                <a:spcPts val="1300"/>
              </a:spcAft>
            </a:pPr>
            <a:r>
              <a:rPr sz="14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450" b="1" i="0">
                <a:solidFill>
                  <a:srgbClr val="292E3A"/>
                </a:solidFill>
                <a:latin typeface="Calibri"/>
              </a:rPr>
              <a:t>PatchTST устойчив. </a:t>
            </a:r>
            <a:r>
              <a:rPr sz="1450" b="0" i="0">
                <a:solidFill>
                  <a:srgbClr val="292E3A"/>
                </a:solidFill>
                <a:latin typeface="Calibri"/>
              </a:rPr>
              <a:t>Наименьшая деградация среди трансформеров: модель работает с патчами без явного разделения на компоненты.</a:t>
            </a:r>
          </a:p>
          <a:p>
            <a:pPr algn="l">
              <a:lnSpc>
                <a:spcPct val="110000"/>
              </a:lnSpc>
              <a:spcAft>
                <a:spcPts val="1300"/>
              </a:spcAft>
            </a:pPr>
            <a:r>
              <a:rPr sz="14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450" b="1" i="0">
                <a:solidFill>
                  <a:srgbClr val="292E3A"/>
                </a:solidFill>
                <a:latin typeface="Calibri"/>
              </a:rPr>
              <a:t>Классические модели стабильны. </a:t>
            </a:r>
            <a:r>
              <a:rPr sz="1450" b="0" i="0">
                <a:solidFill>
                  <a:srgbClr val="292E3A"/>
                </a:solidFill>
                <a:latin typeface="Calibri"/>
              </a:rPr>
              <a:t>ETS и Auto-ARIMA практически нечувствительны к режиму — рекуррентная структура заложена в самой модели.</a:t>
            </a:r>
          </a:p>
          <a:p>
            <a:pPr algn="l">
              <a:lnSpc>
                <a:spcPct val="110000"/>
              </a:lnSpc>
              <a:spcAft>
                <a:spcPts val="1300"/>
              </a:spcAft>
            </a:pPr>
            <a:r>
              <a:rPr sz="14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450" b="1" i="0">
                <a:solidFill>
                  <a:srgbClr val="292E3A"/>
                </a:solidFill>
                <a:latin typeface="Calibri"/>
              </a:rPr>
              <a:t>Закономерность. </a:t>
            </a:r>
            <a:r>
              <a:rPr sz="1450" b="0" i="0">
                <a:solidFill>
                  <a:srgbClr val="292E3A"/>
                </a:solidFill>
                <a:latin typeface="Calibri"/>
              </a:rPr>
              <a:t>Чем сложнее обучаемое разложение, тем сильнее накопление ошибки на горизонте.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43800" y="1627632"/>
            <a:ext cx="4005072" cy="3977639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543800" y="1627632"/>
            <a:ext cx="50800" cy="3977639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1847088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07A5F"/>
                </a:solidFill>
                <a:latin typeface="Calibri"/>
              </a:rPr>
              <a:t>СЛЕДСТВИЕ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286000"/>
            <a:ext cx="361188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FFFFFF"/>
                </a:solidFill>
                <a:latin typeface="Calibri"/>
              </a:rPr>
              <a:t>Сложная обучаемая декомпозиция повышает риск накопления ошибки при многошаговом прогнозе. В задачах с итеративным прогнозированием простые и классические модели предпочтительнее.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0" y="4526280"/>
            <a:ext cx="3383280" cy="12700"/>
          </a:xfrm>
          <a:prstGeom prst="rect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681728"/>
            <a:ext cx="3611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E07A5F"/>
                </a:solidFill>
                <a:latin typeface="Calibri"/>
              </a:rPr>
              <a:t>Рекомендация: </a:t>
            </a:r>
            <a:r>
              <a:rPr sz="1400" b="0" i="0">
                <a:solidFill>
                  <a:srgbClr val="B7C2DE"/>
                </a:solidFill>
                <a:latin typeface="Calibri"/>
              </a:rPr>
              <a:t>выбор модели должен учитывать не только точность, но и режим её применения.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779008"/>
            <a:ext cx="10908792" cy="566928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5779008"/>
            <a:ext cx="50800" cy="566928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852160"/>
            <a:ext cx="1554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5A40"/>
                </a:solidFill>
                <a:latin typeface="Calibri"/>
              </a:rPr>
              <a:t>ВЫВОД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65960" y="5779008"/>
            <a:ext cx="9418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292E3A"/>
                </a:solidFill>
                <a:latin typeface="Calibri"/>
              </a:rPr>
              <a:t>Тип декомпозиции должен соответствовать режиму прогнозирования.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5024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5024"/>
            <a:ext cx="12191695" cy="381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93268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Итеративное прогнозирование: масштаб деградации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89611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B7C2DE"/>
                </a:solidFill>
                <a:latin typeface="Calibri"/>
              </a:rPr>
              <a:t>Раздел 3. Прямой vs итеративный sMAPE по моделям (M3)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27080" y="384048"/>
            <a:ext cx="868680" cy="457200"/>
          </a:xfrm>
          <a:prstGeom prst="roundRect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7080" y="475488"/>
            <a:ext cx="868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13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37376"/>
            <a:ext cx="10908792" cy="9525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E82"/>
                </a:solidFill>
                <a:latin typeface="Calibri"/>
              </a:rPr>
              <a:t>Прогнозирование временных рядов · ВКР · Лазарев А.К. · 2026</a:t>
            </a:r>
          </a:p>
        </p:txBody>
      </p:sp>
      <p:pic>
        <p:nvPicPr>
          <p:cNvPr id="11" name="Picture 10" descr="rollout_degradation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66326"/>
            <a:ext cx="7269480" cy="3199667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8046720" y="1554480"/>
            <a:ext cx="3502152" cy="4023360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1554480"/>
            <a:ext cx="50800" cy="402336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02752" y="1719072"/>
            <a:ext cx="31363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649"/>
                </a:solidFill>
                <a:latin typeface="Calibri"/>
              </a:rPr>
              <a:t>Что показывает диаграмма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2752" y="2157984"/>
            <a:ext cx="3044952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100"/>
              </a:spcAft>
            </a:pPr>
            <a:r>
              <a:rPr sz="13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350" b="1" i="0">
                <a:solidFill>
                  <a:srgbClr val="292E3A"/>
                </a:solidFill>
                <a:latin typeface="Calibri"/>
              </a:rPr>
              <a:t>Синий — </a:t>
            </a:r>
            <a:r>
              <a:rPr sz="1350" b="0" i="0">
                <a:solidFill>
                  <a:srgbClr val="292E3A"/>
                </a:solidFill>
                <a:latin typeface="Calibri"/>
              </a:rPr>
              <a:t>прямой прогноз, оранжевый — итеративный.</a:t>
            </a:r>
          </a:p>
          <a:p>
            <a:pPr algn="l">
              <a:lnSpc>
                <a:spcPct val="110000"/>
              </a:lnSpc>
              <a:spcAft>
                <a:spcPts val="1100"/>
              </a:spcAft>
            </a:pPr>
            <a:r>
              <a:rPr sz="13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350" b="1" i="0">
                <a:solidFill>
                  <a:srgbClr val="292E3A"/>
                </a:solidFill>
                <a:latin typeface="Calibri"/>
              </a:rPr>
              <a:t>Классика </a:t>
            </a:r>
            <a:r>
              <a:rPr sz="1350" b="0" i="0">
                <a:solidFill>
                  <a:srgbClr val="292E3A"/>
                </a:solidFill>
                <a:latin typeface="Calibri"/>
              </a:rPr>
              <a:t>(S. Naive, ARIMA, ETS) — деградации практически нет.</a:t>
            </a:r>
          </a:p>
          <a:p>
            <a:pPr algn="l">
              <a:lnSpc>
                <a:spcPct val="110000"/>
              </a:lnSpc>
              <a:spcAft>
                <a:spcPts val="1100"/>
              </a:spcAft>
            </a:pPr>
            <a:r>
              <a:rPr sz="13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350" b="1" i="0">
                <a:solidFill>
                  <a:srgbClr val="292E3A"/>
                </a:solidFill>
                <a:latin typeface="Calibri"/>
              </a:rPr>
              <a:t>Обучаемая декомпозиция </a:t>
            </a:r>
            <a:r>
              <a:rPr sz="1350" b="0" i="0">
                <a:solidFill>
                  <a:srgbClr val="292E3A"/>
                </a:solidFill>
                <a:latin typeface="Calibri"/>
              </a:rPr>
              <a:t>(FEDformer, Autoformer, TimesNet) теряет 4–6 п.п. sMAPE.</a:t>
            </a:r>
          </a:p>
          <a:p>
            <a:pPr algn="l">
              <a:lnSpc>
                <a:spcPct val="110000"/>
              </a:lnSpc>
              <a:spcAft>
                <a:spcPts val="1100"/>
              </a:spcAft>
            </a:pPr>
            <a:r>
              <a:rPr sz="13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350" b="1" i="0">
                <a:solidFill>
                  <a:srgbClr val="292E3A"/>
                </a:solidFill>
                <a:latin typeface="Calibri"/>
              </a:rPr>
              <a:t>Модели упорядочены </a:t>
            </a:r>
            <a:r>
              <a:rPr sz="1350" b="0" i="0">
                <a:solidFill>
                  <a:srgbClr val="292E3A"/>
                </a:solidFill>
                <a:latin typeface="Calibri"/>
              </a:rPr>
              <a:t>по росту деградации слева направо.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779008"/>
            <a:ext cx="10908792" cy="566928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5779008"/>
            <a:ext cx="50800" cy="566928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852160"/>
            <a:ext cx="1554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5A40"/>
                </a:solidFill>
                <a:latin typeface="Calibri"/>
              </a:rPr>
              <a:t>ВЫВОД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5779008"/>
            <a:ext cx="9418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292E3A"/>
                </a:solidFill>
                <a:latin typeface="Calibri"/>
              </a:rPr>
              <a:t>Чем сложнее обучаемая декомпозиция, тем сильнее накопление ошибки в итеративном режиме; классика к режиму нечувствительна.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5024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5024"/>
            <a:ext cx="12191695" cy="381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93268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Выводы и практические рекомендации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89611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B7C2DE"/>
                </a:solidFill>
                <a:latin typeface="Calibri"/>
              </a:rPr>
              <a:t>Раздел 4. Основные результаты исследования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27080" y="384048"/>
            <a:ext cx="868680" cy="457200"/>
          </a:xfrm>
          <a:prstGeom prst="roundRect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7080" y="475488"/>
            <a:ext cx="868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14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37376"/>
            <a:ext cx="10908792" cy="9525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E82"/>
                </a:solidFill>
                <a:latin typeface="Calibri"/>
              </a:rPr>
              <a:t>Прогнозирование временных рядов · ВКР · Лазарев А.К. ·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591056"/>
            <a:ext cx="10908792" cy="859536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1591056"/>
            <a:ext cx="50800" cy="859536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680" y="1783080"/>
            <a:ext cx="512064" cy="512064"/>
          </a:xfrm>
          <a:prstGeom prst="ellipse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1856232"/>
            <a:ext cx="5120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1709928"/>
            <a:ext cx="3200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1B2649"/>
                </a:solidFill>
                <a:latin typeface="Calibri"/>
              </a:rPr>
              <a:t>Длина обучающей выборки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2040" y="1682496"/>
            <a:ext cx="64922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292E3A"/>
                </a:solidFill>
                <a:latin typeface="Calibri"/>
              </a:rPr>
              <a:t>Определяющий фактор. Ниже ≈ 50–100 наблюдений предпочтительны ETS и Auto-ARIMA; выше — нейросети конкурентоспособны.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505456"/>
            <a:ext cx="10908792" cy="859536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2505456"/>
            <a:ext cx="50800" cy="859536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680" y="2697480"/>
            <a:ext cx="512064" cy="512064"/>
          </a:xfrm>
          <a:prstGeom prst="ellipse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2770632"/>
            <a:ext cx="5120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" y="2624328"/>
            <a:ext cx="3200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1B2649"/>
                </a:solidFill>
                <a:latin typeface="Calibri"/>
              </a:rPr>
              <a:t>TimesNet — лучшая нейросеть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92040" y="2596896"/>
            <a:ext cx="64922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292E3A"/>
                </a:solidFill>
                <a:latin typeface="Calibri"/>
              </a:rPr>
              <a:t>В режиме обучения на одном ряде; обучаемая 2D-декомпозиция эффективна при достаточном объёме данных.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3419856"/>
            <a:ext cx="10908792" cy="859536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3419856"/>
            <a:ext cx="50800" cy="859536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68680" y="3611880"/>
            <a:ext cx="512064" cy="512064"/>
          </a:xfrm>
          <a:prstGeom prst="ellipse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3685032"/>
            <a:ext cx="5120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00200" y="3538728"/>
            <a:ext cx="3200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1B2649"/>
                </a:solidFill>
                <a:latin typeface="Calibri"/>
              </a:rPr>
              <a:t>Предобучение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92040" y="3511296"/>
            <a:ext cx="64922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292E3A"/>
                </a:solidFill>
                <a:latin typeface="Calibri"/>
              </a:rPr>
              <a:t>Повышает качество нейросетей на 18–32 % и выводит их на уровень и выше классики на M3 monthly и M4 daily.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334256"/>
            <a:ext cx="10908792" cy="859536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4334256"/>
            <a:ext cx="50800" cy="859536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68680" y="4526280"/>
            <a:ext cx="512064" cy="512064"/>
          </a:xfrm>
          <a:prstGeom prst="ellipse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4599432"/>
            <a:ext cx="5120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00200" y="4453128"/>
            <a:ext cx="3200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1B2649"/>
                </a:solidFill>
                <a:latin typeface="Calibri"/>
              </a:rPr>
              <a:t>Тип декомпозиции и режим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92040" y="4425696"/>
            <a:ext cx="64922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292E3A"/>
                </a:solidFill>
                <a:latin typeface="Calibri"/>
              </a:rPr>
              <a:t>Фиксированная декомпозиция устойчивее, обучаемая адаптивнее, но хрупка при итеративном прогнозировании.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5248656"/>
            <a:ext cx="10908792" cy="859536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0080" y="5248656"/>
            <a:ext cx="50800" cy="859536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68680" y="5440680"/>
            <a:ext cx="512064" cy="512064"/>
          </a:xfrm>
          <a:prstGeom prst="ellipse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5513832"/>
            <a:ext cx="5120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00200" y="5367528"/>
            <a:ext cx="3200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1B2649"/>
                </a:solidFill>
                <a:latin typeface="Calibri"/>
              </a:rPr>
              <a:t>Общий вывод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92040" y="5340096"/>
            <a:ext cx="64922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292E3A"/>
                </a:solidFill>
                <a:latin typeface="Calibri"/>
              </a:rPr>
              <a:t>Эффективность нейросетевых механизмов не абсолютна — она определяется длиной ряда, режимом обучения и объёмом данных.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5024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5024"/>
            <a:ext cx="12191695" cy="381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93268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Список литературы (избранное)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89611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B7C2DE"/>
                </a:solidFill>
                <a:latin typeface="Calibri"/>
              </a:rPr>
              <a:t>Раздел 5. Полный список — 49 источников в ВКР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27080" y="384048"/>
            <a:ext cx="868680" cy="457200"/>
          </a:xfrm>
          <a:prstGeom prst="roundRect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7080" y="475488"/>
            <a:ext cx="868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15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37376"/>
            <a:ext cx="10908792" cy="9525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E82"/>
                </a:solidFill>
                <a:latin typeface="Calibri"/>
              </a:rPr>
              <a:t>Прогнозирование временных рядов · ВКР · Лазарев А.К. ·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691640"/>
            <a:ext cx="53949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300"/>
              </a:spcAft>
            </a:pPr>
            <a:r>
              <a:rPr sz="1100" b="1" i="0">
                <a:solidFill>
                  <a:srgbClr val="C25A40"/>
                </a:solidFill>
                <a:latin typeface="Calibri"/>
              </a:rPr>
              <a:t>1.  </a:t>
            </a:r>
            <a:r>
              <a:rPr sz="1100" b="0" i="0">
                <a:solidFill>
                  <a:srgbClr val="292E3A"/>
                </a:solidFill>
                <a:latin typeface="Calibri"/>
              </a:rPr>
              <a:t>Hyndman R.J., Athanasopoulos G. Forecasting: principles and practice. — Melbourne: OTexts, 2021.</a:t>
            </a:r>
          </a:p>
          <a:p>
            <a:pPr algn="l">
              <a:lnSpc>
                <a:spcPct val="112000"/>
              </a:lnSpc>
              <a:spcAft>
                <a:spcPts val="1300"/>
              </a:spcAft>
            </a:pPr>
            <a:r>
              <a:rPr sz="1100" b="1" i="0">
                <a:solidFill>
                  <a:srgbClr val="C25A40"/>
                </a:solidFill>
                <a:latin typeface="Calibri"/>
              </a:rPr>
              <a:t>2.  </a:t>
            </a:r>
            <a:r>
              <a:rPr sz="1100" b="0" i="0">
                <a:solidFill>
                  <a:srgbClr val="292E3A"/>
                </a:solidFill>
                <a:latin typeface="Calibri"/>
              </a:rPr>
              <a:t>Box G.E.P., Jenkins G.M. Time series analysis: forecasting and control. — Holden-Day, 1970.</a:t>
            </a:r>
          </a:p>
          <a:p>
            <a:pPr algn="l">
              <a:lnSpc>
                <a:spcPct val="112000"/>
              </a:lnSpc>
              <a:spcAft>
                <a:spcPts val="1300"/>
              </a:spcAft>
            </a:pPr>
            <a:r>
              <a:rPr sz="1100" b="1" i="0">
                <a:solidFill>
                  <a:srgbClr val="C25A40"/>
                </a:solidFill>
                <a:latin typeface="Calibri"/>
              </a:rPr>
              <a:t>3.  </a:t>
            </a:r>
            <a:r>
              <a:rPr sz="1100" b="0" i="0">
                <a:solidFill>
                  <a:srgbClr val="292E3A"/>
                </a:solidFill>
                <a:latin typeface="Calibri"/>
              </a:rPr>
              <a:t>Makridakis S., Spiliotis E., Assimakopoulos V. The M4 Competition // Int. J. Forecasting. — 2020. — Vol. 36(1).</a:t>
            </a:r>
          </a:p>
          <a:p>
            <a:pPr algn="l">
              <a:lnSpc>
                <a:spcPct val="112000"/>
              </a:lnSpc>
              <a:spcAft>
                <a:spcPts val="1300"/>
              </a:spcAft>
            </a:pPr>
            <a:r>
              <a:rPr sz="1100" b="1" i="0">
                <a:solidFill>
                  <a:srgbClr val="C25A40"/>
                </a:solidFill>
                <a:latin typeface="Calibri"/>
              </a:rPr>
              <a:t>4.  </a:t>
            </a:r>
            <a:r>
              <a:rPr sz="1100" b="0" i="0">
                <a:solidFill>
                  <a:srgbClr val="292E3A"/>
                </a:solidFill>
                <a:latin typeface="Calibri"/>
              </a:rPr>
              <a:t>Makridakis S., Hibon M. The M3-Competition // Int. J. Forecasting. — 2000. — Vol. 16(4).</a:t>
            </a:r>
          </a:p>
          <a:p>
            <a:pPr algn="l">
              <a:lnSpc>
                <a:spcPct val="112000"/>
              </a:lnSpc>
              <a:spcAft>
                <a:spcPts val="1300"/>
              </a:spcAft>
            </a:pPr>
            <a:r>
              <a:rPr sz="1100" b="1" i="0">
                <a:solidFill>
                  <a:srgbClr val="C25A40"/>
                </a:solidFill>
                <a:latin typeface="Calibri"/>
              </a:rPr>
              <a:t>5.  </a:t>
            </a:r>
            <a:r>
              <a:rPr sz="1100" b="0" i="0">
                <a:solidFill>
                  <a:srgbClr val="292E3A"/>
                </a:solidFill>
                <a:latin typeface="Calibri"/>
              </a:rPr>
              <a:t>Cleveland R.B. et al. STL: A Seasonal-Trend Decomposition Procedure Based on Loess // J. Official Statistics. — 1990.</a:t>
            </a:r>
          </a:p>
          <a:p>
            <a:pPr algn="l">
              <a:lnSpc>
                <a:spcPct val="112000"/>
              </a:lnSpc>
              <a:spcAft>
                <a:spcPts val="1300"/>
              </a:spcAft>
            </a:pPr>
            <a:r>
              <a:rPr sz="1100" b="1" i="0">
                <a:solidFill>
                  <a:srgbClr val="C25A40"/>
                </a:solidFill>
                <a:latin typeface="Calibri"/>
              </a:rPr>
              <a:t>6.  </a:t>
            </a:r>
            <a:r>
              <a:rPr sz="1100" b="0" i="0">
                <a:solidFill>
                  <a:srgbClr val="292E3A"/>
                </a:solidFill>
                <a:latin typeface="Calibri"/>
              </a:rPr>
              <a:t>Hyndman R.J. et al. A state space framework for automatic forecasting // Int. J. Forecasting. — 2002.</a:t>
            </a:r>
          </a:p>
          <a:p>
            <a:pPr algn="l">
              <a:lnSpc>
                <a:spcPct val="112000"/>
              </a:lnSpc>
              <a:spcAft>
                <a:spcPts val="1300"/>
              </a:spcAft>
            </a:pPr>
            <a:r>
              <a:rPr sz="1100" b="1" i="0">
                <a:solidFill>
                  <a:srgbClr val="C25A40"/>
                </a:solidFill>
                <a:latin typeface="Calibri"/>
              </a:rPr>
              <a:t>7.  </a:t>
            </a:r>
            <a:r>
              <a:rPr sz="1100" b="0" i="0">
                <a:solidFill>
                  <a:srgbClr val="292E3A"/>
                </a:solidFill>
                <a:latin typeface="Calibri"/>
              </a:rPr>
              <a:t>Taylor S.J., Letham B. Forecasting at scale // The American Statistician. — 2018. — Vol. 72(1).</a:t>
            </a:r>
          </a:p>
          <a:p>
            <a:pPr algn="l">
              <a:lnSpc>
                <a:spcPct val="112000"/>
              </a:lnSpc>
              <a:spcAft>
                <a:spcPts val="1300"/>
              </a:spcAft>
            </a:pPr>
            <a:r>
              <a:rPr sz="1100" b="1" i="0">
                <a:solidFill>
                  <a:srgbClr val="C25A40"/>
                </a:solidFill>
                <a:latin typeface="Calibri"/>
              </a:rPr>
              <a:t>8.  </a:t>
            </a:r>
            <a:r>
              <a:rPr sz="1100" b="0" i="0">
                <a:solidFill>
                  <a:srgbClr val="292E3A"/>
                </a:solidFill>
                <a:latin typeface="Calibri"/>
              </a:rPr>
              <a:t>Zeng A. et al. Are Transformers Effective for Time Series Forecasting? (DLinear) // AAAI. — 2023.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89904" y="1783080"/>
            <a:ext cx="9525" cy="4114800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1691640"/>
            <a:ext cx="53949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300"/>
              </a:spcAft>
            </a:pPr>
            <a:r>
              <a:rPr sz="1100" b="1" i="0">
                <a:solidFill>
                  <a:srgbClr val="C25A40"/>
                </a:solidFill>
                <a:latin typeface="Calibri"/>
              </a:rPr>
              <a:t>9.  </a:t>
            </a:r>
            <a:r>
              <a:rPr sz="1100" b="0" i="0">
                <a:solidFill>
                  <a:srgbClr val="292E3A"/>
                </a:solidFill>
                <a:latin typeface="Calibri"/>
              </a:rPr>
              <a:t>Oreshkin B.N. et al. N-BEATS: Neural basis expansion analysis. — arXiv:1905.10437, 2020.</a:t>
            </a:r>
          </a:p>
          <a:p>
            <a:pPr algn="l">
              <a:lnSpc>
                <a:spcPct val="112000"/>
              </a:lnSpc>
              <a:spcAft>
                <a:spcPts val="1300"/>
              </a:spcAft>
            </a:pPr>
            <a:r>
              <a:rPr sz="1100" b="1" i="0">
                <a:solidFill>
                  <a:srgbClr val="C25A40"/>
                </a:solidFill>
                <a:latin typeface="Calibri"/>
              </a:rPr>
              <a:t>10.  </a:t>
            </a:r>
            <a:r>
              <a:rPr sz="1100" b="0" i="0">
                <a:solidFill>
                  <a:srgbClr val="292E3A"/>
                </a:solidFill>
                <a:latin typeface="Calibri"/>
              </a:rPr>
              <a:t>Wu H. et al. TimesNet: Temporal 2D-Variation Modeling. — ICLR, 2023.</a:t>
            </a:r>
          </a:p>
          <a:p>
            <a:pPr algn="l">
              <a:lnSpc>
                <a:spcPct val="112000"/>
              </a:lnSpc>
              <a:spcAft>
                <a:spcPts val="1300"/>
              </a:spcAft>
            </a:pPr>
            <a:r>
              <a:rPr sz="1100" b="1" i="0">
                <a:solidFill>
                  <a:srgbClr val="C25A40"/>
                </a:solidFill>
                <a:latin typeface="Calibri"/>
              </a:rPr>
              <a:t>11.  </a:t>
            </a:r>
            <a:r>
              <a:rPr sz="1100" b="0" i="0">
                <a:solidFill>
                  <a:srgbClr val="292E3A"/>
                </a:solidFill>
                <a:latin typeface="Calibri"/>
              </a:rPr>
              <a:t>Wu H. et al. Autoformer: Decomposition Transformers with Auto-Correlation. — NeurIPS, 2021.</a:t>
            </a:r>
          </a:p>
          <a:p>
            <a:pPr algn="l">
              <a:lnSpc>
                <a:spcPct val="112000"/>
              </a:lnSpc>
              <a:spcAft>
                <a:spcPts val="1300"/>
              </a:spcAft>
            </a:pPr>
            <a:r>
              <a:rPr sz="1100" b="1" i="0">
                <a:solidFill>
                  <a:srgbClr val="C25A40"/>
                </a:solidFill>
                <a:latin typeface="Calibri"/>
              </a:rPr>
              <a:t>12.  </a:t>
            </a:r>
            <a:r>
              <a:rPr sz="1100" b="0" i="0">
                <a:solidFill>
                  <a:srgbClr val="292E3A"/>
                </a:solidFill>
                <a:latin typeface="Calibri"/>
              </a:rPr>
              <a:t>Zhou T. et al. FEDformer: Frequency Enhanced Decomposed Transformer // ICML. — 2022.</a:t>
            </a:r>
          </a:p>
          <a:p>
            <a:pPr algn="l">
              <a:lnSpc>
                <a:spcPct val="112000"/>
              </a:lnSpc>
              <a:spcAft>
                <a:spcPts val="1300"/>
              </a:spcAft>
            </a:pPr>
            <a:r>
              <a:rPr sz="1100" b="1" i="0">
                <a:solidFill>
                  <a:srgbClr val="C25A40"/>
                </a:solidFill>
                <a:latin typeface="Calibri"/>
              </a:rPr>
              <a:t>13.  </a:t>
            </a:r>
            <a:r>
              <a:rPr sz="1100" b="0" i="0">
                <a:solidFill>
                  <a:srgbClr val="292E3A"/>
                </a:solidFill>
                <a:latin typeface="Calibri"/>
              </a:rPr>
              <a:t>Nie Y. et al. A Time Series is Worth 64 Words (PatchTST). — ICLR, 2023.</a:t>
            </a:r>
          </a:p>
          <a:p>
            <a:pPr algn="l">
              <a:lnSpc>
                <a:spcPct val="112000"/>
              </a:lnSpc>
              <a:spcAft>
                <a:spcPts val="1300"/>
              </a:spcAft>
            </a:pPr>
            <a:r>
              <a:rPr sz="1100" b="1" i="0">
                <a:solidFill>
                  <a:srgbClr val="C25A40"/>
                </a:solidFill>
                <a:latin typeface="Calibri"/>
              </a:rPr>
              <a:t>14.  </a:t>
            </a:r>
            <a:r>
              <a:rPr sz="1100" b="0" i="0">
                <a:solidFill>
                  <a:srgbClr val="292E3A"/>
                </a:solidFill>
                <a:latin typeface="Calibri"/>
              </a:rPr>
              <a:t>Kehinde T.O. et al. Helformer: An Attention-Based Deep Learning Model // J. Big Data. — 2025.</a:t>
            </a:r>
          </a:p>
          <a:p>
            <a:pPr algn="l">
              <a:lnSpc>
                <a:spcPct val="112000"/>
              </a:lnSpc>
              <a:spcAft>
                <a:spcPts val="1300"/>
              </a:spcAft>
            </a:pPr>
            <a:r>
              <a:rPr sz="1100" b="1" i="0">
                <a:solidFill>
                  <a:srgbClr val="C25A40"/>
                </a:solidFill>
                <a:latin typeface="Calibri"/>
              </a:rPr>
              <a:t>15.  </a:t>
            </a:r>
            <a:r>
              <a:rPr sz="1100" b="0" i="0">
                <a:solidFill>
                  <a:srgbClr val="292E3A"/>
                </a:solidFill>
                <a:latin typeface="Calibri"/>
              </a:rPr>
              <a:t>Vaswani A. et al. Attention Is All You Need. — NeurIPS, 2017.</a:t>
            </a:r>
          </a:p>
          <a:p>
            <a:pPr algn="l">
              <a:lnSpc>
                <a:spcPct val="112000"/>
              </a:lnSpc>
              <a:spcAft>
                <a:spcPts val="1300"/>
              </a:spcAft>
            </a:pPr>
            <a:r>
              <a:rPr sz="1100" b="1" i="0">
                <a:solidFill>
                  <a:srgbClr val="C25A40"/>
                </a:solidFill>
                <a:latin typeface="Calibri"/>
              </a:rPr>
              <a:t>16.  </a:t>
            </a:r>
            <a:r>
              <a:rPr sz="1100" b="0" i="0">
                <a:solidFill>
                  <a:srgbClr val="292E3A"/>
                </a:solidFill>
                <a:latin typeface="Calibri"/>
              </a:rPr>
              <a:t>Wen Q. et al. Transformers in Time Series: A Survey // IJCAI. — 2023.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5897880"/>
            <a:ext cx="10908792" cy="566928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5897880"/>
            <a:ext cx="50800" cy="566928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971032"/>
            <a:ext cx="1554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5A40"/>
                </a:solidFill>
                <a:latin typeface="Calibri"/>
              </a:rPr>
              <a:t>ВЫВОД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5897880"/>
            <a:ext cx="9418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292E3A"/>
                </a:solidFill>
                <a:latin typeface="Calibri"/>
              </a:rPr>
              <a:t>Полный пронумерованный список из 49 источников по ГОСТ Р 7.0.5-2008 приведён в тексте ВКР.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68680" y="3703320"/>
            <a:ext cx="4023360" cy="3175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3172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 i="0">
                <a:solidFill>
                  <a:srgbClr val="FFFFFF"/>
                </a:solidFill>
                <a:latin typeface="Calibri"/>
              </a:rPr>
              <a:t>Спасибо за внимание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977639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1">
                <a:solidFill>
                  <a:srgbClr val="B7C2DE"/>
                </a:solidFill>
                <a:latin typeface="Calibri"/>
              </a:rPr>
              <a:t>Прогнозирование временных рядов за счёт обучаемой декомпозиции и нейросетевых механизмов учёта долгосрочных зависимостей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07492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Лазарев А.К. · КМБО-03-22 · Научный руководитель — Петрусевич Д.А.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53212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B7C2DE"/>
                </a:solidFill>
                <a:latin typeface="Calibri"/>
              </a:rPr>
              <a:t>Готов ответить на вопросы комиссии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