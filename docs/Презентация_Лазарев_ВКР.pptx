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17720"/>
            <a:ext cx="12191695" cy="254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МИРЭА — Российский технологический университет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926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B9C3DE"/>
                </a:solidFill>
                <a:latin typeface="Calibri"/>
              </a:rPr>
              <a:t>Институт искусственного интеллекта · Кафедра высшей математики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07A5F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3172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100" b="1" i="0">
                <a:solidFill>
                  <a:srgbClr val="FFFFFF"/>
                </a:solidFill>
                <a:latin typeface="Calibri"/>
              </a:rPr>
              <a:t>Прогнозирование временных рядов за счёт обучаемой</a:t>
            </a:r>
          </a:p>
          <a:p>
            <a:pPr algn="l">
              <a:lnSpc>
                <a:spcPct val="105000"/>
              </a:lnSpc>
            </a:pPr>
            <a:r>
              <a:rPr sz="3100" b="1" i="0">
                <a:solidFill>
                  <a:srgbClr val="FFFFFF"/>
                </a:solidFill>
                <a:latin typeface="Calibri"/>
              </a:rPr>
              <a:t>декомпозиции и нейросетевых механизмов учёта</a:t>
            </a:r>
          </a:p>
          <a:p>
            <a:pPr algn="l">
              <a:lnSpc>
                <a:spcPct val="105000"/>
              </a:lnSpc>
            </a:pPr>
            <a:r>
              <a:rPr sz="3100" b="1" i="0">
                <a:solidFill>
                  <a:srgbClr val="FFFFFF"/>
                </a:solidFill>
                <a:latin typeface="Calibri"/>
              </a:rPr>
              <a:t>долгосрочных зависимостей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9204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B9C3DE"/>
                </a:solidFill>
                <a:latin typeface="Calibri"/>
              </a:rPr>
              <a:t>Выполнил: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студент группы КМБО-03-22 — Лазарев А.К.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B9C3DE"/>
                </a:solidFill>
                <a:latin typeface="Calibri"/>
              </a:rPr>
              <a:t>Научный руководитель: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к.ф.-м.н., доцент кафедры ВМ — Петрусевич Д.А.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035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A6C8"/>
                </a:solidFill>
                <a:latin typeface="Calibri"/>
              </a:rPr>
              <a:t>Москва,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2A4E"/>
                </a:solidFill>
                <a:latin typeface="Calibri"/>
              </a:rPr>
              <a:t>Актуальность и цель работы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15568"/>
            <a:ext cx="10881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374676"/>
                </a:solidFill>
                <a:latin typeface="Calibri"/>
              </a:rPr>
              <a:t>Раздел 1. Постановка исследования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8D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0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8"/>
                </a:solidFill>
                <a:latin typeface="Calibri"/>
              </a:rPr>
              <a:t>2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A6478"/>
                </a:solidFill>
                <a:latin typeface="Calibri"/>
              </a:rPr>
              <a:t>Прогнозирование временных рядов · ВКР · Лазарев А.К.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8521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7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2B2B2B"/>
                </a:solidFill>
                <a:latin typeface="Calibri"/>
              </a:rPr>
              <a:t>Краткосрочный прогноз </a:t>
            </a:r>
            <a:r>
              <a:rPr sz="1700" b="0" i="0">
                <a:solidFill>
                  <a:srgbClr val="2B2B2B"/>
                </a:solidFill>
                <a:latin typeface="Calibri"/>
              </a:rPr>
              <a:t>временных рядов нужен в планировании: продажи, трафик, спрос, ресурсы.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7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2B2B2B"/>
                </a:solidFill>
                <a:latin typeface="Calibri"/>
              </a:rPr>
              <a:t>Универсальной модели нет: </a:t>
            </a:r>
            <a:r>
              <a:rPr sz="1700" b="0" i="0">
                <a:solidFill>
                  <a:srgbClr val="2B2B2B"/>
                </a:solidFill>
                <a:latin typeface="Calibri"/>
              </a:rPr>
              <a:t>классика устойчива на коротких рядах, нейросети сильнее на длинных и сложных.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7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2B2B2B"/>
                </a:solidFill>
                <a:latin typeface="Calibri"/>
              </a:rPr>
              <a:t>Современные архитектуры </a:t>
            </a:r>
            <a:r>
              <a:rPr sz="1700" b="0" i="0">
                <a:solidFill>
                  <a:srgbClr val="2B2B2B"/>
                </a:solidFill>
                <a:latin typeface="Calibri"/>
              </a:rPr>
              <a:t>включают обучаемую декомпозицию и механизмы долгосрочных зависимостей — но дают ли они реальный выигрыш?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0" y="1828800"/>
            <a:ext cx="38100" cy="329184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0" y="18288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07A5F"/>
                </a:solidFill>
                <a:latin typeface="Calibri"/>
              </a:rPr>
              <a:t>ЦЕЛЬ РАБОТЫ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2286000"/>
            <a:ext cx="46177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0" i="0">
                <a:solidFill>
                  <a:srgbClr val="2B2B2B"/>
                </a:solidFill>
                <a:latin typeface="Calibri"/>
              </a:rPr>
              <a:t>Определить условия, при которых обучаемая декомпозиция и нейросетевые механизмы учёта долгосрочных зависимостей дают практическое преимущество над классическими статистическими моделями — и когда более простые методы предпочтительнее.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2A4E"/>
                </a:solidFill>
                <a:latin typeface="Calibri"/>
              </a:rPr>
              <a:t>Модели и масштаб эксперимента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15568"/>
            <a:ext cx="10881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374676"/>
                </a:solidFill>
                <a:latin typeface="Calibri"/>
              </a:rPr>
              <a:t>Раздел 1. Состав моделей и экспериментальная база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8D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0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8"/>
                </a:solidFill>
                <a:latin typeface="Calibri"/>
              </a:rPr>
              <a:t>3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A6478"/>
                </a:solidFill>
                <a:latin typeface="Calibri"/>
              </a:rPr>
              <a:t>Прогнозирование временных рядов · ВКР · Лазарев А.К.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F2A4E"/>
                </a:solidFill>
                <a:latin typeface="Calibri"/>
              </a:rPr>
              <a:t>Классические модели (4)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40280"/>
            <a:ext cx="51206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Seasonal Naive · Auto-ARIMA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ETS · Prophet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832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F2A4E"/>
                </a:solidFill>
                <a:latin typeface="Calibri"/>
              </a:rPr>
              <a:t>Нейросетевые модели (7)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40480"/>
            <a:ext cx="52120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DLinear · N-BEATS · TimesNet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Autoformer · FEDformer · PatchTST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Helformer (гибрид: HW-декомпозиция + нейросеть)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0" y="1828800"/>
            <a:ext cx="38100" cy="41148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0" y="18288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07A5F"/>
                </a:solidFill>
                <a:latin typeface="Calibri"/>
              </a:rPr>
              <a:t>ДАННЫЕ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286000"/>
            <a:ext cx="45720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M3 Competition —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2829 рядов (полный набор)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M4 Competition —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3000 рядов (Q + M + D)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6 частотных категорий, 5829 рядов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41148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07A5F"/>
                </a:solidFill>
                <a:latin typeface="Calibri"/>
              </a:rPr>
              <a:t>ТРИ РЕЖИМА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4572000"/>
            <a:ext cx="4572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Прямое прогнозирование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Итеративное прогнозирование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Предобучение на корпусе рядов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2A4E"/>
                </a:solidFill>
                <a:latin typeface="Calibri"/>
              </a:rPr>
              <a:t>Методология: декомпозиция и зависимости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15568"/>
            <a:ext cx="10881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374676"/>
                </a:solidFill>
                <a:latin typeface="Calibri"/>
              </a:rPr>
              <a:t>Раздел 2. Два ключевых механизма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8D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0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8"/>
                </a:solidFill>
                <a:latin typeface="Calibri"/>
              </a:rPr>
              <a:t>4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A6478"/>
                </a:solidFill>
                <a:latin typeface="Calibri"/>
              </a:rPr>
              <a:t>Прогнозирование временных рядов · ВКР · Лазарев А.К.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457200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6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Фиксированная декомпозиция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— ETS, DLinear, Helformer: тренд и сезонность выделяются заранее заданным правилом.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6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Обучаемая декомпозиция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— Autoformer, FEDformer, TimesNet: компоненты выделяет сама сеть в ходе обучения.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6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Долгосрочные зависимости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— внимание, свёртки, линейные проекции.</a:t>
            </a:r>
          </a:p>
        </p:txBody>
      </p:sp>
      <p:pic>
        <p:nvPicPr>
          <p:cNvPr id="10" name="Picture 9" descr="decomposition_type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2264167"/>
            <a:ext cx="6126480" cy="251254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40080" y="5897880"/>
            <a:ext cx="38100" cy="38404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8978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E07A5F"/>
                </a:solidFill>
                <a:latin typeface="Calibri"/>
              </a:rPr>
              <a:t>Главное: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сама по себе обучаемая декомпозиция не гарантирует выигрыша — решает объём данных и режим обучения.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2A4E"/>
                </a:solidFill>
                <a:latin typeface="Calibri"/>
              </a:rPr>
              <a:t>Прямое прогнозирование: общая картина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15568"/>
            <a:ext cx="10881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374676"/>
                </a:solidFill>
                <a:latin typeface="Calibri"/>
              </a:rPr>
              <a:t>Раздел 3. Классика устойчиво впереди, TimesNet — лучшая нейросеть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8D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0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8"/>
                </a:solidFill>
                <a:latin typeface="Calibri"/>
              </a:rPr>
              <a:t>5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A6478"/>
                </a:solidFill>
                <a:latin typeface="Calibri"/>
              </a:rPr>
              <a:t>Прогнозирование временных рядов · ВКР · Лазарев А.К.</a:t>
            </a:r>
          </a:p>
        </p:txBody>
      </p:sp>
      <p:pic>
        <p:nvPicPr>
          <p:cNvPr id="9" name="Picture 8" descr="rank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1951"/>
            <a:ext cx="7223760" cy="35712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01000" y="1828800"/>
            <a:ext cx="35661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Классика впереди. 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Auto-ARIMA, ETS и Seasonal Naive занимают верхние ранги на всех шести частотах.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TimesNet — лучшая нейросеть, 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средний ранг ≈ 4, вплотную к классике.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Трансформеры 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(Autoformer, FEDformer) в режиме обучения на одном ряде заметно отстают.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Тенденция: 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чем длиннее ряды, тем выше поднимаются нейросети.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897880"/>
            <a:ext cx="38100" cy="38404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8978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E07A5F"/>
                </a:solidFill>
                <a:latin typeface="Calibri"/>
              </a:rPr>
              <a:t>Главное: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в обычном режиме классика побеждает, но разрыв сокращается с ростом длины ряда.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2A4E"/>
                </a:solidFill>
                <a:latin typeface="Calibri"/>
              </a:rPr>
              <a:t>Длина ряда — ключевой фактор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15568"/>
            <a:ext cx="10881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374676"/>
                </a:solidFill>
                <a:latin typeface="Calibri"/>
              </a:rPr>
              <a:t>Раздел 3. Порог длины ряда определяет исход сравнения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8D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0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8"/>
                </a:solidFill>
                <a:latin typeface="Calibri"/>
              </a:rPr>
              <a:t>6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A6478"/>
                </a:solidFill>
                <a:latin typeface="Calibri"/>
              </a:rPr>
              <a:t>Прогнозирование временных рядов · ВКР · Лазарев А.К.</a:t>
            </a:r>
          </a:p>
        </p:txBody>
      </p:sp>
      <p:pic>
        <p:nvPicPr>
          <p:cNvPr id="9" name="Picture 8" descr="bar_m4_daily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09757"/>
            <a:ext cx="7040880" cy="289568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09560" y="1828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F2A4E"/>
                </a:solidFill>
                <a:latin typeface="Calibri"/>
              </a:rPr>
              <a:t>Порог ≈ 50–100 наблюдений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2331720"/>
            <a:ext cx="36576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Короткие ряды 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— уверенное преимущество классики.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Длинные ежедневные ряды M4 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— нейросети конкурентоспособны.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TimesNet (3.62) 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вплотную к Auto-ARIMA (3.22) и ETS (3.46).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Prophet 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стоит особняком — слаб на недельной сезонности.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897880"/>
            <a:ext cx="38100" cy="38404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58978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E07A5F"/>
                </a:solidFill>
                <a:latin typeface="Calibri"/>
              </a:rPr>
              <a:t>Главное: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ниже порога длины лидирует классика, выше — нейросети выходят на её уровень.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2A4E"/>
                </a:solidFill>
                <a:latin typeface="Calibri"/>
              </a:rPr>
              <a:t>Предобучение — главный результат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15568"/>
            <a:ext cx="10881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374676"/>
                </a:solidFill>
                <a:latin typeface="Calibri"/>
              </a:rPr>
              <a:t>Раздел 3. Эффект переноса знаний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8D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0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8"/>
                </a:solidFill>
                <a:latin typeface="Calibri"/>
              </a:rPr>
              <a:t>7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A6478"/>
                </a:solidFill>
                <a:latin typeface="Calibri"/>
              </a:rPr>
              <a:t>Прогнозирование временных рядов · ВКР · Лазарев А.К.</a:t>
            </a:r>
          </a:p>
        </p:txBody>
      </p:sp>
      <p:pic>
        <p:nvPicPr>
          <p:cNvPr id="9" name="Picture 8" descr="pretrain_effect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01510"/>
            <a:ext cx="7315200" cy="22207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0" y="1783080"/>
            <a:ext cx="27432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E07A5F"/>
                </a:solidFill>
                <a:latin typeface="Calibri"/>
              </a:rPr>
              <a:t>+31.5%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56032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A6478"/>
                </a:solidFill>
                <a:latin typeface="Calibri"/>
              </a:rPr>
              <a:t>DLinear — наибольший выигрыш от предобучения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154680"/>
            <a:ext cx="27432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E07A5F"/>
                </a:solidFill>
                <a:latin typeface="Calibri"/>
              </a:rPr>
              <a:t>+25.5%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93192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A6478"/>
                </a:solidFill>
                <a:latin typeface="Calibri"/>
              </a:rPr>
              <a:t>Autoformer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526280"/>
            <a:ext cx="27432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E07A5F"/>
                </a:solidFill>
                <a:latin typeface="Calibri"/>
              </a:rPr>
              <a:t>+18.2%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530352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A6478"/>
                </a:solidFill>
                <a:latin typeface="Calibri"/>
              </a:rPr>
              <a:t>Helformer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897880"/>
            <a:ext cx="38100" cy="38404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58978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E07A5F"/>
                </a:solidFill>
                <a:latin typeface="Calibri"/>
              </a:rPr>
              <a:t>Главное: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предобучение на корпусе рядов превращает слабые в обычном режиме нейросети в сильные.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2A4E"/>
                </a:solidFill>
                <a:latin typeface="Calibri"/>
              </a:rPr>
              <a:t>Предобученные нейросети обходят классику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15568"/>
            <a:ext cx="10881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374676"/>
                </a:solidFill>
                <a:latin typeface="Calibri"/>
              </a:rPr>
              <a:t>Раздел 3. Превосходство на среднечастотных и длинных рядах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8D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0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8"/>
                </a:solidFill>
                <a:latin typeface="Calibri"/>
              </a:rPr>
              <a:t>8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A6478"/>
                </a:solidFill>
                <a:latin typeface="Calibri"/>
              </a:rPr>
              <a:t>Прогнозирование временных рядов · ВКР · Лазарев А.К.</a:t>
            </a:r>
          </a:p>
        </p:txBody>
      </p:sp>
      <p:pic>
        <p:nvPicPr>
          <p:cNvPr id="9" name="Picture 8" descr="cherry_pretrained_D21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26376"/>
            <a:ext cx="7040880" cy="297100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09560" y="1828800"/>
            <a:ext cx="36576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M3 monthly: 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предобученный TimesNet (13.68) точнее ETS (17.42).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M4 daily: 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предобученный PatchTST (2.36) обходит Auto-ARIMA (3.22) и ETS (3.46).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На графике 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цветные линии предобученных нейросетей идут плотно к чёрной фактической линии, пунктир классики — дальше.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897880"/>
            <a:ext cx="38100" cy="38404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8978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E07A5F"/>
                </a:solidFill>
                <a:latin typeface="Calibri"/>
              </a:rPr>
              <a:t>Главное: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при достатке данных предобученные нейросети не догоняют, а превосходят лучшую классику.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2A4E"/>
                </a:solidFill>
                <a:latin typeface="Calibri"/>
              </a:rPr>
              <a:t>Предобученные нейросети vs классические модели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15568"/>
            <a:ext cx="10881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374676"/>
                </a:solidFill>
                <a:latin typeface="Calibri"/>
              </a:rPr>
              <a:t>Раздел 3. Сравнение sMAPE по шести частотным категориям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8D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0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8"/>
                </a:solidFill>
                <a:latin typeface="Calibri"/>
              </a:rPr>
              <a:t>9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A6478"/>
                </a:solidFill>
                <a:latin typeface="Calibri"/>
              </a:rPr>
              <a:t>Прогнозирование временных рядов · ВКР · Лазарев А.К.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45920"/>
          <a:ext cx="10789920" cy="274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1097280"/>
                <a:gridCol w="1097280"/>
                <a:gridCol w="1097280"/>
                <a:gridCol w="1097280"/>
                <a:gridCol w="1097280"/>
                <a:gridCol w="1097280"/>
                <a:gridCol w="1097280"/>
              </a:tblGrid>
              <a:tr h="24938">
                <a:tc>
                  <a:txBody>
                    <a:bodyPr wrap="none"/>
                    <a:lstStyle/>
                    <a:p>
                      <a:pPr algn="l"/>
                      <a:r>
                        <a:rPr b="1" sz="1250">
                          <a:solidFill>
                            <a:srgbClr val="FFFFFF"/>
                          </a:solidFill>
                          <a:latin typeface="Calibri"/>
                        </a:rPr>
                        <a:t>Модель</a:t>
                      </a:r>
                    </a:p>
                  </a:txBody>
                  <a:tcPr marL="50800" marR="50800" marT="25400" marB="25400" anchor="ctr">
                    <a:solidFill>
                      <a:srgbClr val="1F2A4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Calibri"/>
                        </a:rPr>
                        <a:t>M3-Y</a:t>
                      </a:r>
                    </a:p>
                  </a:txBody>
                  <a:tcPr marL="50800" marR="50800" marT="25400" marB="25400" anchor="ctr">
                    <a:solidFill>
                      <a:srgbClr val="1F2A4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Calibri"/>
                        </a:rPr>
                        <a:t>M3-Q</a:t>
                      </a:r>
                    </a:p>
                  </a:txBody>
                  <a:tcPr marL="50800" marR="50800" marT="25400" marB="25400" anchor="ctr">
                    <a:solidFill>
                      <a:srgbClr val="1F2A4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Calibri"/>
                        </a:rPr>
                        <a:t>M3-M</a:t>
                      </a:r>
                    </a:p>
                  </a:txBody>
                  <a:tcPr marL="50800" marR="50800" marT="25400" marB="25400" anchor="ctr">
                    <a:solidFill>
                      <a:srgbClr val="1F2A4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Calibri"/>
                        </a:rPr>
                        <a:t>M4-Q</a:t>
                      </a:r>
                    </a:p>
                  </a:txBody>
                  <a:tcPr marL="50800" marR="50800" marT="25400" marB="25400" anchor="ctr">
                    <a:solidFill>
                      <a:srgbClr val="1F2A4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Calibri"/>
                        </a:rPr>
                        <a:t>M4-M</a:t>
                      </a:r>
                    </a:p>
                  </a:txBody>
                  <a:tcPr marL="50800" marR="50800" marT="25400" marB="25400" anchor="ctr">
                    <a:solidFill>
                      <a:srgbClr val="1F2A4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Calibri"/>
                        </a:rPr>
                        <a:t>M4-D</a:t>
                      </a:r>
                    </a:p>
                  </a:txBody>
                  <a:tcPr marL="50800" marR="50800" marT="25400" marB="25400" anchor="ctr">
                    <a:solidFill>
                      <a:srgbClr val="1F2A4E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Calibri"/>
                        </a:rPr>
                        <a:t>Ср.</a:t>
                      </a:r>
                    </a:p>
                  </a:txBody>
                  <a:tcPr marL="50800" marR="50800" marT="25400" marB="25400" anchor="ctr">
                    <a:solidFill>
                      <a:srgbClr val="1F2A4E"/>
                    </a:solidFill>
                  </a:tcPr>
                </a:tc>
              </a:tr>
              <a:tr h="24938">
                <a:tc>
                  <a:txBody>
                    <a:bodyPr wrap="none"/>
                    <a:lstStyle/>
                    <a:p>
                      <a:pPr algn="l"/>
                      <a:r>
                        <a:rPr b="1" i="1" sz="1200">
                          <a:solidFill>
                            <a:srgbClr val="1F2A4E"/>
                          </a:solidFill>
                          <a:latin typeface="Calibri"/>
                        </a:rPr>
                        <a:t>Классические модели (per-series)</a:t>
                      </a:r>
                    </a:p>
                  </a:txBody>
                  <a:tcPr marL="50800" marR="50800" marT="25400" marB="25400" anchor="ctr">
                    <a:solidFill>
                      <a:srgbClr val="F3F5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i="1" sz="1200">
                          <a:solidFill>
                            <a:srgbClr val="1F2A4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0800" marR="50800" marT="25400" marB="25400" anchor="ctr">
                    <a:solidFill>
                      <a:srgbClr val="F3F5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i="1" sz="1200">
                          <a:solidFill>
                            <a:srgbClr val="1F2A4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0800" marR="50800" marT="25400" marB="25400" anchor="ctr">
                    <a:solidFill>
                      <a:srgbClr val="F3F5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i="1" sz="1200">
                          <a:solidFill>
                            <a:srgbClr val="1F2A4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0800" marR="50800" marT="25400" marB="25400" anchor="ctr">
                    <a:solidFill>
                      <a:srgbClr val="F3F5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i="1" sz="1200">
                          <a:solidFill>
                            <a:srgbClr val="1F2A4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0800" marR="50800" marT="25400" marB="25400" anchor="ctr">
                    <a:solidFill>
                      <a:srgbClr val="F3F5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i="1" sz="1200">
                          <a:solidFill>
                            <a:srgbClr val="1F2A4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0800" marR="50800" marT="25400" marB="25400" anchor="ctr">
                    <a:solidFill>
                      <a:srgbClr val="F3F5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i="1" sz="1200">
                          <a:solidFill>
                            <a:srgbClr val="1F2A4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0800" marR="50800" marT="25400" marB="25400" anchor="ctr">
                    <a:solidFill>
                      <a:srgbClr val="F3F5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i="1" sz="1200">
                          <a:solidFill>
                            <a:srgbClr val="1F2A4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0800" marR="50800" marT="25400" marB="25400" anchor="ctr">
                    <a:solidFill>
                      <a:srgbClr val="F3F5FA"/>
                    </a:solidFill>
                  </a:tcPr>
                </a:tc>
              </a:tr>
              <a:tr h="24938">
                <a:tc>
                  <a:txBody>
                    <a:bodyPr wrap="none"/>
                    <a:lstStyle/>
                    <a:p>
                      <a:pPr algn="l"/>
                      <a:r>
                        <a:rPr sz="1250" b="1">
                          <a:solidFill>
                            <a:srgbClr val="5A6478"/>
                          </a:solidFill>
                          <a:latin typeface="Calibri"/>
                        </a:rPr>
                        <a:t>Auto-ARIMA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5A6478"/>
                          </a:solidFill>
                          <a:latin typeface="Calibri"/>
                        </a:rPr>
                        <a:t>17.9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5A6478"/>
                          </a:solidFill>
                          <a:latin typeface="Calibri"/>
                        </a:rPr>
                        <a:t>10.9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5A6478"/>
                          </a:solidFill>
                          <a:latin typeface="Calibri"/>
                        </a:rPr>
                        <a:t>18.1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5A6478"/>
                          </a:solidFill>
                          <a:latin typeface="Calibri"/>
                        </a:rPr>
                        <a:t>10.2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5A6478"/>
                          </a:solidFill>
                          <a:latin typeface="Calibri"/>
                        </a:rPr>
                        <a:t>14.7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5A6478"/>
                          </a:solidFill>
                          <a:latin typeface="Calibri"/>
                        </a:rPr>
                        <a:t>3.22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5A6478"/>
                          </a:solidFill>
                          <a:latin typeface="Calibri"/>
                        </a:rPr>
                        <a:t>12.5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</a:tr>
              <a:tr h="24938">
                <a:tc>
                  <a:txBody>
                    <a:bodyPr wrap="none"/>
                    <a:lstStyle/>
                    <a:p>
                      <a:pPr algn="l"/>
                      <a:r>
                        <a:rPr sz="1250" b="1">
                          <a:solidFill>
                            <a:srgbClr val="5A6478"/>
                          </a:solidFill>
                          <a:latin typeface="Calibri"/>
                        </a:rPr>
                        <a:t>ETS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5A6478"/>
                          </a:solidFill>
                          <a:latin typeface="Calibri"/>
                        </a:rPr>
                        <a:t>19.1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5A6478"/>
                          </a:solidFill>
                          <a:latin typeface="Calibri"/>
                        </a:rPr>
                        <a:t>10.8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5A6478"/>
                          </a:solidFill>
                          <a:latin typeface="Calibri"/>
                        </a:rPr>
                        <a:t>17.4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5A6478"/>
                          </a:solidFill>
                          <a:latin typeface="Calibri"/>
                        </a:rPr>
                        <a:t>9.7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5A6478"/>
                          </a:solidFill>
                          <a:latin typeface="Calibri"/>
                        </a:rPr>
                        <a:t>15.1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5A6478"/>
                          </a:solidFill>
                          <a:latin typeface="Calibri"/>
                        </a:rPr>
                        <a:t>3.46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5A6478"/>
                          </a:solidFill>
                          <a:latin typeface="Calibri"/>
                        </a:rPr>
                        <a:t>12.6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4938">
                <a:tc>
                  <a:txBody>
                    <a:bodyPr wrap="none"/>
                    <a:lstStyle/>
                    <a:p>
                      <a:pPr algn="l"/>
                      <a:r>
                        <a:rPr sz="1250" b="1">
                          <a:solidFill>
                            <a:srgbClr val="5A6478"/>
                          </a:solidFill>
                          <a:latin typeface="Calibri"/>
                        </a:rPr>
                        <a:t>Seasonal Naive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5A6478"/>
                          </a:solidFill>
                          <a:latin typeface="Calibri"/>
                        </a:rPr>
                        <a:t>17.9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5A6478"/>
                          </a:solidFill>
                          <a:latin typeface="Calibri"/>
                        </a:rPr>
                        <a:t>11.1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5A6478"/>
                          </a:solidFill>
                          <a:latin typeface="Calibri"/>
                        </a:rPr>
                        <a:t>17.2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5A6478"/>
                          </a:solidFill>
                          <a:latin typeface="Calibri"/>
                        </a:rPr>
                        <a:t>12.2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5A6478"/>
                          </a:solidFill>
                          <a:latin typeface="Calibri"/>
                        </a:rPr>
                        <a:t>15.9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5A6478"/>
                          </a:solidFill>
                          <a:latin typeface="Calibri"/>
                        </a:rPr>
                        <a:t>4.05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5A6478"/>
                          </a:solidFill>
                          <a:latin typeface="Calibri"/>
                        </a:rPr>
                        <a:t>13.0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</a:tr>
              <a:tr h="24938">
                <a:tc>
                  <a:txBody>
                    <a:bodyPr wrap="none"/>
                    <a:lstStyle/>
                    <a:p>
                      <a:pPr algn="l"/>
                      <a:r>
                        <a:rPr b="1" i="1" sz="1200">
                          <a:solidFill>
                            <a:srgbClr val="1F2A4E"/>
                          </a:solidFill>
                          <a:latin typeface="Calibri"/>
                        </a:rPr>
                        <a:t>Нейросетевые модели (с предобучением)</a:t>
                      </a:r>
                    </a:p>
                  </a:txBody>
                  <a:tcPr marL="50800" marR="50800" marT="25400" marB="25400" anchor="ctr">
                    <a:solidFill>
                      <a:srgbClr val="F3F5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i="1" sz="1200">
                          <a:solidFill>
                            <a:srgbClr val="1F2A4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0800" marR="50800" marT="25400" marB="25400" anchor="ctr">
                    <a:solidFill>
                      <a:srgbClr val="F3F5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i="1" sz="1200">
                          <a:solidFill>
                            <a:srgbClr val="1F2A4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0800" marR="50800" marT="25400" marB="25400" anchor="ctr">
                    <a:solidFill>
                      <a:srgbClr val="F3F5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i="1" sz="1200">
                          <a:solidFill>
                            <a:srgbClr val="1F2A4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0800" marR="50800" marT="25400" marB="25400" anchor="ctr">
                    <a:solidFill>
                      <a:srgbClr val="F3F5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i="1" sz="1200">
                          <a:solidFill>
                            <a:srgbClr val="1F2A4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0800" marR="50800" marT="25400" marB="25400" anchor="ctr">
                    <a:solidFill>
                      <a:srgbClr val="F3F5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i="1" sz="1200">
                          <a:solidFill>
                            <a:srgbClr val="1F2A4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0800" marR="50800" marT="25400" marB="25400" anchor="ctr">
                    <a:solidFill>
                      <a:srgbClr val="F3F5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i="1" sz="1200">
                          <a:solidFill>
                            <a:srgbClr val="1F2A4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0800" marR="50800" marT="25400" marB="25400" anchor="ctr">
                    <a:solidFill>
                      <a:srgbClr val="F3F5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b="1" i="1" sz="1200">
                          <a:solidFill>
                            <a:srgbClr val="1F2A4E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0800" marR="50800" marT="25400" marB="25400" anchor="ctr">
                    <a:solidFill>
                      <a:srgbClr val="F3F5FA"/>
                    </a:solidFill>
                  </a:tcPr>
                </a:tc>
              </a:tr>
              <a:tr h="24938">
                <a:tc>
                  <a:txBody>
                    <a:bodyPr wrap="none"/>
                    <a:lstStyle/>
                    <a:p>
                      <a:pPr algn="l"/>
                      <a:r>
                        <a:rPr sz="1250" b="1">
                          <a:solidFill>
                            <a:srgbClr val="2B2B2B"/>
                          </a:solidFill>
                          <a:latin typeface="Calibri"/>
                        </a:rPr>
                        <a:t>DLinear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2B2B2B"/>
                          </a:solidFill>
                          <a:latin typeface="Calibri"/>
                        </a:rPr>
                        <a:t>23.7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2B2B2B"/>
                          </a:solidFill>
                          <a:latin typeface="Calibri"/>
                        </a:rPr>
                        <a:t>12.7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2B2B2B"/>
                          </a:solidFill>
                          <a:latin typeface="Calibri"/>
                        </a:rPr>
                        <a:t>14.0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2B2B2B"/>
                          </a:solidFill>
                          <a:latin typeface="Calibri"/>
                        </a:rPr>
                        <a:t>15.4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2B2B2B"/>
                          </a:solidFill>
                          <a:latin typeface="Calibri"/>
                        </a:rPr>
                        <a:t>17.2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2B2B2B"/>
                          </a:solidFill>
                          <a:latin typeface="Calibri"/>
                        </a:rPr>
                        <a:t>2.44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2B2B2B"/>
                          </a:solidFill>
                          <a:latin typeface="Calibri"/>
                        </a:rPr>
                        <a:t>14.2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</a:tr>
              <a:tr h="24938">
                <a:tc>
                  <a:txBody>
                    <a:bodyPr wrap="none"/>
                    <a:lstStyle/>
                    <a:p>
                      <a:pPr algn="l"/>
                      <a:r>
                        <a:rPr sz="1250" b="1">
                          <a:solidFill>
                            <a:srgbClr val="2B2B2B"/>
                          </a:solidFill>
                          <a:latin typeface="Calibri"/>
                        </a:rPr>
                        <a:t>TimesNet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2B2B2B"/>
                          </a:solidFill>
                          <a:latin typeface="Calibri"/>
                        </a:rPr>
                        <a:t>25.1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2B2B2B"/>
                          </a:solidFill>
                          <a:latin typeface="Calibri"/>
                        </a:rPr>
                        <a:t>12.4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2B2B2B"/>
                          </a:solidFill>
                          <a:latin typeface="Calibri"/>
                        </a:rPr>
                        <a:t>13.7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2B2B2B"/>
                          </a:solidFill>
                          <a:latin typeface="Calibri"/>
                        </a:rPr>
                        <a:t>22.5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2B2B2B"/>
                          </a:solidFill>
                          <a:latin typeface="Calibri"/>
                        </a:rPr>
                        <a:t>17.2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2B2B2B"/>
                          </a:solidFill>
                          <a:latin typeface="Calibri"/>
                        </a:rPr>
                        <a:t>2.46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2B2B2B"/>
                          </a:solidFill>
                          <a:latin typeface="Calibri"/>
                        </a:rPr>
                        <a:t>15.6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4938">
                <a:tc>
                  <a:txBody>
                    <a:bodyPr wrap="none"/>
                    <a:lstStyle/>
                    <a:p>
                      <a:pPr algn="l"/>
                      <a:r>
                        <a:rPr sz="1250" b="1">
                          <a:solidFill>
                            <a:srgbClr val="2B2B2B"/>
                          </a:solidFill>
                          <a:latin typeface="Calibri"/>
                        </a:rPr>
                        <a:t>PatchTST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2B2B2B"/>
                          </a:solidFill>
                          <a:latin typeface="Calibri"/>
                        </a:rPr>
                        <a:t>23.1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2B2B2B"/>
                          </a:solidFill>
                          <a:latin typeface="Calibri"/>
                        </a:rPr>
                        <a:t>15.1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2B2B2B"/>
                          </a:solidFill>
                          <a:latin typeface="Calibri"/>
                        </a:rPr>
                        <a:t>15.2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2B2B2B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2B2B2B"/>
                          </a:solidFill>
                          <a:latin typeface="Calibri"/>
                        </a:rPr>
                        <a:t>17.5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2B2B2B"/>
                          </a:solidFill>
                          <a:latin typeface="Calibri"/>
                        </a:rPr>
                        <a:t>2.36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2B2B2B"/>
                          </a:solidFill>
                          <a:latin typeface="Calibri"/>
                        </a:rPr>
                        <a:t>15.5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</a:tr>
              <a:tr h="24938">
                <a:tc>
                  <a:txBody>
                    <a:bodyPr wrap="none"/>
                    <a:lstStyle/>
                    <a:p>
                      <a:pPr algn="l"/>
                      <a:r>
                        <a:rPr sz="1250" b="1">
                          <a:solidFill>
                            <a:srgbClr val="2B2B2B"/>
                          </a:solidFill>
                          <a:latin typeface="Calibri"/>
                        </a:rPr>
                        <a:t>Autoformer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2B2B2B"/>
                          </a:solidFill>
                          <a:latin typeface="Calibri"/>
                        </a:rPr>
                        <a:t>23.4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2B2B2B"/>
                          </a:solidFill>
                          <a:latin typeface="Calibri"/>
                        </a:rPr>
                        <a:t>13.8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2B2B2B"/>
                          </a:solidFill>
                          <a:latin typeface="Calibri"/>
                        </a:rPr>
                        <a:t>15.1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2B2B2B"/>
                          </a:solidFill>
                          <a:latin typeface="Calibri"/>
                        </a:rPr>
                        <a:t>20.1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2B2B2B"/>
                          </a:solidFill>
                          <a:latin typeface="Calibri"/>
                        </a:rPr>
                        <a:t>16.3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2B2B2B"/>
                          </a:solidFill>
                          <a:latin typeface="Calibri"/>
                        </a:rPr>
                        <a:t>2.81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2B2B2B"/>
                          </a:solidFill>
                          <a:latin typeface="Calibri"/>
                        </a:rPr>
                        <a:t>15.3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4940">
                <a:tc>
                  <a:txBody>
                    <a:bodyPr wrap="none"/>
                    <a:lstStyle/>
                    <a:p>
                      <a:pPr algn="l"/>
                      <a:r>
                        <a:rPr sz="1250" b="1">
                          <a:solidFill>
                            <a:srgbClr val="2B2B2B"/>
                          </a:solidFill>
                          <a:latin typeface="Calibri"/>
                        </a:rPr>
                        <a:t>FEDformer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2B2B2B"/>
                          </a:solidFill>
                          <a:latin typeface="Calibri"/>
                        </a:rPr>
                        <a:t>22.8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2B2B2B"/>
                          </a:solidFill>
                          <a:latin typeface="Calibri"/>
                        </a:rPr>
                        <a:t>15.8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2B2B2B"/>
                          </a:solidFill>
                          <a:latin typeface="Calibri"/>
                        </a:rPr>
                        <a:t>16.3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2B2B2B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2B2B2B"/>
                          </a:solidFill>
                          <a:latin typeface="Calibri"/>
                        </a:rPr>
                        <a:t>15.6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2B2B2B"/>
                          </a:solidFill>
                          <a:latin typeface="Calibri"/>
                        </a:rPr>
                        <a:t>4.16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>
                          <a:solidFill>
                            <a:srgbClr val="2B2B2B"/>
                          </a:solidFill>
                          <a:latin typeface="Calibri"/>
                        </a:rPr>
                        <a:t>15.7</a:t>
                      </a:r>
                    </a:p>
                  </a:txBody>
                  <a:tcPr marL="50800" marR="50800" marT="25400" marB="25400" anchor="ctr">
                    <a:solidFill>
                      <a:srgbClr val="F8F9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5806440"/>
            <a:ext cx="38100" cy="38404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58064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E07A5F"/>
                </a:solidFill>
                <a:latin typeface="Calibri"/>
              </a:rPr>
              <a:t>Главное: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на M3 monthly и M4 daily предобученные нейросети уверенно точнее лучшей классики; на коротких рядах классика впереди.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2A4E"/>
                </a:solidFill>
                <a:latin typeface="Calibri"/>
              </a:rPr>
              <a:t>Анализ отдельных рядов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15568"/>
            <a:ext cx="10881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374676"/>
                </a:solidFill>
                <a:latin typeface="Calibri"/>
              </a:rPr>
              <a:t>Раздел 3. Преимущество нейросетей носит массовый характер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8D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0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8"/>
                </a:solidFill>
                <a:latin typeface="Calibri"/>
              </a:rPr>
              <a:t>10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A6478"/>
                </a:solidFill>
                <a:latin typeface="Calibri"/>
              </a:rPr>
              <a:t>Прогнозирование временных рядов · ВКР · Лазарев А.К.</a:t>
            </a:r>
          </a:p>
        </p:txBody>
      </p:sp>
      <p:pic>
        <p:nvPicPr>
          <p:cNvPr id="9" name="Picture 8" descr="cherry_D20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49207"/>
            <a:ext cx="7406640" cy="312534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80" y="1783080"/>
            <a:ext cx="27432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E07A5F"/>
                </a:solidFill>
                <a:latin typeface="Calibri"/>
              </a:rPr>
              <a:t>517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56032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A6478"/>
                </a:solidFill>
                <a:latin typeface="Calibri"/>
              </a:rPr>
              <a:t>из 1000 ежедневных рядов
нейросеть точнее классики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429000"/>
            <a:ext cx="27432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E07A5F"/>
                </a:solidFill>
                <a:latin typeface="Calibri"/>
              </a:rPr>
              <a:t>295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420624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A6478"/>
                </a:solidFill>
                <a:latin typeface="Calibri"/>
              </a:rPr>
              <a:t>рядов, где побеждают
3+ нейросетевых модели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897880"/>
            <a:ext cx="38100" cy="38404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58978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E07A5F"/>
                </a:solidFill>
                <a:latin typeface="Calibri"/>
              </a:rPr>
              <a:t>Главное: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нейросети выигрывают не точечно, а на большинстве длинных ежедневных рядов M4.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2A4E"/>
                </a:solidFill>
                <a:latin typeface="Calibri"/>
              </a:rPr>
              <a:t>Итеративное прогнозирование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15568"/>
            <a:ext cx="10881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374676"/>
                </a:solidFill>
                <a:latin typeface="Calibri"/>
              </a:rPr>
              <a:t>Раздел 3. Хрупкость обучаемой декомпозиции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8D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0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8"/>
                </a:solidFill>
                <a:latin typeface="Calibri"/>
              </a:rPr>
              <a:t>11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A6478"/>
                </a:solidFill>
                <a:latin typeface="Calibri"/>
              </a:rPr>
              <a:t>Прогнозирование временных рядов · ВКР · Лазарев А.К.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20240"/>
            <a:ext cx="67665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500"/>
              </a:spcAft>
            </a:pPr>
            <a:r>
              <a:rPr sz="17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2B2B2B"/>
                </a:solidFill>
                <a:latin typeface="Calibri"/>
              </a:rPr>
              <a:t>При накоплении ошибки </a:t>
            </a:r>
            <a:r>
              <a:rPr sz="1700" b="0" i="0">
                <a:solidFill>
                  <a:srgbClr val="2B2B2B"/>
                </a:solidFill>
                <a:latin typeface="Calibri"/>
              </a:rPr>
              <a:t>сильнее всего деградируют модели с обучаемой декомпозицией.</a:t>
            </a:r>
          </a:p>
          <a:p>
            <a:pPr algn="l">
              <a:lnSpc>
                <a:spcPct val="112000"/>
              </a:lnSpc>
              <a:spcAft>
                <a:spcPts val="1500"/>
              </a:spcAft>
            </a:pPr>
            <a:r>
              <a:rPr sz="17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2B2B2B"/>
                </a:solidFill>
                <a:latin typeface="Calibri"/>
              </a:rPr>
              <a:t>FEDformer и TimesNet </a:t>
            </a:r>
            <a:r>
              <a:rPr sz="1700" b="0" i="0">
                <a:solidFill>
                  <a:srgbClr val="2B2B2B"/>
                </a:solidFill>
                <a:latin typeface="Calibri"/>
              </a:rPr>
              <a:t>теряют около +5 п.п. sMAPE при переходе к итеративному режиму.</a:t>
            </a:r>
          </a:p>
          <a:p>
            <a:pPr algn="l">
              <a:lnSpc>
                <a:spcPct val="112000"/>
              </a:lnSpc>
              <a:spcAft>
                <a:spcPts val="1500"/>
              </a:spcAft>
            </a:pPr>
            <a:r>
              <a:rPr sz="17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2B2B2B"/>
                </a:solidFill>
                <a:latin typeface="Calibri"/>
              </a:rPr>
              <a:t>PatchTST </a:t>
            </a:r>
            <a:r>
              <a:rPr sz="1700" b="0" i="0">
                <a:solidFill>
                  <a:srgbClr val="2B2B2B"/>
                </a:solidFill>
                <a:latin typeface="Calibri"/>
              </a:rPr>
              <a:t>(без явной декомпозиции) — наиболее устойчивый трансформер.</a:t>
            </a:r>
          </a:p>
          <a:p>
            <a:pPr algn="l">
              <a:lnSpc>
                <a:spcPct val="112000"/>
              </a:lnSpc>
              <a:spcAft>
                <a:spcPts val="1500"/>
              </a:spcAft>
            </a:pPr>
            <a:r>
              <a:rPr sz="17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2B2B2B"/>
                </a:solidFill>
                <a:latin typeface="Calibri"/>
              </a:rPr>
              <a:t>Классические модели </a:t>
            </a:r>
            <a:r>
              <a:rPr sz="1700" b="0" i="0">
                <a:solidFill>
                  <a:srgbClr val="2B2B2B"/>
                </a:solidFill>
                <a:latin typeface="Calibri"/>
              </a:rPr>
              <a:t>(ETS, Auto-ARIMA) практически нечувствительны к режиму.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2103120"/>
            <a:ext cx="38100" cy="310896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103120"/>
            <a:ext cx="35661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E07A5F"/>
                </a:solidFill>
                <a:latin typeface="Calibri"/>
              </a:rPr>
              <a:t>Вывод: </a:t>
            </a:r>
            <a:r>
              <a:rPr sz="1700" b="0" i="0">
                <a:solidFill>
                  <a:srgbClr val="2B2B2B"/>
                </a:solidFill>
                <a:latin typeface="Calibri"/>
              </a:rPr>
              <a:t>сложная обучаемая декомпозиция — это риск при многошаговом прогнозе. Простые и классические модели предпочтительнее, если нужен итеративный режим.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2A4E"/>
                </a:solidFill>
                <a:latin typeface="Calibri"/>
              </a:rPr>
              <a:t>Выводы и практические рекомендации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15568"/>
            <a:ext cx="10881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374676"/>
                </a:solidFill>
                <a:latin typeface="Calibri"/>
              </a:rPr>
              <a:t>Раздел 4. Основные результаты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8D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0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8"/>
                </a:solidFill>
                <a:latin typeface="Calibri"/>
              </a:rPr>
              <a:t>12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A6478"/>
                </a:solidFill>
                <a:latin typeface="Calibri"/>
              </a:rPr>
              <a:t>Прогнозирование временных рядов · ВКР · Лазарев А.К.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6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2B2B2B"/>
                </a:solidFill>
                <a:latin typeface="Calibri"/>
              </a:rPr>
              <a:t>Длина ряда решает. </a:t>
            </a:r>
            <a:r>
              <a:rPr sz="1650" b="0" i="0">
                <a:solidFill>
                  <a:srgbClr val="2B2B2B"/>
                </a:solidFill>
                <a:latin typeface="Calibri"/>
              </a:rPr>
              <a:t>Ниже ≈ 50–100 наблюдений лидирует классика (ETS, Auto-ARIMA); выше — нейросети конкурентоспособны.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6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2B2B2B"/>
                </a:solidFill>
                <a:latin typeface="Calibri"/>
              </a:rPr>
              <a:t>TimesNet — лучшая нейросеть </a:t>
            </a:r>
            <a:r>
              <a:rPr sz="1650" b="0" i="0">
                <a:solidFill>
                  <a:srgbClr val="2B2B2B"/>
                </a:solidFill>
                <a:latin typeface="Calibri"/>
              </a:rPr>
              <a:t>в per-series режиме; обучаемая 2D-декомпозиция эффективна при достатке данных.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6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2B2B2B"/>
                </a:solidFill>
                <a:latin typeface="Calibri"/>
              </a:rPr>
              <a:t>Предобучение кардинально усиливает нейросети </a:t>
            </a:r>
            <a:r>
              <a:rPr sz="1650" b="0" i="0">
                <a:solidFill>
                  <a:srgbClr val="2B2B2B"/>
                </a:solidFill>
                <a:latin typeface="Calibri"/>
              </a:rPr>
              <a:t>(+18…32 %) и выводит их на уровень и выше классики (M3 monthly, M4 daily).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6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2B2B2B"/>
                </a:solidFill>
                <a:latin typeface="Calibri"/>
              </a:rPr>
              <a:t>Тип декомпозиции должен соответствовать режиму: </a:t>
            </a:r>
            <a:r>
              <a:rPr sz="1650" b="0" i="0">
                <a:solidFill>
                  <a:srgbClr val="2B2B2B"/>
                </a:solidFill>
                <a:latin typeface="Calibri"/>
              </a:rPr>
              <a:t>фиксированная — устойчивее, обучаемая — адаптивнее, но хрупка при итеративном прогнозе.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6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2B2B2B"/>
                </a:solidFill>
                <a:latin typeface="Calibri"/>
              </a:rPr>
              <a:t>Ответ не бинарный: </a:t>
            </a:r>
            <a:r>
              <a:rPr sz="1650" b="0" i="0">
                <a:solidFill>
                  <a:srgbClr val="2B2B2B"/>
                </a:solidFill>
                <a:latin typeface="Calibri"/>
              </a:rPr>
              <a:t>эффективность нейросетевых механизмов зависит от длины ряда, режима обучения и объёма данных.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31920"/>
            <a:ext cx="12191695" cy="254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Спасибо за внимание!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B9C3DE"/>
                </a:solidFill>
                <a:latin typeface="Calibri"/>
              </a:rPr>
              <a:t>Прогнозирование временных рядов за счёт обучаемой декомпозиции и нейросетевых механизмов учёта долгосрочных зависимостей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Лазарев А.К. · КМБО-03-22 · Научный руководитель Петрусевич Д.А.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