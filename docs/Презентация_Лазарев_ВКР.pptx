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4224528"/>
            <a:ext cx="4023360" cy="3175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03504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FFFFFF"/>
                </a:solidFill>
                <a:latin typeface="Calibri"/>
              </a:rPr>
              <a:t>МИРЭА — Российский технологический университет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950976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B7C2DE"/>
                </a:solidFill>
                <a:latin typeface="Calibri"/>
              </a:rPr>
              <a:t>Институт искусственного интеллекта · Кафедра высшей математики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78308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07A5F"/>
                </a:solidFill>
                <a:latin typeface="Calibri"/>
              </a:rPr>
              <a:t>ВЫПУСКНАЯ КВАЛИФИКАЦИОННАЯ РАБОТА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286000"/>
            <a:ext cx="106984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Прогнозирование временных рядов за счёт</a:t>
            </a:r>
          </a:p>
          <a:p>
            <a:pPr algn="l">
              <a:lnSpc>
                <a:spcPct val="106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обучаемой декомпозиции и нейросетевых механизмов</a:t>
            </a:r>
          </a:p>
          <a:p>
            <a:pPr algn="l">
              <a:lnSpc>
                <a:spcPct val="106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учёта долгосрочных зависимостей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526280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B7C2DE"/>
                </a:solidFill>
                <a:latin typeface="Calibri"/>
              </a:rPr>
              <a:t>Выполнил: </a:t>
            </a:r>
            <a:r>
              <a:rPr sz="1500" b="1" i="0">
                <a:solidFill>
                  <a:srgbClr val="FFFFFF"/>
                </a:solidFill>
                <a:latin typeface="Calibri"/>
              </a:rPr>
              <a:t>студент группы КМБО-03-22 — Лазарев А.К.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956048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B7C2DE"/>
                </a:solidFill>
                <a:latin typeface="Calibri"/>
              </a:rPr>
              <a:t>Научный руководитель: </a:t>
            </a:r>
            <a:r>
              <a:rPr sz="1500" b="1" i="0">
                <a:solidFill>
                  <a:srgbClr val="FFFFFF"/>
                </a:solidFill>
                <a:latin typeface="Calibri"/>
              </a:rPr>
              <a:t>к.ф.-м.н., доцент кафедры ВМ — Петрусевич Д.А.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98932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B7C2DE"/>
                </a:solidFill>
                <a:latin typeface="Calibri"/>
              </a:rPr>
              <a:t>Москва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5024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35024"/>
            <a:ext cx="12191695" cy="3810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96926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Актуальность и цель исследования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05256"/>
            <a:ext cx="9509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B7C2DE"/>
                </a:solidFill>
                <a:latin typeface="Calibri"/>
              </a:rPr>
              <a:t>Раздел 1. Постановка задачи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771632" y="384048"/>
            <a:ext cx="1024128" cy="457200"/>
          </a:xfrm>
          <a:prstGeom prst="roundRect">
            <a:avLst/>
          </a:prstGeom>
          <a:solidFill>
            <a:srgbClr val="2E3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71632" y="475488"/>
            <a:ext cx="102412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02 / 22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37376"/>
            <a:ext cx="10908792" cy="9525"/>
          </a:xfrm>
          <a:prstGeom prst="rect">
            <a:avLst/>
          </a:prstGeom>
          <a:solidFill>
            <a:srgbClr val="D7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66E82"/>
                </a:solidFill>
                <a:latin typeface="Calibri"/>
              </a:rPr>
              <a:t>Прогнозирование временных рядов · ВКР · Лазарев А.К. ·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1627632"/>
            <a:ext cx="5532120" cy="3977639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1627632"/>
            <a:ext cx="50800" cy="3977639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1773936"/>
            <a:ext cx="5166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B2649"/>
                </a:solidFill>
                <a:latin typeface="Calibri"/>
              </a:rPr>
              <a:t>Проблематика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2212848"/>
            <a:ext cx="5074920" cy="32644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5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500" b="1" i="0">
                <a:solidFill>
                  <a:srgbClr val="292E3A"/>
                </a:solidFill>
                <a:latin typeface="Calibri"/>
              </a:rPr>
              <a:t>Прикладная значимость. </a:t>
            </a:r>
            <a:r>
              <a:rPr sz="1500" b="0" i="0">
                <a:solidFill>
                  <a:srgbClr val="292E3A"/>
                </a:solidFill>
                <a:latin typeface="Calibri"/>
              </a:rPr>
              <a:t>Краткосрочный прогноз — основа планирования спроса, трафика, нагрузки и ресурсов.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5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500" b="1" i="0">
                <a:solidFill>
                  <a:srgbClr val="292E3A"/>
                </a:solidFill>
                <a:latin typeface="Calibri"/>
              </a:rPr>
              <a:t>Нет универсальной модели. </a:t>
            </a:r>
            <a:r>
              <a:rPr sz="1500" b="0" i="0">
                <a:solidFill>
                  <a:srgbClr val="292E3A"/>
                </a:solidFill>
                <a:latin typeface="Calibri"/>
              </a:rPr>
              <a:t>Классика устойчива на коротких рядах, нейросети — на длинных и сложных.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5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500" b="1" i="0">
                <a:solidFill>
                  <a:srgbClr val="292E3A"/>
                </a:solidFill>
                <a:latin typeface="Calibri"/>
              </a:rPr>
              <a:t>Открытый вопрос. </a:t>
            </a:r>
            <a:r>
              <a:rPr sz="1500" b="0" i="0">
                <a:solidFill>
                  <a:srgbClr val="292E3A"/>
                </a:solidFill>
                <a:latin typeface="Calibri"/>
              </a:rPr>
              <a:t>Оправдывают ли обучаемая декомпозиция и механизмы долгосрочных зависимостей свою сложность?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1627632"/>
            <a:ext cx="5148072" cy="3977639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1627632"/>
            <a:ext cx="50800" cy="3977639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0" y="182880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07A5F"/>
                </a:solidFill>
                <a:latin typeface="Calibri"/>
              </a:rPr>
              <a:t>ЦЕЛЬ РАБОТЫ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2331720"/>
            <a:ext cx="46177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 i="0">
                <a:solidFill>
                  <a:srgbClr val="FFFFFF"/>
                </a:solidFill>
                <a:latin typeface="Calibri"/>
              </a:rPr>
              <a:t>Установить условия, при которых обучаемая декомпозиция и нейросетевые механизмы учёта долгосрочных зависимостей дают практическое преимущество над классическими моделями — и определить, где более простые методы остаются предпочтительными.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5024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35024"/>
            <a:ext cx="12191695" cy="3810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96926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Постановка задачи и метрики качества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05256"/>
            <a:ext cx="9509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B7C2DE"/>
                </a:solidFill>
                <a:latin typeface="Calibri"/>
              </a:rPr>
              <a:t>Раздел 2. Что прогнозируем и как измеряем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771632" y="384048"/>
            <a:ext cx="1024128" cy="457200"/>
          </a:xfrm>
          <a:prstGeom prst="roundRect">
            <a:avLst/>
          </a:prstGeom>
          <a:solidFill>
            <a:srgbClr val="2E3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71632" y="475488"/>
            <a:ext cx="102412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03 / 22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37376"/>
            <a:ext cx="10908792" cy="9525"/>
          </a:xfrm>
          <a:prstGeom prst="rect">
            <a:avLst/>
          </a:prstGeom>
          <a:solidFill>
            <a:srgbClr val="D7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66E82"/>
                </a:solidFill>
                <a:latin typeface="Calibri"/>
              </a:rPr>
              <a:t>Прогнозирование временных рядов · ВКР · Лазарев А.К. ·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1627632"/>
            <a:ext cx="4572000" cy="3977639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1627632"/>
            <a:ext cx="50800" cy="3977639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1773936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B2649"/>
                </a:solidFill>
                <a:latin typeface="Calibri"/>
              </a:rPr>
              <a:t>Задача прогноза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2212848"/>
            <a:ext cx="4114800" cy="32644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45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450" b="1" i="0">
                <a:solidFill>
                  <a:srgbClr val="292E3A"/>
                </a:solidFill>
                <a:latin typeface="Calibri"/>
              </a:rPr>
              <a:t>Дано: </a:t>
            </a:r>
            <a:r>
              <a:rPr sz="1450" b="0" i="0">
                <a:solidFill>
                  <a:srgbClr val="292E3A"/>
                </a:solidFill>
                <a:latin typeface="Calibri"/>
              </a:rPr>
              <a:t>ряд наблюдений y₁, y₂, …, y_T.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45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450" b="1" i="0">
                <a:solidFill>
                  <a:srgbClr val="292E3A"/>
                </a:solidFill>
                <a:latin typeface="Calibri"/>
              </a:rPr>
              <a:t>Найти: </a:t>
            </a:r>
            <a:r>
              <a:rPr sz="1450" b="0" i="0">
                <a:solidFill>
                  <a:srgbClr val="292E3A"/>
                </a:solidFill>
                <a:latin typeface="Calibri"/>
              </a:rPr>
              <a:t>значения ŷ_{T+1}, …, ŷ_{T+H} на горизонте H.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45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450" b="1" i="0">
                <a:solidFill>
                  <a:srgbClr val="292E3A"/>
                </a:solidFill>
                <a:latin typeface="Calibri"/>
              </a:rPr>
              <a:t>Условия. </a:t>
            </a:r>
            <a:r>
              <a:rPr sz="1450" b="0" i="0">
                <a:solidFill>
                  <a:srgbClr val="292E3A"/>
                </a:solidFill>
                <a:latin typeface="Calibri"/>
              </a:rPr>
              <a:t>Одномерный краткосрочный прогноз, H ≪ T, минимум допущений о структуре.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45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450" b="1" i="0">
                <a:solidFill>
                  <a:srgbClr val="292E3A"/>
                </a:solidFill>
                <a:latin typeface="Calibri"/>
              </a:rPr>
              <a:t>Оценка. </a:t>
            </a:r>
            <a:r>
              <a:rPr sz="1450" b="0" i="0">
                <a:solidFill>
                  <a:srgbClr val="292E3A"/>
                </a:solidFill>
                <a:latin typeface="Calibri"/>
              </a:rPr>
              <a:t>Out-of-sample: модель не видит тестовый отрезок при обучении.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40680" y="1627632"/>
            <a:ext cx="6108192" cy="1207008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1627632"/>
            <a:ext cx="50800" cy="1207008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3736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1B2649"/>
                </a:solidFill>
                <a:latin typeface="Calibri"/>
              </a:rPr>
              <a:t>RMSE</a:t>
            </a:r>
          </a:p>
        </p:txBody>
      </p:sp>
      <p:pic>
        <p:nvPicPr>
          <p:cNvPr id="18" name="Picture 17" descr="rm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2103120"/>
            <a:ext cx="1464198" cy="42062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669280" y="2560320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666E82"/>
                </a:solidFill>
                <a:latin typeface="Calibri"/>
              </a:rPr>
              <a:t>абсолютная ошибка, тот же масштаб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40680" y="2999232"/>
            <a:ext cx="6108192" cy="1207008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40680" y="2999232"/>
            <a:ext cx="50800" cy="1207008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0" y="310896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1B2649"/>
                </a:solidFill>
                <a:latin typeface="Calibri"/>
              </a:rPr>
              <a:t>MASE</a:t>
            </a:r>
          </a:p>
        </p:txBody>
      </p:sp>
      <p:pic>
        <p:nvPicPr>
          <p:cNvPr id="23" name="Picture 22" descr="m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3474720"/>
            <a:ext cx="1128278" cy="42062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669280" y="3931920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666E82"/>
                </a:solidFill>
                <a:latin typeface="Calibri"/>
              </a:rPr>
              <a:t>относительно Seasonal Naive, безразмерна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40680" y="4370832"/>
            <a:ext cx="6108192" cy="1207008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40680" y="4370832"/>
            <a:ext cx="50800" cy="1207008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0" y="448056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1B2649"/>
                </a:solidFill>
                <a:latin typeface="Calibri"/>
              </a:rPr>
              <a:t>sMAPE</a:t>
            </a:r>
          </a:p>
        </p:txBody>
      </p:sp>
      <p:pic>
        <p:nvPicPr>
          <p:cNvPr id="28" name="Picture 27" descr="smap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0" y="4846320"/>
            <a:ext cx="1794010" cy="420624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669280" y="5303520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666E82"/>
                </a:solidFill>
                <a:latin typeface="Calibri"/>
              </a:rPr>
              <a:t>симметричная, %, стандарт протоколов M3/M4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5024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35024"/>
            <a:ext cx="12191695" cy="3810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96926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Классические модели сравнения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05256"/>
            <a:ext cx="9509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B7C2DE"/>
                </a:solidFill>
                <a:latin typeface="Calibri"/>
              </a:rPr>
              <a:t>Раздел 2. Эталон: интерпретируемы и устойчивы на коротких рядах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771632" y="384048"/>
            <a:ext cx="1024128" cy="457200"/>
          </a:xfrm>
          <a:prstGeom prst="roundRect">
            <a:avLst/>
          </a:prstGeom>
          <a:solidFill>
            <a:srgbClr val="2E3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71632" y="475488"/>
            <a:ext cx="102412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04 / 22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37376"/>
            <a:ext cx="10908792" cy="9525"/>
          </a:xfrm>
          <a:prstGeom prst="rect">
            <a:avLst/>
          </a:prstGeom>
          <a:solidFill>
            <a:srgbClr val="D7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66E82"/>
                </a:solidFill>
                <a:latin typeface="Calibri"/>
              </a:rPr>
              <a:t>Прогнозирование временных рядов · ВКР · Лазарев А.К. ·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1627632"/>
            <a:ext cx="3538728" cy="3246120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1627632"/>
            <a:ext cx="3538728" cy="512064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1719072"/>
            <a:ext cx="35387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Calibri"/>
              </a:rPr>
              <a:t>ARIMA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331720"/>
            <a:ext cx="3172968" cy="7863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ari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2596896"/>
            <a:ext cx="1870254" cy="2743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59536" y="3310128"/>
            <a:ext cx="313639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50" b="0" i="0">
                <a:solidFill>
                  <a:srgbClr val="292E3A"/>
                </a:solidFill>
                <a:latin typeface="Calibri"/>
              </a:rPr>
              <a:t>AR + интегрирование + MA; порядки (p,d,q) по ACF/PACF.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9536" y="4315968"/>
            <a:ext cx="3099816" cy="15240"/>
          </a:xfrm>
          <a:prstGeom prst="rect">
            <a:avLst/>
          </a:prstGeom>
          <a:solidFill>
            <a:srgbClr val="D7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4425696"/>
            <a:ext cx="3136392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 i="1">
                <a:solidFill>
                  <a:srgbClr val="C25A40"/>
                </a:solidFill>
                <a:latin typeface="Calibri"/>
              </a:rPr>
              <a:t>Сильная сторона: </a:t>
            </a:r>
            <a:r>
              <a:rPr sz="1250" b="0" i="1">
                <a:solidFill>
                  <a:srgbClr val="C25A40"/>
                </a:solidFill>
                <a:latin typeface="Calibri"/>
              </a:rPr>
              <a:t>устойчивость на коротких рядах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25112" y="1627632"/>
            <a:ext cx="3538728" cy="3246120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25112" y="1627632"/>
            <a:ext cx="3538728" cy="512064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25112" y="1719072"/>
            <a:ext cx="35387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Calibri"/>
              </a:rPr>
              <a:t>ETS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07992" y="2331720"/>
            <a:ext cx="3172968" cy="7863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e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6008" y="2596896"/>
            <a:ext cx="2232864" cy="32918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544568" y="3310128"/>
            <a:ext cx="313639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50" b="0" i="0">
                <a:solidFill>
                  <a:srgbClr val="292E3A"/>
                </a:solidFill>
                <a:latin typeface="Calibri"/>
              </a:rPr>
              <a:t>Экспоненциальное сглаживание уровня, тренда и сезона.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44568" y="4315968"/>
            <a:ext cx="3099816" cy="15240"/>
          </a:xfrm>
          <a:prstGeom prst="rect">
            <a:avLst/>
          </a:prstGeom>
          <a:solidFill>
            <a:srgbClr val="D7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44568" y="4425696"/>
            <a:ext cx="3136392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 i="1">
                <a:solidFill>
                  <a:srgbClr val="C25A40"/>
                </a:solidFill>
                <a:latin typeface="Calibri"/>
              </a:rPr>
              <a:t>Сильная сторона: </a:t>
            </a:r>
            <a:r>
              <a:rPr sz="1250" b="0" i="1">
                <a:solidFill>
                  <a:srgbClr val="C25A40"/>
                </a:solidFill>
                <a:latin typeface="Calibri"/>
              </a:rPr>
              <a:t>плавная динамика и сезонность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10144" y="1627632"/>
            <a:ext cx="3538728" cy="3246120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10144" y="1627632"/>
            <a:ext cx="3538728" cy="512064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10144" y="1719072"/>
            <a:ext cx="35387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Calibri"/>
              </a:rPr>
              <a:t>Prophet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93024" y="2331720"/>
            <a:ext cx="3172968" cy="7863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proph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1040" y="2596896"/>
            <a:ext cx="3058675" cy="329184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8229600" y="3310128"/>
            <a:ext cx="313639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50" b="0" i="0">
                <a:solidFill>
                  <a:srgbClr val="292E3A"/>
                </a:solidFill>
                <a:latin typeface="Calibri"/>
              </a:rPr>
              <a:t>Аддитивная модель: тренд + сезон Фурье + календарь.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0" y="4315968"/>
            <a:ext cx="3099816" cy="15240"/>
          </a:xfrm>
          <a:prstGeom prst="rect">
            <a:avLst/>
          </a:prstGeom>
          <a:solidFill>
            <a:srgbClr val="D7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9600" y="4425696"/>
            <a:ext cx="3136392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 i="1">
                <a:solidFill>
                  <a:srgbClr val="C25A40"/>
                </a:solidFill>
                <a:latin typeface="Calibri"/>
              </a:rPr>
              <a:t>Сильная сторона: </a:t>
            </a:r>
            <a:r>
              <a:rPr sz="1250" b="0" i="1">
                <a:solidFill>
                  <a:srgbClr val="C25A40"/>
                </a:solidFill>
                <a:latin typeface="Calibri"/>
              </a:rPr>
              <a:t>гибкая настройка сезонных компонент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5029200"/>
            <a:ext cx="10908792" cy="713232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40080" y="5029200"/>
            <a:ext cx="50800" cy="713232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6112" y="5175504"/>
            <a:ext cx="105430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B2649"/>
                </a:solidFill>
                <a:latin typeface="Calibri"/>
              </a:rPr>
              <a:t>Четвёртая модель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6112" y="5614416"/>
            <a:ext cx="10451592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5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350" b="1" i="0">
                <a:solidFill>
                  <a:srgbClr val="292E3A"/>
                </a:solidFill>
                <a:latin typeface="Calibri"/>
              </a:rPr>
              <a:t>Seasonal Naive — </a:t>
            </a:r>
            <a:r>
              <a:rPr sz="1350" b="0" i="0">
                <a:solidFill>
                  <a:srgbClr val="292E3A"/>
                </a:solidFill>
                <a:latin typeface="Calibri"/>
              </a:rPr>
              <a:t>прогноз = значение предыдущего сезонного периода; нижняя граница качества и база метрики MASE.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5024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35024"/>
            <a:ext cx="12191695" cy="3810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96926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Обучаемая и фиксированная декомпозиция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05256"/>
            <a:ext cx="9509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B7C2DE"/>
                </a:solidFill>
                <a:latin typeface="Calibri"/>
              </a:rPr>
              <a:t>Раздел 2. В чём смысл различия и почему это главный вопрос работы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771632" y="384048"/>
            <a:ext cx="1024128" cy="457200"/>
          </a:xfrm>
          <a:prstGeom prst="roundRect">
            <a:avLst/>
          </a:prstGeom>
          <a:solidFill>
            <a:srgbClr val="2E3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71632" y="475488"/>
            <a:ext cx="102412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05 / 22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37376"/>
            <a:ext cx="10908792" cy="9525"/>
          </a:xfrm>
          <a:prstGeom prst="rect">
            <a:avLst/>
          </a:prstGeom>
          <a:solidFill>
            <a:srgbClr val="D7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66E82"/>
                </a:solidFill>
                <a:latin typeface="Calibri"/>
              </a:rPr>
              <a:t>Прогнозирование временных рядов · ВКР · Лазарев А.К. ·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1627632"/>
            <a:ext cx="5349240" cy="2743200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1627632"/>
            <a:ext cx="50800" cy="2743200"/>
          </a:xfrm>
          <a:prstGeom prst="rect">
            <a:avLst/>
          </a:prstGeom>
          <a:solidFill>
            <a:srgbClr val="2E3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1773936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1B2649"/>
                </a:solidFill>
                <a:latin typeface="Calibri"/>
              </a:rPr>
              <a:t>Фиксированная декомпозиция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2212848"/>
            <a:ext cx="484632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292E3A"/>
                </a:solidFill>
                <a:latin typeface="Calibri"/>
              </a:rPr>
              <a:t>Правило разложения задано человеком </a:t>
            </a:r>
            <a:r>
              <a:rPr sz="1400" b="1" i="0">
                <a:solidFill>
                  <a:srgbClr val="292E3A"/>
                </a:solidFill>
                <a:latin typeface="Calibri"/>
              </a:rPr>
              <a:t>заранее</a:t>
            </a:r>
            <a:r>
              <a:rPr sz="1400" b="0" i="0">
                <a:solidFill>
                  <a:srgbClr val="292E3A"/>
                </a:solidFill>
                <a:latin typeface="Calibri"/>
              </a:rPr>
              <a:t>: период сезонности, скользящее среднее, формулы Холта–Уинтерса. Прозрачно и устойчиво, но не подстраивается под данные.
</a:t>
            </a:r>
          </a:p>
          <a:p>
            <a:pPr algn="l">
              <a:lnSpc>
                <a:spcPct val="116000"/>
              </a:lnSpc>
            </a:pPr>
            <a:r>
              <a:rPr sz="1350" b="1" i="0">
                <a:solidFill>
                  <a:srgbClr val="666E82"/>
                </a:solidFill>
                <a:latin typeface="Calibri"/>
              </a:rPr>
              <a:t>Примеры: </a:t>
            </a:r>
            <a:r>
              <a:rPr sz="1350" b="0" i="1">
                <a:solidFill>
                  <a:srgbClr val="666E82"/>
                </a:solidFill>
                <a:latin typeface="Calibri"/>
              </a:rPr>
              <a:t>ETS, DLinear, Helformer, классическая STL.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99632" y="1627632"/>
            <a:ext cx="5349240" cy="2743200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99632" y="1627632"/>
            <a:ext cx="50800" cy="274320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55664" y="1773936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C25A40"/>
                </a:solidFill>
                <a:latin typeface="Calibri"/>
              </a:rPr>
              <a:t>Обучаемая декомпозиция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55664" y="2212848"/>
            <a:ext cx="489204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292E3A"/>
                </a:solidFill>
                <a:latin typeface="Calibri"/>
              </a:rPr>
              <a:t>Компоненты выделяет </a:t>
            </a:r>
            <a:r>
              <a:rPr sz="1400" b="1" i="0">
                <a:solidFill>
                  <a:srgbClr val="292E3A"/>
                </a:solidFill>
                <a:latin typeface="Calibri"/>
              </a:rPr>
              <a:t>сама сеть</a:t>
            </a:r>
            <a:r>
              <a:rPr sz="1400" b="0" i="0">
                <a:solidFill>
                  <a:srgbClr val="292E3A"/>
                </a:solidFill>
                <a:latin typeface="Calibri"/>
              </a:rPr>
              <a:t> в процессе обучения: авто-корреляция, частотные фильтры, 2D-свёртки. Гибко и адаптивно, но сложнее и рискует переобучиться.
</a:t>
            </a:r>
          </a:p>
          <a:p>
            <a:pPr algn="l">
              <a:lnSpc>
                <a:spcPct val="116000"/>
              </a:lnSpc>
            </a:pPr>
            <a:r>
              <a:rPr sz="1350" b="1" i="0">
                <a:solidFill>
                  <a:srgbClr val="666E82"/>
                </a:solidFill>
                <a:latin typeface="Calibri"/>
              </a:rPr>
              <a:t>Примеры: </a:t>
            </a:r>
            <a:r>
              <a:rPr sz="1350" b="0" i="1">
                <a:solidFill>
                  <a:srgbClr val="666E82"/>
                </a:solidFill>
                <a:latin typeface="Calibri"/>
              </a:rPr>
              <a:t>Autoformer, FEDformer, TimesNet, N-BEATS.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4526280"/>
            <a:ext cx="10908792" cy="1216152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4526280"/>
            <a:ext cx="50800" cy="1216152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6634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07A5F"/>
                </a:solidFill>
                <a:latin typeface="Calibri"/>
              </a:rPr>
              <a:t>ЗАЧЕМ ЭТО РАЗЛИЧИЕ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50292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500" b="0" i="0">
                <a:solidFill>
                  <a:srgbClr val="FFFFFF"/>
                </a:solidFill>
                <a:latin typeface="Calibri"/>
              </a:rPr>
              <a:t>Обучаемость даёт гибкость, но повышает требования к объёму данных и вычислениям. Центральный вопрос работы — </a:t>
            </a:r>
            <a:r>
              <a:rPr sz="1500" b="1" i="0">
                <a:solidFill>
                  <a:srgbClr val="FFFFFF"/>
                </a:solidFill>
                <a:latin typeface="Calibri"/>
              </a:rPr>
              <a:t>когда эта дополнительная свобода окупается, а когда фиксированное правило надёжнее.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5024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35024"/>
            <a:ext cx="12191695" cy="3810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96926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Архитектуры нейросетей · 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05256"/>
            <a:ext cx="9509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B7C2DE"/>
                </a:solidFill>
                <a:latin typeface="Calibri"/>
              </a:rPr>
              <a:t>Раздел 2. DLinear и N-BEATS — разложение прогноза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771632" y="384048"/>
            <a:ext cx="1024128" cy="457200"/>
          </a:xfrm>
          <a:prstGeom prst="roundRect">
            <a:avLst/>
          </a:prstGeom>
          <a:solidFill>
            <a:srgbClr val="2E3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71632" y="475488"/>
            <a:ext cx="102412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06 / 22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37376"/>
            <a:ext cx="10908792" cy="9525"/>
          </a:xfrm>
          <a:prstGeom prst="rect">
            <a:avLst/>
          </a:prstGeom>
          <a:solidFill>
            <a:srgbClr val="D7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66E82"/>
                </a:solidFill>
                <a:latin typeface="Calibri"/>
              </a:rPr>
              <a:t>Прогнозирование временных рядов · ВКР · Лазарев А.К. ·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517904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B2649"/>
                </a:solidFill>
                <a:latin typeface="Calibri"/>
              </a:rPr>
              <a:t>DLinear — </a:t>
            </a:r>
            <a:r>
              <a:rPr sz="1400" b="0" i="1">
                <a:solidFill>
                  <a:srgbClr val="666E82"/>
                </a:solidFill>
                <a:latin typeface="Calibri"/>
              </a:rPr>
              <a:t>линейная модель с явной декомпозицией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1883664"/>
            <a:ext cx="1419148" cy="841248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" y="1883664"/>
            <a:ext cx="1345996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Вход</a:t>
            </a:r>
          </a:p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(окно L)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076784" y="2231136"/>
            <a:ext cx="111191" cy="146304"/>
          </a:xfrm>
          <a:prstGeom prst="rightArrow">
            <a:avLst/>
          </a:prstGeom>
          <a:solidFill>
            <a:srgbClr val="2E3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05532" y="1883664"/>
            <a:ext cx="1419148" cy="841248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242108" y="1883664"/>
            <a:ext cx="1345996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Декомпозиция</a:t>
            </a:r>
          </a:p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(скольз. среднее)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3642236" y="2231136"/>
            <a:ext cx="111191" cy="146304"/>
          </a:xfrm>
          <a:prstGeom prst="rightArrow">
            <a:avLst/>
          </a:prstGeom>
          <a:solidFill>
            <a:srgbClr val="2E3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770984" y="1883664"/>
            <a:ext cx="1419148" cy="841248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07560" y="1883664"/>
            <a:ext cx="1345996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Тренд / Остаток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207688" y="2231136"/>
            <a:ext cx="111191" cy="146304"/>
          </a:xfrm>
          <a:prstGeom prst="rightArrow">
            <a:avLst/>
          </a:prstGeom>
          <a:solidFill>
            <a:srgbClr val="2E3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336436" y="1883664"/>
            <a:ext cx="1419148" cy="841248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73012" y="1883664"/>
            <a:ext cx="1345996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Линейные</a:t>
            </a:r>
          </a:p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проекции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6773140" y="2231136"/>
            <a:ext cx="111191" cy="146304"/>
          </a:xfrm>
          <a:prstGeom prst="rightArrow">
            <a:avLst/>
          </a:prstGeom>
          <a:solidFill>
            <a:srgbClr val="2E3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901888" y="1883664"/>
            <a:ext cx="1419148" cy="841248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38464" y="1883664"/>
            <a:ext cx="1345996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Прогноз H</a:t>
            </a:r>
          </a:p>
        </p:txBody>
      </p:sp>
      <p:pic>
        <p:nvPicPr>
          <p:cNvPr id="26" name="Picture 25" descr="dlin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907792"/>
            <a:ext cx="5320391" cy="38404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8595360" y="1883664"/>
            <a:ext cx="29535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>
                <a:solidFill>
                  <a:srgbClr val="C25A40"/>
                </a:solidFill>
                <a:latin typeface="Calibri"/>
              </a:rPr>
              <a:t>Смысл: </a:t>
            </a:r>
            <a:r>
              <a:rPr sz="1300" b="0" i="0">
                <a:solidFill>
                  <a:srgbClr val="292E3A"/>
                </a:solidFill>
                <a:latin typeface="Calibri"/>
              </a:rPr>
              <a:t>разделяет ряд на тренд и колебания и предсказывает их двумя простыми линейными слоями — сильный и дешёвый бейзлайн.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3529584"/>
            <a:ext cx="10908792" cy="12700"/>
          </a:xfrm>
          <a:prstGeom prst="rect">
            <a:avLst/>
          </a:prstGeom>
          <a:solidFill>
            <a:srgbClr val="D7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3657600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B2649"/>
                </a:solidFill>
                <a:latin typeface="Calibri"/>
              </a:rPr>
              <a:t>N-BEATS — </a:t>
            </a:r>
            <a:r>
              <a:rPr sz="1400" b="0" i="1">
                <a:solidFill>
                  <a:srgbClr val="666E82"/>
                </a:solidFill>
                <a:latin typeface="Calibri"/>
              </a:rPr>
              <a:t>обучаемое базисное разложение с двойным остатком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4023360"/>
            <a:ext cx="1419148" cy="841248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6656" y="4023360"/>
            <a:ext cx="1345996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Вход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2076784" y="4370832"/>
            <a:ext cx="111191" cy="146304"/>
          </a:xfrm>
          <a:prstGeom prst="rightArrow">
            <a:avLst/>
          </a:prstGeom>
          <a:solidFill>
            <a:srgbClr val="2E3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05532" y="4023360"/>
            <a:ext cx="1419148" cy="841248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242108" y="4023360"/>
            <a:ext cx="1345996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Блок: FC ×4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3642236" y="4370832"/>
            <a:ext cx="111191" cy="146304"/>
          </a:xfrm>
          <a:prstGeom prst="rightArrow">
            <a:avLst/>
          </a:prstGeom>
          <a:solidFill>
            <a:srgbClr val="2E3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770984" y="4023360"/>
            <a:ext cx="1419148" cy="841248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07560" y="4023360"/>
            <a:ext cx="1345996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Базисное</a:t>
            </a:r>
          </a:p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разложение</a:t>
            </a:r>
          </a:p>
        </p:txBody>
      </p:sp>
      <p:sp>
        <p:nvSpPr>
          <p:cNvPr id="38" name="Right Arrow 37"/>
          <p:cNvSpPr/>
          <p:nvPr/>
        </p:nvSpPr>
        <p:spPr>
          <a:xfrm>
            <a:off x="5207688" y="4370832"/>
            <a:ext cx="111191" cy="146304"/>
          </a:xfrm>
          <a:prstGeom prst="rightArrow">
            <a:avLst/>
          </a:prstGeom>
          <a:solidFill>
            <a:srgbClr val="2E3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336436" y="4023360"/>
            <a:ext cx="1419148" cy="841248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373012" y="4023360"/>
            <a:ext cx="1345996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Двойной</a:t>
            </a:r>
          </a:p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остаток</a:t>
            </a:r>
          </a:p>
        </p:txBody>
      </p:sp>
      <p:sp>
        <p:nvSpPr>
          <p:cNvPr id="41" name="Right Arrow 40"/>
          <p:cNvSpPr/>
          <p:nvPr/>
        </p:nvSpPr>
        <p:spPr>
          <a:xfrm>
            <a:off x="6773140" y="4370832"/>
            <a:ext cx="111191" cy="146304"/>
          </a:xfrm>
          <a:prstGeom prst="rightArrow">
            <a:avLst/>
          </a:prstGeom>
          <a:solidFill>
            <a:srgbClr val="2E3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901888" y="4023360"/>
            <a:ext cx="1419148" cy="841248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938464" y="4023360"/>
            <a:ext cx="1345996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Σ прогнозов ŷ</a:t>
            </a:r>
          </a:p>
        </p:txBody>
      </p:sp>
      <p:pic>
        <p:nvPicPr>
          <p:cNvPr id="44" name="Picture 43" descr="nbea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5047488"/>
            <a:ext cx="2234461" cy="38404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595360" y="4023360"/>
            <a:ext cx="2953512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>
                <a:solidFill>
                  <a:srgbClr val="C25A40"/>
                </a:solidFill>
                <a:latin typeface="Calibri"/>
              </a:rPr>
              <a:t>Смысл: </a:t>
            </a:r>
            <a:r>
              <a:rPr sz="1300" b="0" i="0">
                <a:solidFill>
                  <a:srgbClr val="292E3A"/>
                </a:solidFill>
                <a:latin typeface="Calibri"/>
              </a:rPr>
              <a:t>стек блоков, каждый «объясняет» часть истории (backcast) и уточняет прогноз (forecast); итог — сумма вкладов.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40080" y="5779008"/>
            <a:ext cx="10908792" cy="566928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40080" y="5779008"/>
            <a:ext cx="50800" cy="566928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14400" y="5852160"/>
            <a:ext cx="1554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5A40"/>
                </a:solidFill>
                <a:latin typeface="Calibri"/>
              </a:rPr>
              <a:t>ВЫВОД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965960" y="5779008"/>
            <a:ext cx="9418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92E3A"/>
                </a:solidFill>
                <a:latin typeface="Calibri"/>
              </a:rPr>
              <a:t>Обе модели раскладывают прогноз на простые составляющие — но DLinear делает это фиксированно, а N-BEATS обучает базис.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5024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35024"/>
            <a:ext cx="12191695" cy="3810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96926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Архитектуры нейросетей · 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05256"/>
            <a:ext cx="9509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B7C2DE"/>
                </a:solidFill>
                <a:latin typeface="Calibri"/>
              </a:rPr>
              <a:t>Раздел 2. TimesNet и Autoformer — периодичность и дальние зависимости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771632" y="384048"/>
            <a:ext cx="1024128" cy="457200"/>
          </a:xfrm>
          <a:prstGeom prst="roundRect">
            <a:avLst/>
          </a:prstGeom>
          <a:solidFill>
            <a:srgbClr val="2E3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71632" y="475488"/>
            <a:ext cx="102412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07 / 22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37376"/>
            <a:ext cx="10908792" cy="9525"/>
          </a:xfrm>
          <a:prstGeom prst="rect">
            <a:avLst/>
          </a:prstGeom>
          <a:solidFill>
            <a:srgbClr val="D7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66E82"/>
                </a:solidFill>
                <a:latin typeface="Calibri"/>
              </a:rPr>
              <a:t>Прогнозирование временных рядов · ВКР · Лазарев А.К. ·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517904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B2649"/>
                </a:solidFill>
                <a:latin typeface="Calibri"/>
              </a:rPr>
              <a:t>TimesNet — </a:t>
            </a:r>
            <a:r>
              <a:rPr sz="1400" b="0" i="1">
                <a:solidFill>
                  <a:srgbClr val="666E82"/>
                </a:solidFill>
                <a:latin typeface="Calibri"/>
              </a:rPr>
              <a:t>1D-ряд → 2D-представления по доминирующим периодам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1883664"/>
            <a:ext cx="1419148" cy="841248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" y="1883664"/>
            <a:ext cx="1345996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Вход (1D)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076784" y="2231136"/>
            <a:ext cx="111191" cy="146304"/>
          </a:xfrm>
          <a:prstGeom prst="rightArrow">
            <a:avLst/>
          </a:prstGeom>
          <a:solidFill>
            <a:srgbClr val="2E3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05532" y="1883664"/>
            <a:ext cx="1419148" cy="841248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242108" y="1883664"/>
            <a:ext cx="1345996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FFT:</a:t>
            </a:r>
          </a:p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периоды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3642236" y="2231136"/>
            <a:ext cx="111191" cy="146304"/>
          </a:xfrm>
          <a:prstGeom prst="rightArrow">
            <a:avLst/>
          </a:prstGeom>
          <a:solidFill>
            <a:srgbClr val="2E3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770984" y="1883664"/>
            <a:ext cx="1419148" cy="841248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07560" y="1883664"/>
            <a:ext cx="1345996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Reshape</a:t>
            </a:r>
          </a:p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1D → 2D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207688" y="2231136"/>
            <a:ext cx="111191" cy="146304"/>
          </a:xfrm>
          <a:prstGeom prst="rightArrow">
            <a:avLst/>
          </a:prstGeom>
          <a:solidFill>
            <a:srgbClr val="2E3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336436" y="1883664"/>
            <a:ext cx="1419148" cy="841248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73012" y="1883664"/>
            <a:ext cx="1345996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2D-свёртки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6773140" y="2231136"/>
            <a:ext cx="111191" cy="146304"/>
          </a:xfrm>
          <a:prstGeom prst="rightArrow">
            <a:avLst/>
          </a:prstGeom>
          <a:solidFill>
            <a:srgbClr val="2E3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901888" y="1883664"/>
            <a:ext cx="1419148" cy="841248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38464" y="1883664"/>
            <a:ext cx="1345996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Softmax-</a:t>
            </a:r>
          </a:p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агрегация</a:t>
            </a:r>
          </a:p>
        </p:txBody>
      </p:sp>
      <p:pic>
        <p:nvPicPr>
          <p:cNvPr id="26" name="Picture 25" descr="timesn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907792"/>
            <a:ext cx="3837942" cy="38404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8595360" y="1883664"/>
            <a:ext cx="29535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>
                <a:solidFill>
                  <a:srgbClr val="C25A40"/>
                </a:solidFill>
                <a:latin typeface="Calibri"/>
              </a:rPr>
              <a:t>Смысл: </a:t>
            </a:r>
            <a:r>
              <a:rPr sz="1300" b="0" i="0">
                <a:solidFill>
                  <a:srgbClr val="292E3A"/>
                </a:solidFill>
                <a:latin typeface="Calibri"/>
              </a:rPr>
              <a:t>находит периоды через Фурье и сворачивает ряд в 2D-«картинки» — видит и внутри-, и меж-периодные изменения.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3529584"/>
            <a:ext cx="10908792" cy="12700"/>
          </a:xfrm>
          <a:prstGeom prst="rect">
            <a:avLst/>
          </a:prstGeom>
          <a:solidFill>
            <a:srgbClr val="D7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3657600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B2649"/>
                </a:solidFill>
                <a:latin typeface="Calibri"/>
              </a:rPr>
              <a:t>Autoformer — </a:t>
            </a:r>
            <a:r>
              <a:rPr sz="1400" b="0" i="1">
                <a:solidFill>
                  <a:srgbClr val="C25A40"/>
                </a:solidFill>
                <a:latin typeface="Calibri"/>
              </a:rPr>
              <a:t>обучаемая декомпозиция + авто-корреляция (ядро темы работы)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4023360"/>
            <a:ext cx="1419148" cy="841248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6656" y="4023360"/>
            <a:ext cx="1345996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Вход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2076784" y="4370832"/>
            <a:ext cx="111191" cy="146304"/>
          </a:xfrm>
          <a:prstGeom prst="rightArrow">
            <a:avLst/>
          </a:prstGeom>
          <a:solidFill>
            <a:srgbClr val="2E3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05532" y="4023360"/>
            <a:ext cx="1419148" cy="841248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242108" y="4023360"/>
            <a:ext cx="1345996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Series Decomp</a:t>
            </a:r>
          </a:p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(тренд+сезон)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3642236" y="4370832"/>
            <a:ext cx="111191" cy="146304"/>
          </a:xfrm>
          <a:prstGeom prst="rightArrow">
            <a:avLst/>
          </a:prstGeom>
          <a:solidFill>
            <a:srgbClr val="2E3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770984" y="4023360"/>
            <a:ext cx="1419148" cy="841248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07560" y="4023360"/>
            <a:ext cx="1345996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Auto-</a:t>
            </a:r>
          </a:p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Correlation</a:t>
            </a:r>
          </a:p>
        </p:txBody>
      </p:sp>
      <p:sp>
        <p:nvSpPr>
          <p:cNvPr id="38" name="Right Arrow 37"/>
          <p:cNvSpPr/>
          <p:nvPr/>
        </p:nvSpPr>
        <p:spPr>
          <a:xfrm>
            <a:off x="5207688" y="4370832"/>
            <a:ext cx="111191" cy="146304"/>
          </a:xfrm>
          <a:prstGeom prst="rightArrow">
            <a:avLst/>
          </a:prstGeom>
          <a:solidFill>
            <a:srgbClr val="2E3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336436" y="4023360"/>
            <a:ext cx="1419148" cy="841248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373012" y="4023360"/>
            <a:ext cx="1345996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Encoder–</a:t>
            </a:r>
          </a:p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Decoder</a:t>
            </a:r>
          </a:p>
        </p:txBody>
      </p:sp>
      <p:sp>
        <p:nvSpPr>
          <p:cNvPr id="41" name="Right Arrow 40"/>
          <p:cNvSpPr/>
          <p:nvPr/>
        </p:nvSpPr>
        <p:spPr>
          <a:xfrm>
            <a:off x="6773140" y="4370832"/>
            <a:ext cx="111191" cy="146304"/>
          </a:xfrm>
          <a:prstGeom prst="rightArrow">
            <a:avLst/>
          </a:prstGeom>
          <a:solidFill>
            <a:srgbClr val="2E3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901888" y="4023360"/>
            <a:ext cx="1419148" cy="841248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938464" y="4023360"/>
            <a:ext cx="1345996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Прогноз</a:t>
            </a:r>
          </a:p>
        </p:txBody>
      </p:sp>
      <p:pic>
        <p:nvPicPr>
          <p:cNvPr id="44" name="Picture 43" descr="autoform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5047488"/>
            <a:ext cx="3560170" cy="38404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595360" y="4023360"/>
            <a:ext cx="2953512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>
                <a:solidFill>
                  <a:srgbClr val="C25A40"/>
                </a:solidFill>
                <a:latin typeface="Calibri"/>
              </a:rPr>
              <a:t>Смысл: </a:t>
            </a:r>
            <a:r>
              <a:rPr sz="1300" b="0" i="0">
                <a:solidFill>
                  <a:srgbClr val="292E3A"/>
                </a:solidFill>
                <a:latin typeface="Calibri"/>
              </a:rPr>
              <a:t>раскладывает ряд внутри сети и заменяет внимание авто-корреляцией — ищет похожие участки на больших лагах.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40080" y="5779008"/>
            <a:ext cx="10908792" cy="566928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40080" y="5779008"/>
            <a:ext cx="50800" cy="566928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14400" y="5852160"/>
            <a:ext cx="1554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5A40"/>
                </a:solidFill>
                <a:latin typeface="Calibri"/>
              </a:rPr>
              <a:t>ВЫВОД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965960" y="5779008"/>
            <a:ext cx="9418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92E3A"/>
                </a:solidFill>
                <a:latin typeface="Calibri"/>
              </a:rPr>
              <a:t>Autoformer объединяет обе идеи темы: обучаемую декомпозицию и механизм учёта долгосрочных зависимостей.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5024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35024"/>
            <a:ext cx="12191695" cy="3810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96926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Helformer — основная гибридная модель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05256"/>
            <a:ext cx="9509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B7C2DE"/>
                </a:solidFill>
                <a:latin typeface="Calibri"/>
              </a:rPr>
              <a:t>Раздел 2. Декомпозиция Холта–Уинтерса + механизм внимания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771632" y="384048"/>
            <a:ext cx="1024128" cy="457200"/>
          </a:xfrm>
          <a:prstGeom prst="roundRect">
            <a:avLst/>
          </a:prstGeom>
          <a:solidFill>
            <a:srgbClr val="2E3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71632" y="475488"/>
            <a:ext cx="102412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08 / 22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37376"/>
            <a:ext cx="10908792" cy="9525"/>
          </a:xfrm>
          <a:prstGeom prst="rect">
            <a:avLst/>
          </a:prstGeom>
          <a:solidFill>
            <a:srgbClr val="D7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66E82"/>
                </a:solidFill>
                <a:latin typeface="Calibri"/>
              </a:rPr>
              <a:t>Прогнозирование временных рядов · ВКР · Лазарев А.К. ·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1828800"/>
            <a:ext cx="2064715" cy="914400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" y="1828800"/>
            <a:ext cx="199156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Вход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2722351" y="2212848"/>
            <a:ext cx="111191" cy="146304"/>
          </a:xfrm>
          <a:prstGeom prst="rightArrow">
            <a:avLst/>
          </a:prstGeom>
          <a:solidFill>
            <a:srgbClr val="2E3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851099" y="1828800"/>
            <a:ext cx="2064715" cy="91440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87675" y="1828800"/>
            <a:ext cx="199156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Holt-Winters</a:t>
            </a:r>
          </a:p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декомпозиция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933370" y="2212848"/>
            <a:ext cx="111191" cy="146304"/>
          </a:xfrm>
          <a:prstGeom prst="rightArrow">
            <a:avLst/>
          </a:prstGeom>
          <a:solidFill>
            <a:srgbClr val="2E3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62118" y="1828800"/>
            <a:ext cx="2064715" cy="914400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98694" y="1828800"/>
            <a:ext cx="199156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Нормализация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7144389" y="2212848"/>
            <a:ext cx="111191" cy="146304"/>
          </a:xfrm>
          <a:prstGeom prst="rightArrow">
            <a:avLst/>
          </a:prstGeom>
          <a:solidFill>
            <a:srgbClr val="2E3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273137" y="1828800"/>
            <a:ext cx="2064715" cy="91440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09713" y="1828800"/>
            <a:ext cx="199156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Transformer</a:t>
            </a:r>
          </a:p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+ LSTM-блок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9355408" y="2212848"/>
            <a:ext cx="111191" cy="146304"/>
          </a:xfrm>
          <a:prstGeom prst="rightArrow">
            <a:avLst/>
          </a:prstGeom>
          <a:solidFill>
            <a:srgbClr val="2E3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484156" y="1828800"/>
            <a:ext cx="2064715" cy="914400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20732" y="1828800"/>
            <a:ext cx="199156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Реконструкция</a:t>
            </a:r>
          </a:p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→ Прогноз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3108960"/>
            <a:ext cx="676656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helform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" y="3310128"/>
            <a:ext cx="5100649" cy="457200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640080" y="4224528"/>
            <a:ext cx="5349240" cy="1517904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0080" y="4224528"/>
            <a:ext cx="50800" cy="1517904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6112" y="4370832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B2649"/>
                </a:solidFill>
                <a:latin typeface="Calibri"/>
              </a:rPr>
              <a:t>Что делает модель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6112" y="4809744"/>
            <a:ext cx="4892040" cy="804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5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350" b="1" i="0">
                <a:solidFill>
                  <a:srgbClr val="292E3A"/>
                </a:solidFill>
                <a:latin typeface="Calibri"/>
              </a:rPr>
              <a:t>Холт–Уинтерс </a:t>
            </a:r>
            <a:r>
              <a:rPr sz="1350" b="0" i="0">
                <a:solidFill>
                  <a:srgbClr val="292E3A"/>
                </a:solidFill>
                <a:latin typeface="Calibri"/>
              </a:rPr>
              <a:t>снимает тренд и сезон — фиксированная база.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5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350" b="1" i="0">
                <a:solidFill>
                  <a:srgbClr val="292E3A"/>
                </a:solidFill>
                <a:latin typeface="Calibri"/>
              </a:rPr>
              <a:t>Внимание + LSTM </a:t>
            </a:r>
            <a:r>
              <a:rPr sz="1350" b="0" i="0">
                <a:solidFill>
                  <a:srgbClr val="292E3A"/>
                </a:solidFill>
                <a:latin typeface="Calibri"/>
              </a:rPr>
              <a:t>моделируют остаток и дальние зависимости.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99632" y="4224528"/>
            <a:ext cx="5349240" cy="1517904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99632" y="4224528"/>
            <a:ext cx="50800" cy="1517904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37083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E07A5F"/>
                </a:solidFill>
                <a:latin typeface="Calibri"/>
              </a:rPr>
              <a:t>ПОЧЕМУ В НАЗВАНИИ РАБОТЫ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55664" y="4773168"/>
            <a:ext cx="4892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0" i="0">
                <a:solidFill>
                  <a:srgbClr val="FFFFFF"/>
                </a:solidFill>
                <a:latin typeface="Calibri"/>
              </a:rPr>
              <a:t>Helformer сочетает обе исследуемые идеи в одной модели — это прямой тест гипотезы работы на флагманской архитектуре.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5024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35024"/>
            <a:ext cx="12191695" cy="3810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96926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Экспериментальная база и протокол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05256"/>
            <a:ext cx="9509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B7C2DE"/>
                </a:solidFill>
                <a:latin typeface="Calibri"/>
              </a:rPr>
              <a:t>Раздел 3. Данные, режимы обучения, тип декомпозиции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771632" y="384048"/>
            <a:ext cx="1024128" cy="457200"/>
          </a:xfrm>
          <a:prstGeom prst="roundRect">
            <a:avLst/>
          </a:prstGeom>
          <a:solidFill>
            <a:srgbClr val="2E3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71632" y="475488"/>
            <a:ext cx="102412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09 / 22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37376"/>
            <a:ext cx="10908792" cy="9525"/>
          </a:xfrm>
          <a:prstGeom prst="rect">
            <a:avLst/>
          </a:prstGeom>
          <a:solidFill>
            <a:srgbClr val="D7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66E82"/>
                </a:solidFill>
                <a:latin typeface="Calibri"/>
              </a:rPr>
              <a:t>Прогнозирование временных рядов · ВКР · Лазарев А.К. ·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1627632"/>
            <a:ext cx="3474720" cy="3977639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1627632"/>
            <a:ext cx="50800" cy="3977639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1773936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B2649"/>
                </a:solidFill>
                <a:latin typeface="Calibri"/>
              </a:rPr>
              <a:t>Данные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2212848"/>
            <a:ext cx="3017520" cy="32644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300"/>
              </a:spcAft>
            </a:pPr>
            <a:r>
              <a:rPr sz="14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400" b="1" i="0">
                <a:solidFill>
                  <a:srgbClr val="292E3A"/>
                </a:solidFill>
                <a:latin typeface="Calibri"/>
              </a:rPr>
              <a:t>M3 Competition. </a:t>
            </a:r>
            <a:r>
              <a:rPr sz="1400" b="0" i="0">
                <a:solidFill>
                  <a:srgbClr val="292E3A"/>
                </a:solidFill>
                <a:latin typeface="Calibri"/>
              </a:rPr>
              <a:t>Полный набор — 2829 рядов: годовые, квартальные, месячные.</a:t>
            </a:r>
          </a:p>
          <a:p>
            <a:pPr algn="l">
              <a:lnSpc>
                <a:spcPct val="110000"/>
              </a:lnSpc>
              <a:spcAft>
                <a:spcPts val="1300"/>
              </a:spcAft>
            </a:pPr>
            <a:r>
              <a:rPr sz="14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400" b="1" i="0">
                <a:solidFill>
                  <a:srgbClr val="292E3A"/>
                </a:solidFill>
                <a:latin typeface="Calibri"/>
              </a:rPr>
              <a:t>M4 Competition. </a:t>
            </a:r>
            <a:r>
              <a:rPr sz="1400" b="0" i="0">
                <a:solidFill>
                  <a:srgbClr val="292E3A"/>
                </a:solidFill>
                <a:latin typeface="Calibri"/>
              </a:rPr>
              <a:t>3000 рядов: квартальные, месячные, ежедневные.</a:t>
            </a:r>
          </a:p>
          <a:p>
            <a:pPr algn="l">
              <a:lnSpc>
                <a:spcPct val="110000"/>
              </a:lnSpc>
              <a:spcAft>
                <a:spcPts val="1300"/>
              </a:spcAft>
            </a:pPr>
            <a:r>
              <a:rPr sz="14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400" b="1" i="0">
                <a:solidFill>
                  <a:srgbClr val="292E3A"/>
                </a:solidFill>
                <a:latin typeface="Calibri"/>
              </a:rPr>
              <a:t>Итого </a:t>
            </a:r>
            <a:r>
              <a:rPr sz="1400" b="0" i="0">
                <a:solidFill>
                  <a:srgbClr val="292E3A"/>
                </a:solidFill>
                <a:latin typeface="Calibri"/>
              </a:rPr>
              <a:t>6 частотных категорий, 5829 рядов.</a:t>
            </a:r>
          </a:p>
          <a:p>
            <a:pPr algn="l">
              <a:lnSpc>
                <a:spcPct val="110000"/>
              </a:lnSpc>
              <a:spcAft>
                <a:spcPts val="1300"/>
              </a:spcAft>
            </a:pPr>
            <a:r>
              <a:rPr sz="14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400" b="1" i="0">
                <a:solidFill>
                  <a:srgbClr val="292E3A"/>
                </a:solidFill>
                <a:latin typeface="Calibri"/>
              </a:rPr>
              <a:t>Метрики. </a:t>
            </a:r>
            <a:r>
              <a:rPr sz="1400" b="0" i="0">
                <a:solidFill>
                  <a:srgbClr val="292E3A"/>
                </a:solidFill>
                <a:latin typeface="Calibri"/>
              </a:rPr>
              <a:t>sMAPE, MASE, RMSE.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61104" y="1627632"/>
            <a:ext cx="3474720" cy="3977639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61104" y="1627632"/>
            <a:ext cx="50800" cy="3977639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17136" y="1773936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B2649"/>
                </a:solidFill>
                <a:latin typeface="Calibri"/>
              </a:rPr>
              <a:t>Три режима прогноза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17136" y="2212848"/>
            <a:ext cx="3017520" cy="32644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300"/>
              </a:spcAft>
            </a:pPr>
            <a:r>
              <a:rPr sz="14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400" b="1" i="0">
                <a:solidFill>
                  <a:srgbClr val="292E3A"/>
                </a:solidFill>
                <a:latin typeface="Calibri"/>
              </a:rPr>
              <a:t>Прямой. </a:t>
            </a:r>
            <a:r>
              <a:rPr sz="1400" b="0" i="0">
                <a:solidFill>
                  <a:srgbClr val="292E3A"/>
                </a:solidFill>
                <a:latin typeface="Calibri"/>
              </a:rPr>
              <a:t>Весь горизонт за один проход модели.</a:t>
            </a:r>
          </a:p>
          <a:p>
            <a:pPr algn="l">
              <a:lnSpc>
                <a:spcPct val="110000"/>
              </a:lnSpc>
              <a:spcAft>
                <a:spcPts val="1300"/>
              </a:spcAft>
            </a:pPr>
            <a:r>
              <a:rPr sz="14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400" b="1" i="0">
                <a:solidFill>
                  <a:srgbClr val="292E3A"/>
                </a:solidFill>
                <a:latin typeface="Calibri"/>
              </a:rPr>
              <a:t>Итеративный. </a:t>
            </a:r>
            <a:r>
              <a:rPr sz="1400" b="0" i="0">
                <a:solidFill>
                  <a:srgbClr val="292E3A"/>
                </a:solidFill>
                <a:latin typeface="Calibri"/>
              </a:rPr>
              <a:t>Пошагово, с подстановкой своих прогнозов; ошибка копится.</a:t>
            </a:r>
          </a:p>
          <a:p>
            <a:pPr algn="l">
              <a:lnSpc>
                <a:spcPct val="110000"/>
              </a:lnSpc>
              <a:spcAft>
                <a:spcPts val="1300"/>
              </a:spcAft>
            </a:pPr>
            <a:r>
              <a:rPr sz="14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400" b="1" i="0">
                <a:solidFill>
                  <a:srgbClr val="292E3A"/>
                </a:solidFill>
                <a:latin typeface="Calibri"/>
              </a:rPr>
              <a:t>С предобучением. </a:t>
            </a:r>
            <a:r>
              <a:rPr sz="1400" b="0" i="0">
                <a:solidFill>
                  <a:srgbClr val="292E3A"/>
                </a:solidFill>
                <a:latin typeface="Calibri"/>
              </a:rPr>
              <a:t>Обучение на корпусе рядов + дообучение на целевом.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882127" y="1627632"/>
            <a:ext cx="3657600" cy="3977639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882127" y="1627632"/>
            <a:ext cx="50800" cy="3977639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38159" y="1773936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B2649"/>
                </a:solidFill>
                <a:latin typeface="Calibri"/>
              </a:rPr>
              <a:t>Тип декомпозиции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59" y="2212848"/>
            <a:ext cx="3200400" cy="32644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300"/>
              </a:spcAft>
            </a:pPr>
            <a:r>
              <a:rPr sz="14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400" b="1" i="0">
                <a:solidFill>
                  <a:srgbClr val="292E3A"/>
                </a:solidFill>
                <a:latin typeface="Calibri"/>
              </a:rPr>
              <a:t>Фиксированная. </a:t>
            </a:r>
            <a:r>
              <a:rPr sz="1400" b="0" i="0">
                <a:solidFill>
                  <a:srgbClr val="292E3A"/>
                </a:solidFill>
                <a:latin typeface="Calibri"/>
              </a:rPr>
              <a:t>ETS, DLinear, Helformer.</a:t>
            </a:r>
          </a:p>
          <a:p>
            <a:pPr algn="l">
              <a:lnSpc>
                <a:spcPct val="110000"/>
              </a:lnSpc>
              <a:spcAft>
                <a:spcPts val="1300"/>
              </a:spcAft>
            </a:pPr>
            <a:r>
              <a:rPr sz="14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400" b="1" i="0">
                <a:solidFill>
                  <a:srgbClr val="292E3A"/>
                </a:solidFill>
                <a:latin typeface="Calibri"/>
              </a:rPr>
              <a:t>Обучаемая. </a:t>
            </a:r>
            <a:r>
              <a:rPr sz="1400" b="0" i="0">
                <a:solidFill>
                  <a:srgbClr val="292E3A"/>
                </a:solidFill>
                <a:latin typeface="Calibri"/>
              </a:rPr>
              <a:t>Autoformer, FEDformer, TimesNet.</a:t>
            </a:r>
          </a:p>
          <a:p>
            <a:pPr algn="l">
              <a:lnSpc>
                <a:spcPct val="110000"/>
              </a:lnSpc>
              <a:spcAft>
                <a:spcPts val="1300"/>
              </a:spcAft>
            </a:pPr>
            <a:r>
              <a:rPr sz="14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400" b="1" i="0">
                <a:solidFill>
                  <a:srgbClr val="292E3A"/>
                </a:solidFill>
                <a:latin typeface="Calibri"/>
              </a:rPr>
              <a:t>Без декомпозиции. </a:t>
            </a:r>
            <a:r>
              <a:rPr sz="1400" b="0" i="0">
                <a:solidFill>
                  <a:srgbClr val="292E3A"/>
                </a:solidFill>
                <a:latin typeface="Calibri"/>
              </a:rPr>
              <a:t>Auto-ARIMA, PatchTST.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5779008"/>
            <a:ext cx="10908792" cy="566928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5779008"/>
            <a:ext cx="50800" cy="566928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852160"/>
            <a:ext cx="1554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5A40"/>
                </a:solidFill>
                <a:latin typeface="Calibri"/>
              </a:rPr>
              <a:t>ВЫВОД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65960" y="5779008"/>
            <a:ext cx="9418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92E3A"/>
                </a:solidFill>
                <a:latin typeface="Calibri"/>
              </a:rPr>
              <a:t>Анализ ведётся по трём осям — длина ряда, режим обучения и тип декомпозиции.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5024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35024"/>
            <a:ext cx="12191695" cy="3810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96926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Прямое прогнозирование: ранг моделей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05256"/>
            <a:ext cx="9509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B7C2DE"/>
                </a:solidFill>
                <a:latin typeface="Calibri"/>
              </a:rPr>
              <a:t>Раздел 3. Кто точнее в режиме обучения на одном ряде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771632" y="384048"/>
            <a:ext cx="1024128" cy="457200"/>
          </a:xfrm>
          <a:prstGeom prst="roundRect">
            <a:avLst/>
          </a:prstGeom>
          <a:solidFill>
            <a:srgbClr val="2E3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71632" y="475488"/>
            <a:ext cx="102412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10 / 22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37376"/>
            <a:ext cx="10908792" cy="9525"/>
          </a:xfrm>
          <a:prstGeom prst="rect">
            <a:avLst/>
          </a:prstGeom>
          <a:solidFill>
            <a:srgbClr val="D7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66E82"/>
                </a:solidFill>
                <a:latin typeface="Calibri"/>
              </a:rPr>
              <a:t>Прогнозирование временных рядов · ВКР · Лазарев А.К. · 2026</a:t>
            </a:r>
          </a:p>
        </p:txBody>
      </p:sp>
      <p:pic>
        <p:nvPicPr>
          <p:cNvPr id="11" name="Picture 10" descr="heatmap_ra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40679"/>
            <a:ext cx="6858000" cy="3650961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680960" y="1554480"/>
            <a:ext cx="3867912" cy="2194560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680960" y="1554480"/>
            <a:ext cx="50800" cy="219456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36992" y="1700784"/>
            <a:ext cx="35021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B2649"/>
                </a:solidFill>
                <a:latin typeface="Calibri"/>
              </a:rPr>
              <a:t>Что такое ранг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36992" y="2139696"/>
            <a:ext cx="3410712" cy="1481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3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300" b="0" i="0">
                <a:solidFill>
                  <a:srgbClr val="292E3A"/>
                </a:solidFill>
                <a:latin typeface="Calibri"/>
              </a:rPr>
              <a:t>На каждом ряде модели сортируются по sMAPE: 1-е место — лучшая.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3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300" b="0" i="0">
                <a:solidFill>
                  <a:srgbClr val="292E3A"/>
                </a:solidFill>
                <a:latin typeface="Calibri"/>
              </a:rPr>
              <a:t>Ранги усредняются по всем рядам категории → средний ранг модели.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3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292E3A"/>
                </a:solidFill>
                <a:latin typeface="Calibri"/>
              </a:rPr>
              <a:t>Цвет: </a:t>
            </a:r>
            <a:r>
              <a:rPr sz="1300" b="0" i="0">
                <a:solidFill>
                  <a:srgbClr val="292E3A"/>
                </a:solidFill>
                <a:latin typeface="Calibri"/>
              </a:rPr>
              <a:t>зелёный — точнее, красный — хуже.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80960" y="3858768"/>
            <a:ext cx="3867912" cy="1719072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680960" y="3858768"/>
            <a:ext cx="50800" cy="1719072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18704" y="4005072"/>
            <a:ext cx="35021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B2649"/>
                </a:solidFill>
                <a:latin typeface="Calibri"/>
              </a:rPr>
              <a:t>Как читать карту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18704" y="4425696"/>
            <a:ext cx="3447288" cy="10424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500" b="1" i="0">
                <a:solidFill>
                  <a:srgbClr val="2E7D6B"/>
                </a:solidFill>
                <a:latin typeface="Calibri"/>
              </a:rPr>
              <a:t>▬  </a:t>
            </a:r>
            <a:r>
              <a:rPr sz="1300" b="1" i="0">
                <a:solidFill>
                  <a:srgbClr val="292E3A"/>
                </a:solidFill>
                <a:latin typeface="Calibri"/>
              </a:rPr>
              <a:t>Верхние строки — </a:t>
            </a:r>
            <a:r>
              <a:rPr sz="1300" b="0" i="0">
                <a:solidFill>
                  <a:srgbClr val="292E3A"/>
                </a:solidFill>
                <a:latin typeface="Calibri"/>
              </a:rPr>
              <a:t>классика (Auto-ARIMA, ETS, S. Naive) в топе.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500" b="1" i="0">
                <a:solidFill>
                  <a:srgbClr val="9B59B6"/>
                </a:solidFill>
                <a:latin typeface="Calibri"/>
              </a:rPr>
              <a:t>▬  </a:t>
            </a:r>
            <a:r>
              <a:rPr sz="1300" b="1" i="0">
                <a:solidFill>
                  <a:srgbClr val="292E3A"/>
                </a:solidFill>
                <a:latin typeface="Calibri"/>
              </a:rPr>
              <a:t>TimesNet </a:t>
            </a:r>
            <a:r>
              <a:rPr sz="1300" b="0" i="0">
                <a:solidFill>
                  <a:srgbClr val="292E3A"/>
                </a:solidFill>
                <a:latin typeface="Calibri"/>
              </a:rPr>
              <a:t>— единственная нейросеть рядом с лидерами.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5779008"/>
            <a:ext cx="10908792" cy="566928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5779008"/>
            <a:ext cx="50800" cy="566928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852160"/>
            <a:ext cx="1554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5A40"/>
                </a:solidFill>
                <a:latin typeface="Calibri"/>
              </a:rPr>
              <a:t>ВЫВОД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65960" y="5779008"/>
            <a:ext cx="9418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92E3A"/>
                </a:solidFill>
                <a:latin typeface="Calibri"/>
              </a:rPr>
              <a:t>При обучении на одном ряде классика устойчиво лидирует во всех категориях; среди нейросетей выделяется только TimesNet.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5024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35024"/>
            <a:ext cx="12191695" cy="3810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96926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Длина обучающей выборки как фактор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05256"/>
            <a:ext cx="9509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B7C2DE"/>
                </a:solidFill>
                <a:latin typeface="Calibri"/>
              </a:rPr>
              <a:t>Раздел 3. Пороговая зависимость качества от длины ряда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771632" y="384048"/>
            <a:ext cx="1024128" cy="457200"/>
          </a:xfrm>
          <a:prstGeom prst="roundRect">
            <a:avLst/>
          </a:prstGeom>
          <a:solidFill>
            <a:srgbClr val="2E3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71632" y="475488"/>
            <a:ext cx="102412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11 / 22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37376"/>
            <a:ext cx="10908792" cy="9525"/>
          </a:xfrm>
          <a:prstGeom prst="rect">
            <a:avLst/>
          </a:prstGeom>
          <a:solidFill>
            <a:srgbClr val="D7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66E82"/>
                </a:solidFill>
                <a:latin typeface="Calibri"/>
              </a:rPr>
              <a:t>Прогнозирование временных рядов · ВКР · Лазарев А.К. · 2026</a:t>
            </a:r>
          </a:p>
        </p:txBody>
      </p:sp>
      <p:pic>
        <p:nvPicPr>
          <p:cNvPr id="11" name="Picture 10" descr="bar_m4_daily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55923"/>
            <a:ext cx="6858000" cy="2820473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680960" y="1554480"/>
            <a:ext cx="3867912" cy="2103120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680960" y="1554480"/>
            <a:ext cx="50800" cy="210312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36992" y="1700784"/>
            <a:ext cx="35021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B2649"/>
                </a:solidFill>
                <a:latin typeface="Calibri"/>
              </a:rPr>
              <a:t>Пороговый эффект (≈ 50–100 набл.)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36992" y="2139696"/>
            <a:ext cx="3410712" cy="1389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292E3A"/>
                </a:solidFill>
                <a:latin typeface="Calibri"/>
              </a:rPr>
              <a:t>Короткие ряды. </a:t>
            </a:r>
            <a:r>
              <a:rPr sz="1300" b="0" i="0">
                <a:solidFill>
                  <a:srgbClr val="292E3A"/>
                </a:solidFill>
                <a:latin typeface="Calibri"/>
              </a:rPr>
              <a:t>Уверенно лидирует классика.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292E3A"/>
                </a:solidFill>
                <a:latin typeface="Calibri"/>
              </a:rPr>
              <a:t>Длинные M4 daily. </a:t>
            </a:r>
            <a:r>
              <a:rPr sz="1300" b="0" i="0">
                <a:solidFill>
                  <a:srgbClr val="292E3A"/>
                </a:solidFill>
                <a:latin typeface="Calibri"/>
              </a:rPr>
              <a:t>Нейросети догоняют классику.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80960" y="3767328"/>
            <a:ext cx="3867912" cy="1810512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680960" y="3767328"/>
            <a:ext cx="50800" cy="1810512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18704" y="3913632"/>
            <a:ext cx="35021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B2649"/>
                </a:solidFill>
                <a:latin typeface="Calibri"/>
              </a:rPr>
              <a:t>Значения sMAPE на диаграмме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18704" y="4334256"/>
            <a:ext cx="3447288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500" b="1" i="0">
                <a:solidFill>
                  <a:srgbClr val="C0392B"/>
                </a:solidFill>
                <a:latin typeface="Calibri"/>
              </a:rPr>
              <a:t>▬  </a:t>
            </a:r>
            <a:r>
              <a:rPr sz="1300" b="1" i="0">
                <a:solidFill>
                  <a:srgbClr val="292E3A"/>
                </a:solidFill>
                <a:latin typeface="Calibri"/>
              </a:rPr>
              <a:t>Auto-ARIMA 3.22 · ETS 3.46 </a:t>
            </a:r>
            <a:r>
              <a:rPr sz="1300" b="0" i="0">
                <a:solidFill>
                  <a:srgbClr val="292E3A"/>
                </a:solidFill>
                <a:latin typeface="Calibri"/>
              </a:rPr>
              <a:t>— классика (лидеры).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500" b="1" i="0">
                <a:solidFill>
                  <a:srgbClr val="9B59B6"/>
                </a:solidFill>
                <a:latin typeface="Calibri"/>
              </a:rPr>
              <a:t>▬  </a:t>
            </a:r>
            <a:r>
              <a:rPr sz="1300" b="1" i="0">
                <a:solidFill>
                  <a:srgbClr val="292E3A"/>
                </a:solidFill>
                <a:latin typeface="Calibri"/>
              </a:rPr>
              <a:t>TimesNet 3.62 </a:t>
            </a:r>
            <a:r>
              <a:rPr sz="1300" b="0" i="0">
                <a:solidFill>
                  <a:srgbClr val="292E3A"/>
                </a:solidFill>
                <a:latin typeface="Calibri"/>
              </a:rPr>
              <a:t>— уже на уровне классики.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500" b="1" i="0">
                <a:solidFill>
                  <a:srgbClr val="27AE60"/>
                </a:solidFill>
                <a:latin typeface="Calibri"/>
              </a:rPr>
              <a:t>▬  </a:t>
            </a:r>
            <a:r>
              <a:rPr sz="1300" b="1" i="0">
                <a:solidFill>
                  <a:srgbClr val="292E3A"/>
                </a:solidFill>
                <a:latin typeface="Calibri"/>
              </a:rPr>
              <a:t>PatchTST, N-BEATS, Helformer </a:t>
            </a:r>
            <a:r>
              <a:rPr sz="1300" b="0" i="0">
                <a:solidFill>
                  <a:srgbClr val="292E3A"/>
                </a:solidFill>
                <a:latin typeface="Calibri"/>
              </a:rPr>
              <a:t>≈ 4.5 — близкая группа.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5779008"/>
            <a:ext cx="10908792" cy="566928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5779008"/>
            <a:ext cx="50800" cy="566928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852160"/>
            <a:ext cx="1554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5A40"/>
                </a:solidFill>
                <a:latin typeface="Calibri"/>
              </a:rPr>
              <a:t>ВЫВОД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65960" y="5779008"/>
            <a:ext cx="9418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92E3A"/>
                </a:solidFill>
                <a:latin typeface="Calibri"/>
              </a:rPr>
              <a:t>Есть пороговая длина выборки: ниже неё лидирует классика, выше — нейросети выходят на её уровень.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5024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35024"/>
            <a:ext cx="12191695" cy="3810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96926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Предобучение: эффект переноса знаний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05256"/>
            <a:ext cx="9509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B7C2DE"/>
                </a:solidFill>
                <a:latin typeface="Calibri"/>
              </a:rPr>
              <a:t>Раздел 3. Относительное улучшение sMAPE по моделям и частотам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771632" y="384048"/>
            <a:ext cx="1024128" cy="457200"/>
          </a:xfrm>
          <a:prstGeom prst="roundRect">
            <a:avLst/>
          </a:prstGeom>
          <a:solidFill>
            <a:srgbClr val="2E3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71632" y="475488"/>
            <a:ext cx="102412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12 / 22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37376"/>
            <a:ext cx="10908792" cy="9525"/>
          </a:xfrm>
          <a:prstGeom prst="rect">
            <a:avLst/>
          </a:prstGeom>
          <a:solidFill>
            <a:srgbClr val="D7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66E82"/>
                </a:solidFill>
                <a:latin typeface="Calibri"/>
              </a:rPr>
              <a:t>Прогнозирование временных рядов · ВКР · Лазарев А.К. · 2026</a:t>
            </a:r>
          </a:p>
        </p:txBody>
      </p:sp>
      <p:pic>
        <p:nvPicPr>
          <p:cNvPr id="11" name="Picture 10" descr="pretrain_effect_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474568"/>
            <a:ext cx="7040880" cy="2137462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863840" y="1554480"/>
            <a:ext cx="3685032" cy="3977639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863840" y="1554480"/>
            <a:ext cx="50800" cy="3977639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9244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E07A5F"/>
                </a:solidFill>
                <a:latin typeface="Calibri"/>
              </a:rPr>
              <a:t>СРЕДНИЙ ВЫИГРЫШ sMAPE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92440" y="2194560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+31.5 %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92440" y="2706624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B7C2DE"/>
                </a:solidFill>
                <a:latin typeface="Calibri"/>
              </a:rPr>
              <a:t>DLinear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92440" y="3255264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+25.5 %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92440" y="376732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B7C2DE"/>
                </a:solidFill>
                <a:latin typeface="Calibri"/>
              </a:rPr>
              <a:t>Autoformer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92440" y="4315968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+18.2 %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92440" y="4828032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B7C2DE"/>
                </a:solidFill>
                <a:latin typeface="Calibri"/>
              </a:rPr>
              <a:t>Helformer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5779008"/>
            <a:ext cx="10908792" cy="566928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5779008"/>
            <a:ext cx="50800" cy="566928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5852160"/>
            <a:ext cx="1554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5A40"/>
                </a:solidFill>
                <a:latin typeface="Calibri"/>
              </a:rPr>
              <a:t>ВЫВОД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65960" y="5779008"/>
            <a:ext cx="9418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92E3A"/>
                </a:solidFill>
                <a:latin typeface="Calibri"/>
              </a:rPr>
              <a:t>Предобучение на корпусе рядов выводит ранее слабые нейросетевые модели на конкурентоспособный уровень.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5024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35024"/>
            <a:ext cx="12191695" cy="3810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96926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Предобучение: эффект на прогнозе ряда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05256"/>
            <a:ext cx="9509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B7C2DE"/>
                </a:solidFill>
                <a:latin typeface="Calibri"/>
              </a:rPr>
              <a:t>Раздел 3. Одна модель: обучение с нуля против предобучения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771632" y="384048"/>
            <a:ext cx="1024128" cy="457200"/>
          </a:xfrm>
          <a:prstGeom prst="roundRect">
            <a:avLst/>
          </a:prstGeom>
          <a:solidFill>
            <a:srgbClr val="2E3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71632" y="475488"/>
            <a:ext cx="102412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13 / 22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37376"/>
            <a:ext cx="10908792" cy="9525"/>
          </a:xfrm>
          <a:prstGeom prst="rect">
            <a:avLst/>
          </a:prstGeom>
          <a:solidFill>
            <a:srgbClr val="D7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66E82"/>
                </a:solidFill>
                <a:latin typeface="Calibri"/>
              </a:rPr>
              <a:t>Прогнозирование временных рядов · ВКР · Лазарев А.К. · 2026</a:t>
            </a:r>
          </a:p>
        </p:txBody>
      </p:sp>
      <p:pic>
        <p:nvPicPr>
          <p:cNvPr id="11" name="Picture 10" descr="pretrain_forecast_autoformer_D21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93663"/>
            <a:ext cx="7040880" cy="3744994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818120" y="1554480"/>
            <a:ext cx="3730752" cy="2697480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818120" y="1554480"/>
            <a:ext cx="50800" cy="269748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55864" y="1700784"/>
            <a:ext cx="33649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B2649"/>
                </a:solidFill>
                <a:latin typeface="Calibri"/>
              </a:rPr>
              <a:t>Линии на графике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55864" y="2121408"/>
            <a:ext cx="3310128" cy="2020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500" b="1" i="0">
                <a:solidFill>
                  <a:srgbClr val="95A3B2"/>
                </a:solidFill>
                <a:latin typeface="Calibri"/>
              </a:rPr>
              <a:t>▬  </a:t>
            </a:r>
            <a:r>
              <a:rPr sz="1300" b="1" i="0">
                <a:solidFill>
                  <a:srgbClr val="292E3A"/>
                </a:solidFill>
                <a:latin typeface="Calibri"/>
              </a:rPr>
              <a:t>Серая </a:t>
            </a:r>
            <a:r>
              <a:rPr sz="1300" b="0" i="0">
                <a:solidFill>
                  <a:srgbClr val="292E3A"/>
                </a:solidFill>
                <a:latin typeface="Calibri"/>
              </a:rPr>
              <a:t>— обучающая история.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500" b="1" i="0">
                <a:solidFill>
                  <a:srgbClr val="16181D"/>
                </a:solidFill>
                <a:latin typeface="Calibri"/>
              </a:rPr>
              <a:t>▬  </a:t>
            </a:r>
            <a:r>
              <a:rPr sz="1300" b="1" i="0">
                <a:solidFill>
                  <a:srgbClr val="292E3A"/>
                </a:solidFill>
                <a:latin typeface="Calibri"/>
              </a:rPr>
              <a:t>Чёрная </a:t>
            </a:r>
            <a:r>
              <a:rPr sz="1300" b="0" i="0">
                <a:solidFill>
                  <a:srgbClr val="292E3A"/>
                </a:solidFill>
                <a:latin typeface="Calibri"/>
              </a:rPr>
              <a:t>— фактические значения.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500" b="1" i="0">
                <a:solidFill>
                  <a:srgbClr val="E67E22"/>
                </a:solidFill>
                <a:latin typeface="Calibri"/>
              </a:rPr>
              <a:t>▬  </a:t>
            </a:r>
            <a:r>
              <a:rPr sz="1300" b="1" i="0">
                <a:solidFill>
                  <a:srgbClr val="292E3A"/>
                </a:solidFill>
                <a:latin typeface="Calibri"/>
              </a:rPr>
              <a:t>Оранжевый пунктир </a:t>
            </a:r>
            <a:r>
              <a:rPr sz="1300" b="0" i="0">
                <a:solidFill>
                  <a:srgbClr val="292E3A"/>
                </a:solidFill>
                <a:latin typeface="Calibri"/>
              </a:rPr>
              <a:t>— Autoformer с нуля, sMAPE 3.8 %.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500" b="1" i="0">
                <a:solidFill>
                  <a:srgbClr val="E67E22"/>
                </a:solidFill>
                <a:latin typeface="Calibri"/>
              </a:rPr>
              <a:t>▬  </a:t>
            </a:r>
            <a:r>
              <a:rPr sz="1300" b="1" i="0">
                <a:solidFill>
                  <a:srgbClr val="292E3A"/>
                </a:solidFill>
                <a:latin typeface="Calibri"/>
              </a:rPr>
              <a:t>Оранжевая сплошная </a:t>
            </a:r>
            <a:r>
              <a:rPr sz="1300" b="0" i="0">
                <a:solidFill>
                  <a:srgbClr val="292E3A"/>
                </a:solidFill>
                <a:latin typeface="Calibri"/>
              </a:rPr>
              <a:t>— Autoformer предобучен, sMAPE 1.0 %.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18120" y="4370832"/>
            <a:ext cx="3730752" cy="1207008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818120" y="4370832"/>
            <a:ext cx="50800" cy="1207008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74152" y="4517136"/>
            <a:ext cx="33649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B2649"/>
                </a:solidFill>
                <a:latin typeface="Calibri"/>
              </a:rPr>
              <a:t>Обратите внимание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74152" y="4956048"/>
            <a:ext cx="32735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300" b="0" i="0">
                <a:solidFill>
                  <a:srgbClr val="292E3A"/>
                </a:solidFill>
                <a:latin typeface="Calibri"/>
              </a:rPr>
              <a:t>Прогноз начинается от последней точки обучения — без разрыва.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5779008"/>
            <a:ext cx="10908792" cy="566928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5779008"/>
            <a:ext cx="50800" cy="566928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852160"/>
            <a:ext cx="1554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5A40"/>
                </a:solidFill>
                <a:latin typeface="Calibri"/>
              </a:rPr>
              <a:t>ВЫВОД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65960" y="5779008"/>
            <a:ext cx="9418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92E3A"/>
                </a:solidFill>
                <a:latin typeface="Calibri"/>
              </a:rPr>
              <a:t>Предобучение существенно повышает точность одной и той же модели — прогноз плотно следует факту.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5024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35024"/>
            <a:ext cx="12191695" cy="3810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96926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Прогноз крупно: предобученные нейросети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05256"/>
            <a:ext cx="9509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B7C2DE"/>
                </a:solidFill>
                <a:latin typeface="Calibri"/>
              </a:rPr>
              <a:t>Раздел 3. Ежедневный ряд D2111 — все модели на одном горизонте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771632" y="384048"/>
            <a:ext cx="1024128" cy="457200"/>
          </a:xfrm>
          <a:prstGeom prst="roundRect">
            <a:avLst/>
          </a:prstGeom>
          <a:solidFill>
            <a:srgbClr val="2E3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71632" y="475488"/>
            <a:ext cx="102412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14 / 22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37376"/>
            <a:ext cx="10908792" cy="9525"/>
          </a:xfrm>
          <a:prstGeom prst="rect">
            <a:avLst/>
          </a:prstGeom>
          <a:solidFill>
            <a:srgbClr val="D7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66E82"/>
                </a:solidFill>
                <a:latin typeface="Calibri"/>
              </a:rPr>
              <a:t>Прогнозирование временных рядов · ВКР · Лазарев А.К. · 2026</a:t>
            </a:r>
          </a:p>
        </p:txBody>
      </p:sp>
      <p:pic>
        <p:nvPicPr>
          <p:cNvPr id="11" name="Picture 10" descr="forecast_large_D21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79381"/>
            <a:ext cx="7680960" cy="3991846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8458200" y="1517904"/>
            <a:ext cx="3090672" cy="4114800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458200" y="1517904"/>
            <a:ext cx="50800" cy="411480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95944" y="1664208"/>
            <a:ext cx="27249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B2649"/>
                </a:solidFill>
                <a:latin typeface="Calibri"/>
              </a:rPr>
              <a:t>Модели и sMAPE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95944" y="2084832"/>
            <a:ext cx="2670048" cy="3438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500" b="1" i="0">
                <a:solidFill>
                  <a:srgbClr val="16181D"/>
                </a:solidFill>
                <a:latin typeface="Calibri"/>
              </a:rPr>
              <a:t>▬  </a:t>
            </a:r>
            <a:r>
              <a:rPr sz="1300" b="1" i="0">
                <a:solidFill>
                  <a:srgbClr val="292E3A"/>
                </a:solidFill>
                <a:latin typeface="Calibri"/>
              </a:rPr>
              <a:t>Факт </a:t>
            </a:r>
            <a:r>
              <a:rPr sz="1300" b="0" i="0">
                <a:solidFill>
                  <a:srgbClr val="292E3A"/>
                </a:solidFill>
                <a:latin typeface="Calibri"/>
              </a:rPr>
              <a:t>— чёрная жирная линия.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500" b="1" i="0">
                <a:solidFill>
                  <a:srgbClr val="27AE60"/>
                </a:solidFill>
                <a:latin typeface="Calibri"/>
              </a:rPr>
              <a:t>▬  </a:t>
            </a:r>
            <a:r>
              <a:rPr sz="1300" b="1" i="0">
                <a:solidFill>
                  <a:srgbClr val="292E3A"/>
                </a:solidFill>
                <a:latin typeface="Calibri"/>
              </a:rPr>
              <a:t>PatchTST </a:t>
            </a:r>
            <a:r>
              <a:rPr sz="1300" b="0" i="0">
                <a:solidFill>
                  <a:srgbClr val="292E3A"/>
                </a:solidFill>
                <a:latin typeface="Calibri"/>
              </a:rPr>
              <a:t>— 0.3 %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500" b="1" i="0">
                <a:solidFill>
                  <a:srgbClr val="16A085"/>
                </a:solidFill>
                <a:latin typeface="Calibri"/>
              </a:rPr>
              <a:t>▬  </a:t>
            </a:r>
            <a:r>
              <a:rPr sz="1300" b="1" i="0">
                <a:solidFill>
                  <a:srgbClr val="292E3A"/>
                </a:solidFill>
                <a:latin typeface="Calibri"/>
              </a:rPr>
              <a:t>FEDformer </a:t>
            </a:r>
            <a:r>
              <a:rPr sz="1300" b="0" i="0">
                <a:solidFill>
                  <a:srgbClr val="292E3A"/>
                </a:solidFill>
                <a:latin typeface="Calibri"/>
              </a:rPr>
              <a:t>— 0.6 %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500" b="1" i="0">
                <a:solidFill>
                  <a:srgbClr val="E91E63"/>
                </a:solidFill>
                <a:latin typeface="Calibri"/>
              </a:rPr>
              <a:t>▬  </a:t>
            </a:r>
            <a:r>
              <a:rPr sz="1300" b="1" i="0">
                <a:solidFill>
                  <a:srgbClr val="292E3A"/>
                </a:solidFill>
                <a:latin typeface="Calibri"/>
              </a:rPr>
              <a:t>Helformer </a:t>
            </a:r>
            <a:r>
              <a:rPr sz="1300" b="0" i="0">
                <a:solidFill>
                  <a:srgbClr val="292E3A"/>
                </a:solidFill>
                <a:latin typeface="Calibri"/>
              </a:rPr>
              <a:t>— 0.7 %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500" b="1" i="0">
                <a:solidFill>
                  <a:srgbClr val="E67E22"/>
                </a:solidFill>
                <a:latin typeface="Calibri"/>
              </a:rPr>
              <a:t>▬  </a:t>
            </a:r>
            <a:r>
              <a:rPr sz="1300" b="1" i="0">
                <a:solidFill>
                  <a:srgbClr val="292E3A"/>
                </a:solidFill>
                <a:latin typeface="Calibri"/>
              </a:rPr>
              <a:t>Autoformer </a:t>
            </a:r>
            <a:r>
              <a:rPr sz="1300" b="0" i="0">
                <a:solidFill>
                  <a:srgbClr val="292E3A"/>
                </a:solidFill>
                <a:latin typeface="Calibri"/>
              </a:rPr>
              <a:t>— 1.1 %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500" b="1" i="0">
                <a:solidFill>
                  <a:srgbClr val="C0392B"/>
                </a:solidFill>
                <a:latin typeface="Calibri"/>
              </a:rPr>
              <a:t>▬  </a:t>
            </a:r>
            <a:r>
              <a:rPr sz="1300" b="1" i="0">
                <a:solidFill>
                  <a:srgbClr val="292E3A"/>
                </a:solidFill>
                <a:latin typeface="Calibri"/>
              </a:rPr>
              <a:t>Auto-ARIMA </a:t>
            </a:r>
            <a:r>
              <a:rPr sz="1300" b="0" i="0">
                <a:solidFill>
                  <a:srgbClr val="292E3A"/>
                </a:solidFill>
                <a:latin typeface="Calibri"/>
              </a:rPr>
              <a:t>— 1.3 % (пунктир)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500" b="1" i="0">
                <a:solidFill>
                  <a:srgbClr val="D4881A"/>
                </a:solidFill>
                <a:latin typeface="Calibri"/>
              </a:rPr>
              <a:t>▬  </a:t>
            </a:r>
            <a:r>
              <a:rPr sz="1300" b="1" i="0">
                <a:solidFill>
                  <a:srgbClr val="292E3A"/>
                </a:solidFill>
                <a:latin typeface="Calibri"/>
              </a:rPr>
              <a:t>ETS </a:t>
            </a:r>
            <a:r>
              <a:rPr sz="1300" b="0" i="0">
                <a:solidFill>
                  <a:srgbClr val="292E3A"/>
                </a:solidFill>
                <a:latin typeface="Calibri"/>
              </a:rPr>
              <a:t>— 1.3 % (пунктир)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779008"/>
            <a:ext cx="10908792" cy="566928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5779008"/>
            <a:ext cx="50800" cy="566928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852160"/>
            <a:ext cx="1554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5A40"/>
                </a:solidFill>
                <a:latin typeface="Calibri"/>
              </a:rPr>
              <a:t>ВЫВОД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65960" y="5779008"/>
            <a:ext cx="9418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92E3A"/>
                </a:solidFill>
                <a:latin typeface="Calibri"/>
              </a:rPr>
              <a:t>Предобученные нейросети (сплошные) точнее классических ARIMA и ETS (пунктир) и плотно повторяют факт.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5024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35024"/>
            <a:ext cx="12191695" cy="3810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96926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Сводное сравнение: sMAPE по категориям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05256"/>
            <a:ext cx="9509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B7C2DE"/>
                </a:solidFill>
                <a:latin typeface="Calibri"/>
              </a:rPr>
              <a:t>Раздел 3. Предобученные нейросети и классические модели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771632" y="384048"/>
            <a:ext cx="1024128" cy="457200"/>
          </a:xfrm>
          <a:prstGeom prst="roundRect">
            <a:avLst/>
          </a:prstGeom>
          <a:solidFill>
            <a:srgbClr val="2E3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71632" y="475488"/>
            <a:ext cx="102412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15 / 22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37376"/>
            <a:ext cx="10908792" cy="9525"/>
          </a:xfrm>
          <a:prstGeom prst="rect">
            <a:avLst/>
          </a:prstGeom>
          <a:solidFill>
            <a:srgbClr val="D7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66E82"/>
                </a:solidFill>
                <a:latin typeface="Calibri"/>
              </a:rPr>
              <a:t>Прогнозирование временных рядов · ВКР · Лазарев А.К. · 2026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1591056"/>
          <a:ext cx="10913364" cy="274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00400"/>
                <a:gridCol w="1101852"/>
                <a:gridCol w="1101852"/>
                <a:gridCol w="1101852"/>
                <a:gridCol w="1101852"/>
                <a:gridCol w="1101852"/>
                <a:gridCol w="1101852"/>
                <a:gridCol w="1101852"/>
              </a:tblGrid>
              <a:tr h="21101">
                <a:tc>
                  <a:txBody>
                    <a:bodyPr/>
                    <a:lstStyle/>
                    <a:p>
                      <a:pPr algn="l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Модель</a:t>
                      </a:r>
                    </a:p>
                  </a:txBody>
                  <a:tcPr marL="63500" marR="50800" marT="25400" marB="25400" anchor="ctr">
                    <a:solidFill>
                      <a:srgbClr val="1B264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M3-Y</a:t>
                      </a:r>
                    </a:p>
                  </a:txBody>
                  <a:tcPr marL="63500" marR="50800" marT="25400" marB="25400" anchor="ctr">
                    <a:solidFill>
                      <a:srgbClr val="1B264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M3-Q</a:t>
                      </a:r>
                    </a:p>
                  </a:txBody>
                  <a:tcPr marL="63500" marR="50800" marT="25400" marB="25400" anchor="ctr">
                    <a:solidFill>
                      <a:srgbClr val="1B264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M3-M</a:t>
                      </a:r>
                    </a:p>
                  </a:txBody>
                  <a:tcPr marL="63500" marR="50800" marT="25400" marB="25400" anchor="ctr">
                    <a:solidFill>
                      <a:srgbClr val="1B264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M4-Q</a:t>
                      </a:r>
                    </a:p>
                  </a:txBody>
                  <a:tcPr marL="63500" marR="50800" marT="25400" marB="25400" anchor="ctr">
                    <a:solidFill>
                      <a:srgbClr val="1B264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M4-M</a:t>
                      </a:r>
                    </a:p>
                  </a:txBody>
                  <a:tcPr marL="63500" marR="50800" marT="25400" marB="25400" anchor="ctr">
                    <a:solidFill>
                      <a:srgbClr val="1B264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M4-D</a:t>
                      </a:r>
                    </a:p>
                  </a:txBody>
                  <a:tcPr marL="63500" marR="50800" marT="25400" marB="25400" anchor="ctr">
                    <a:solidFill>
                      <a:srgbClr val="1B264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Ср.</a:t>
                      </a:r>
                    </a:p>
                  </a:txBody>
                  <a:tcPr marL="63500" marR="50800" marT="25400" marB="25400" anchor="ctr">
                    <a:solidFill>
                      <a:srgbClr val="1B2649"/>
                    </a:solidFill>
                  </a:tcPr>
                </a:tc>
              </a:tr>
              <a:tr h="21101">
                <a:tc gridSpan="8">
                  <a:txBody>
                    <a:bodyPr/>
                    <a:lstStyle/>
                    <a:p>
                      <a:pPr algn="l"/>
                      <a:r>
                        <a:rPr b="1" i="1" sz="1250">
                          <a:solidFill>
                            <a:srgbClr val="FFFFFF"/>
                          </a:solidFill>
                          <a:latin typeface="Calibri"/>
                        </a:rPr>
                        <a:t>Классические модели (per-series)</a:t>
                      </a:r>
                    </a:p>
                  </a:txBody>
                  <a:tcPr marL="63500" marR="50800" marT="25400" marB="25400" anchor="ctr">
                    <a:solidFill>
                      <a:srgbClr val="2E3D6B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b="1" i="1" sz="125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50800" marT="25400" marB="25400" anchor="ctr">
                    <a:solidFill>
                      <a:srgbClr val="2E3D6B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b="1" i="1" sz="125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50800" marT="25400" marB="25400" anchor="ctr">
                    <a:solidFill>
                      <a:srgbClr val="2E3D6B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b="1" i="1" sz="125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50800" marT="25400" marB="25400" anchor="ctr">
                    <a:solidFill>
                      <a:srgbClr val="2E3D6B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b="1" i="1" sz="125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50800" marT="25400" marB="25400" anchor="ctr">
                    <a:solidFill>
                      <a:srgbClr val="2E3D6B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b="1" i="1" sz="125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50800" marT="25400" marB="25400" anchor="ctr">
                    <a:solidFill>
                      <a:srgbClr val="2E3D6B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b="1" i="1" sz="125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50800" marT="25400" marB="25400" anchor="ctr">
                    <a:solidFill>
                      <a:srgbClr val="2E3D6B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b="1" i="1" sz="125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50800" marT="25400" marB="25400" anchor="ctr">
                    <a:solidFill>
                      <a:srgbClr val="2E3D6B"/>
                    </a:solidFill>
                  </a:tcPr>
                </a:tc>
              </a:tr>
              <a:tr h="21101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666E82"/>
                          </a:solidFill>
                          <a:latin typeface="Calibri"/>
                        </a:rPr>
                        <a:t>Auto-ARIMA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666E82"/>
                          </a:solidFill>
                          <a:latin typeface="Calibri"/>
                        </a:rPr>
                        <a:t>17.9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666E82"/>
                          </a:solidFill>
                          <a:latin typeface="Calibri"/>
                        </a:rPr>
                        <a:t>10.9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666E82"/>
                          </a:solidFill>
                          <a:latin typeface="Calibri"/>
                        </a:rPr>
                        <a:t>18.1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666E82"/>
                          </a:solidFill>
                          <a:latin typeface="Calibri"/>
                        </a:rPr>
                        <a:t>10.2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666E82"/>
                          </a:solidFill>
                          <a:latin typeface="Calibri"/>
                        </a:rPr>
                        <a:t>14.7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666E82"/>
                          </a:solidFill>
                          <a:latin typeface="Calibri"/>
                        </a:rPr>
                        <a:t>3.22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666E82"/>
                          </a:solidFill>
                          <a:latin typeface="Calibri"/>
                        </a:rPr>
                        <a:t>12.5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</a:tr>
              <a:tr h="21101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666E82"/>
                          </a:solidFill>
                          <a:latin typeface="Calibri"/>
                        </a:rPr>
                        <a:t>ETS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666E82"/>
                          </a:solidFill>
                          <a:latin typeface="Calibri"/>
                        </a:rPr>
                        <a:t>19.1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666E82"/>
                          </a:solidFill>
                          <a:latin typeface="Calibri"/>
                        </a:rPr>
                        <a:t>10.8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666E82"/>
                          </a:solidFill>
                          <a:latin typeface="Calibri"/>
                        </a:rPr>
                        <a:t>17.4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666E82"/>
                          </a:solidFill>
                          <a:latin typeface="Calibri"/>
                        </a:rPr>
                        <a:t>9.7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666E82"/>
                          </a:solidFill>
                          <a:latin typeface="Calibri"/>
                        </a:rPr>
                        <a:t>15.1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666E82"/>
                          </a:solidFill>
                          <a:latin typeface="Calibri"/>
                        </a:rPr>
                        <a:t>3.46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666E82"/>
                          </a:solidFill>
                          <a:latin typeface="Calibri"/>
                        </a:rPr>
                        <a:t>12.6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</a:tr>
              <a:tr h="21101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666E82"/>
                          </a:solidFill>
                          <a:latin typeface="Calibri"/>
                        </a:rPr>
                        <a:t>Seasonal Naive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666E82"/>
                          </a:solidFill>
                          <a:latin typeface="Calibri"/>
                        </a:rPr>
                        <a:t>17.9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666E82"/>
                          </a:solidFill>
                          <a:latin typeface="Calibri"/>
                        </a:rPr>
                        <a:t>11.1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666E82"/>
                          </a:solidFill>
                          <a:latin typeface="Calibri"/>
                        </a:rPr>
                        <a:t>17.2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666E82"/>
                          </a:solidFill>
                          <a:latin typeface="Calibri"/>
                        </a:rPr>
                        <a:t>12.2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666E82"/>
                          </a:solidFill>
                          <a:latin typeface="Calibri"/>
                        </a:rPr>
                        <a:t>15.9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666E82"/>
                          </a:solidFill>
                          <a:latin typeface="Calibri"/>
                        </a:rPr>
                        <a:t>4.05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666E82"/>
                          </a:solidFill>
                          <a:latin typeface="Calibri"/>
                        </a:rPr>
                        <a:t>13.0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</a:tr>
              <a:tr h="21101">
                <a:tc gridSpan="8">
                  <a:txBody>
                    <a:bodyPr/>
                    <a:lstStyle/>
                    <a:p>
                      <a:pPr algn="l"/>
                      <a:r>
                        <a:rPr b="1" i="1" sz="1250">
                          <a:solidFill>
                            <a:srgbClr val="FFFFFF"/>
                          </a:solidFill>
                          <a:latin typeface="Calibri"/>
                        </a:rPr>
                        <a:t>Нейросетевые модели (с предобучением)</a:t>
                      </a:r>
                    </a:p>
                  </a:txBody>
                  <a:tcPr marL="63500" marR="50800" marT="25400" marB="25400" anchor="ctr">
                    <a:solidFill>
                      <a:srgbClr val="2E3D6B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b="1" i="1" sz="125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50800" marT="25400" marB="25400" anchor="ctr">
                    <a:solidFill>
                      <a:srgbClr val="2E3D6B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b="1" i="1" sz="125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50800" marT="25400" marB="25400" anchor="ctr">
                    <a:solidFill>
                      <a:srgbClr val="2E3D6B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b="1" i="1" sz="125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50800" marT="25400" marB="25400" anchor="ctr">
                    <a:solidFill>
                      <a:srgbClr val="2E3D6B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b="1" i="1" sz="125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50800" marT="25400" marB="25400" anchor="ctr">
                    <a:solidFill>
                      <a:srgbClr val="2E3D6B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b="1" i="1" sz="125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50800" marT="25400" marB="25400" anchor="ctr">
                    <a:solidFill>
                      <a:srgbClr val="2E3D6B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b="1" i="1" sz="125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50800" marT="25400" marB="25400" anchor="ctr">
                    <a:solidFill>
                      <a:srgbClr val="2E3D6B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b="1" i="1" sz="125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50800" marT="25400" marB="25400" anchor="ctr">
                    <a:solidFill>
                      <a:srgbClr val="2E3D6B"/>
                    </a:solidFill>
                  </a:tcPr>
                </a:tc>
              </a:tr>
              <a:tr h="21101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92E3A"/>
                          </a:solidFill>
                          <a:latin typeface="Calibri"/>
                        </a:rPr>
                        <a:t>DLinear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23.7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12.7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C25A40"/>
                          </a:solidFill>
                          <a:latin typeface="Calibri"/>
                        </a:rPr>
                        <a:t>14.0</a:t>
                      </a:r>
                    </a:p>
                  </a:txBody>
                  <a:tcPr marL="63500" marR="50800" marT="25400" marB="25400" anchor="ctr">
                    <a:solidFill>
                      <a:srgbClr val="FCE9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15.4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17.2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C25A40"/>
                          </a:solidFill>
                          <a:latin typeface="Calibri"/>
                        </a:rPr>
                        <a:t>2.44</a:t>
                      </a:r>
                    </a:p>
                  </a:txBody>
                  <a:tcPr marL="63500" marR="50800" marT="25400" marB="25400" anchor="ctr">
                    <a:solidFill>
                      <a:srgbClr val="FCE9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14.2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</a:tr>
              <a:tr h="21101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92E3A"/>
                          </a:solidFill>
                          <a:latin typeface="Calibri"/>
                        </a:rPr>
                        <a:t>TimesNet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25.1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12.4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C25A40"/>
                          </a:solidFill>
                          <a:latin typeface="Calibri"/>
                        </a:rPr>
                        <a:t>13.7</a:t>
                      </a:r>
                    </a:p>
                  </a:txBody>
                  <a:tcPr marL="63500" marR="50800" marT="25400" marB="25400" anchor="ctr">
                    <a:solidFill>
                      <a:srgbClr val="FCE9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22.5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17.2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C25A40"/>
                          </a:solidFill>
                          <a:latin typeface="Calibri"/>
                        </a:rPr>
                        <a:t>2.46</a:t>
                      </a:r>
                    </a:p>
                  </a:txBody>
                  <a:tcPr marL="63500" marR="50800" marT="25400" marB="25400" anchor="ctr">
                    <a:solidFill>
                      <a:srgbClr val="FCE9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15.6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</a:tr>
              <a:tr h="21101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92E3A"/>
                          </a:solidFill>
                          <a:latin typeface="Calibri"/>
                        </a:rPr>
                        <a:t>PatchTST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23.1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15.1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C25A40"/>
                          </a:solidFill>
                          <a:latin typeface="Calibri"/>
                        </a:rPr>
                        <a:t>15.2</a:t>
                      </a:r>
                    </a:p>
                  </a:txBody>
                  <a:tcPr marL="63500" marR="50800" marT="25400" marB="25400" anchor="ctr">
                    <a:solidFill>
                      <a:srgbClr val="FCE9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19.6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17.5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C25A40"/>
                          </a:solidFill>
                          <a:latin typeface="Calibri"/>
                        </a:rPr>
                        <a:t>2.36</a:t>
                      </a:r>
                    </a:p>
                  </a:txBody>
                  <a:tcPr marL="63500" marR="50800" marT="25400" marB="25400" anchor="ctr">
                    <a:solidFill>
                      <a:srgbClr val="FCE9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15.5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</a:tr>
              <a:tr h="21101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92E3A"/>
                          </a:solidFill>
                          <a:latin typeface="Calibri"/>
                        </a:rPr>
                        <a:t>Autoformer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23.4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13.8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C25A40"/>
                          </a:solidFill>
                          <a:latin typeface="Calibri"/>
                        </a:rPr>
                        <a:t>15.1</a:t>
                      </a:r>
                    </a:p>
                  </a:txBody>
                  <a:tcPr marL="63500" marR="50800" marT="25400" marB="25400" anchor="ctr">
                    <a:solidFill>
                      <a:srgbClr val="FCE9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20.1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16.3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C25A40"/>
                          </a:solidFill>
                          <a:latin typeface="Calibri"/>
                        </a:rPr>
                        <a:t>2.81</a:t>
                      </a:r>
                    </a:p>
                  </a:txBody>
                  <a:tcPr marL="63500" marR="50800" marT="25400" marB="25400" anchor="ctr">
                    <a:solidFill>
                      <a:srgbClr val="FCE9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15.3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</a:tr>
              <a:tr h="21101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92E3A"/>
                          </a:solidFill>
                          <a:latin typeface="Calibri"/>
                        </a:rPr>
                        <a:t>FEDformer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22.8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15.8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C25A40"/>
                          </a:solidFill>
                          <a:latin typeface="Calibri"/>
                        </a:rPr>
                        <a:t>16.3</a:t>
                      </a:r>
                    </a:p>
                  </a:txBody>
                  <a:tcPr marL="63500" marR="50800" marT="25400" marB="25400" anchor="ctr">
                    <a:solidFill>
                      <a:srgbClr val="FCE9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19.6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15.6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C25A40"/>
                          </a:solidFill>
                          <a:latin typeface="Calibri"/>
                        </a:rPr>
                        <a:t>4.16</a:t>
                      </a:r>
                    </a:p>
                  </a:txBody>
                  <a:tcPr marL="63500" marR="50800" marT="25400" marB="25400" anchor="ctr">
                    <a:solidFill>
                      <a:srgbClr val="FCE9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15.7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</a:tr>
              <a:tr h="21101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92E3A"/>
                          </a:solidFill>
                          <a:latin typeface="Calibri"/>
                        </a:rPr>
                        <a:t>N-BEATS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23.8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14.4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C25A40"/>
                          </a:solidFill>
                          <a:latin typeface="Calibri"/>
                        </a:rPr>
                        <a:t>17.3</a:t>
                      </a:r>
                    </a:p>
                  </a:txBody>
                  <a:tcPr marL="63500" marR="50800" marT="25400" marB="25400" anchor="ctr">
                    <a:solidFill>
                      <a:srgbClr val="FCE9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21.5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18.3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C25A40"/>
                          </a:solidFill>
                          <a:latin typeface="Calibri"/>
                        </a:rPr>
                        <a:t>3.20</a:t>
                      </a:r>
                    </a:p>
                  </a:txBody>
                  <a:tcPr marL="63500" marR="50800" marT="25400" marB="25400" anchor="ctr">
                    <a:solidFill>
                      <a:srgbClr val="FCE9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16.4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</a:tr>
              <a:tr h="2110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92E3A"/>
                          </a:solidFill>
                          <a:latin typeface="Calibri"/>
                        </a:rPr>
                        <a:t>Helformer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29.8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21.4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C25A40"/>
                          </a:solidFill>
                          <a:latin typeface="Calibri"/>
                        </a:rPr>
                        <a:t>23.0</a:t>
                      </a:r>
                    </a:p>
                  </a:txBody>
                  <a:tcPr marL="63500" marR="50800" marT="25400" marB="25400" anchor="ctr">
                    <a:solidFill>
                      <a:srgbClr val="FCE9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20.5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46.3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C25A40"/>
                          </a:solidFill>
                          <a:latin typeface="Calibri"/>
                        </a:rPr>
                        <a:t>2.87</a:t>
                      </a:r>
                    </a:p>
                  </a:txBody>
                  <a:tcPr marL="63500" marR="50800" marT="25400" marB="25400" anchor="ctr">
                    <a:solidFill>
                      <a:srgbClr val="FCE9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24.0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40080" y="5907024"/>
            <a:ext cx="10908792" cy="566928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5907024"/>
            <a:ext cx="50800" cy="566928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980176"/>
            <a:ext cx="1554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5A40"/>
                </a:solidFill>
                <a:latin typeface="Calibri"/>
              </a:rPr>
              <a:t>ВЫВОД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65960" y="5907024"/>
            <a:ext cx="9418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92E3A"/>
                </a:solidFill>
                <a:latin typeface="Calibri"/>
              </a:rPr>
              <a:t>На M3 monthly и M4 daily (выделено) предобученные нейросети превосходят лучшую классику; на коротких рядах классика сохраняет преимущество.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5024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35024"/>
            <a:ext cx="12191695" cy="3810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96926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Анализ отдельных временных рядов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05256"/>
            <a:ext cx="9509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B7C2DE"/>
                </a:solidFill>
                <a:latin typeface="Calibri"/>
              </a:rPr>
              <a:t>Раздел 3. Массовый характер преимущества нейросетей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771632" y="384048"/>
            <a:ext cx="1024128" cy="457200"/>
          </a:xfrm>
          <a:prstGeom prst="roundRect">
            <a:avLst/>
          </a:prstGeom>
          <a:solidFill>
            <a:srgbClr val="2E3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71632" y="475488"/>
            <a:ext cx="102412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16 / 22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37376"/>
            <a:ext cx="10908792" cy="9525"/>
          </a:xfrm>
          <a:prstGeom prst="rect">
            <a:avLst/>
          </a:prstGeom>
          <a:solidFill>
            <a:srgbClr val="D7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66E82"/>
                </a:solidFill>
                <a:latin typeface="Calibri"/>
              </a:rPr>
              <a:t>Прогнозирование временных рядов · ВКР · Лазарев А.К. · 2026</a:t>
            </a:r>
          </a:p>
        </p:txBody>
      </p:sp>
      <p:pic>
        <p:nvPicPr>
          <p:cNvPr id="11" name="Picture 10" descr="forecast_cherry_D20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45708"/>
            <a:ext cx="7040880" cy="3659192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818120" y="1517904"/>
            <a:ext cx="3730752" cy="2468880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818120" y="1517904"/>
            <a:ext cx="50800" cy="246888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55864" y="1664208"/>
            <a:ext cx="33649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B2649"/>
                </a:solidFill>
                <a:latin typeface="Calibri"/>
              </a:rPr>
              <a:t>Линии на графике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55864" y="2084832"/>
            <a:ext cx="3310128" cy="1792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500" b="1" i="0">
                <a:solidFill>
                  <a:srgbClr val="16181D"/>
                </a:solidFill>
                <a:latin typeface="Calibri"/>
              </a:rPr>
              <a:t>▬  </a:t>
            </a:r>
            <a:r>
              <a:rPr sz="1300" b="1" i="0">
                <a:solidFill>
                  <a:srgbClr val="292E3A"/>
                </a:solidFill>
                <a:latin typeface="Calibri"/>
              </a:rPr>
              <a:t>Факт </a:t>
            </a:r>
            <a:r>
              <a:rPr sz="1300" b="0" i="0">
                <a:solidFill>
                  <a:srgbClr val="292E3A"/>
                </a:solidFill>
                <a:latin typeface="Calibri"/>
              </a:rPr>
              <a:t>— чёрная линия.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500" b="1" i="0">
                <a:solidFill>
                  <a:srgbClr val="8E44AD"/>
                </a:solidFill>
                <a:latin typeface="Calibri"/>
              </a:rPr>
              <a:t>▬  </a:t>
            </a:r>
            <a:r>
              <a:rPr sz="1300" b="1" i="0">
                <a:solidFill>
                  <a:srgbClr val="292E3A"/>
                </a:solidFill>
                <a:latin typeface="Calibri"/>
              </a:rPr>
              <a:t>N-BEATS </a:t>
            </a:r>
            <a:r>
              <a:rPr sz="1300" b="0" i="0">
                <a:solidFill>
                  <a:srgbClr val="292E3A"/>
                </a:solidFill>
                <a:latin typeface="Calibri"/>
              </a:rPr>
              <a:t>— 3.1 %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500" b="1" i="0">
                <a:solidFill>
                  <a:srgbClr val="27AE60"/>
                </a:solidFill>
                <a:latin typeface="Calibri"/>
              </a:rPr>
              <a:t>▬  </a:t>
            </a:r>
            <a:r>
              <a:rPr sz="1300" b="1" i="0">
                <a:solidFill>
                  <a:srgbClr val="292E3A"/>
                </a:solidFill>
                <a:latin typeface="Calibri"/>
              </a:rPr>
              <a:t>PatchTST </a:t>
            </a:r>
            <a:r>
              <a:rPr sz="1300" b="0" i="0">
                <a:solidFill>
                  <a:srgbClr val="292E3A"/>
                </a:solidFill>
                <a:latin typeface="Calibri"/>
              </a:rPr>
              <a:t>— 4.5 %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500" b="1" i="0">
                <a:solidFill>
                  <a:srgbClr val="3498DB"/>
                </a:solidFill>
                <a:latin typeface="Calibri"/>
              </a:rPr>
              <a:t>▬  </a:t>
            </a:r>
            <a:r>
              <a:rPr sz="1300" b="1" i="0">
                <a:solidFill>
                  <a:srgbClr val="292E3A"/>
                </a:solidFill>
                <a:latin typeface="Calibri"/>
              </a:rPr>
              <a:t>DLinear </a:t>
            </a:r>
            <a:r>
              <a:rPr sz="1300" b="0" i="0">
                <a:solidFill>
                  <a:srgbClr val="292E3A"/>
                </a:solidFill>
                <a:latin typeface="Calibri"/>
              </a:rPr>
              <a:t>— 6.0 %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500" b="1" i="0">
                <a:solidFill>
                  <a:srgbClr val="C0392B"/>
                </a:solidFill>
                <a:latin typeface="Calibri"/>
              </a:rPr>
              <a:t>▬  </a:t>
            </a:r>
            <a:r>
              <a:rPr sz="1300" b="1" i="0">
                <a:solidFill>
                  <a:srgbClr val="292E3A"/>
                </a:solidFill>
                <a:latin typeface="Calibri"/>
              </a:rPr>
              <a:t>Auto-ARIMA </a:t>
            </a:r>
            <a:r>
              <a:rPr sz="1300" b="0" i="0">
                <a:solidFill>
                  <a:srgbClr val="292E3A"/>
                </a:solidFill>
                <a:latin typeface="Calibri"/>
              </a:rPr>
              <a:t>— 11.2 % (пунктир)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18120" y="4114800"/>
            <a:ext cx="3730752" cy="1463040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818120" y="4114800"/>
            <a:ext cx="50800" cy="146304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0" y="4242816"/>
            <a:ext cx="1463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FFFFFF"/>
                </a:solidFill>
                <a:latin typeface="Calibri"/>
              </a:rPr>
              <a:t>517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64040" y="4261104"/>
            <a:ext cx="1920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B7C2DE"/>
                </a:solidFill>
                <a:latin typeface="Calibri"/>
              </a:rPr>
              <a:t>из 1000 ежедневных рядов M4 — нейросеть точнее классики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992624"/>
            <a:ext cx="1463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FFFFFF"/>
                </a:solidFill>
                <a:latin typeface="Calibri"/>
              </a:rPr>
              <a:t>295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64040" y="5029200"/>
            <a:ext cx="1920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B7C2DE"/>
                </a:solidFill>
                <a:latin typeface="Calibri"/>
              </a:rPr>
              <a:t>рядов — побеждают 3+ нейросетевые модели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5779008"/>
            <a:ext cx="10908792" cy="566928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5779008"/>
            <a:ext cx="50800" cy="566928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852160"/>
            <a:ext cx="1554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5A40"/>
                </a:solidFill>
                <a:latin typeface="Calibri"/>
              </a:rPr>
              <a:t>ВЫВОД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65960" y="5779008"/>
            <a:ext cx="9418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92E3A"/>
                </a:solidFill>
                <a:latin typeface="Calibri"/>
              </a:rPr>
              <a:t>Преимущество нейросетей на длинных рядах носит массовый, а не единичный характер.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5024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35024"/>
            <a:ext cx="12191695" cy="3810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96926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Итеративное прогнозирование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05256"/>
            <a:ext cx="9509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B7C2DE"/>
                </a:solidFill>
                <a:latin typeface="Calibri"/>
              </a:rPr>
              <a:t>Раздел 3. Устойчивость моделей к накоплению ошибки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771632" y="384048"/>
            <a:ext cx="1024128" cy="457200"/>
          </a:xfrm>
          <a:prstGeom prst="roundRect">
            <a:avLst/>
          </a:prstGeom>
          <a:solidFill>
            <a:srgbClr val="2E3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71632" y="475488"/>
            <a:ext cx="102412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17 / 22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37376"/>
            <a:ext cx="10908792" cy="9525"/>
          </a:xfrm>
          <a:prstGeom prst="rect">
            <a:avLst/>
          </a:prstGeom>
          <a:solidFill>
            <a:srgbClr val="D7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66E82"/>
                </a:solidFill>
                <a:latin typeface="Calibri"/>
              </a:rPr>
              <a:t>Прогнозирование временных рядов · ВКР · Лазарев А.К. ·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1627632"/>
            <a:ext cx="6675120" cy="3977639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1627632"/>
            <a:ext cx="50800" cy="3977639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1773936"/>
            <a:ext cx="6309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B2649"/>
                </a:solidFill>
                <a:latin typeface="Calibri"/>
              </a:rPr>
              <a:t>Деградация при переходе от прямого режима к итеративному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2212848"/>
            <a:ext cx="6217920" cy="32644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300"/>
              </a:spcAft>
            </a:pPr>
            <a:r>
              <a:rPr sz="145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450" b="1" i="0">
                <a:solidFill>
                  <a:srgbClr val="292E3A"/>
                </a:solidFill>
                <a:latin typeface="Calibri"/>
              </a:rPr>
              <a:t>Обучаемая декомпозиция уязвима. </a:t>
            </a:r>
            <a:r>
              <a:rPr sz="1450" b="0" i="0">
                <a:solidFill>
                  <a:srgbClr val="292E3A"/>
                </a:solidFill>
                <a:latin typeface="Calibri"/>
              </a:rPr>
              <a:t>FEDformer и TimesNet теряют ~5 п.п. sMAPE — компоненты искажаются на собственных прогнозах.</a:t>
            </a:r>
          </a:p>
          <a:p>
            <a:pPr algn="l">
              <a:lnSpc>
                <a:spcPct val="110000"/>
              </a:lnSpc>
              <a:spcAft>
                <a:spcPts val="1300"/>
              </a:spcAft>
            </a:pPr>
            <a:r>
              <a:rPr sz="145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450" b="1" i="0">
                <a:solidFill>
                  <a:srgbClr val="292E3A"/>
                </a:solidFill>
                <a:latin typeface="Calibri"/>
              </a:rPr>
              <a:t>PatchTST устойчив. </a:t>
            </a:r>
            <a:r>
              <a:rPr sz="1450" b="0" i="0">
                <a:solidFill>
                  <a:srgbClr val="292E3A"/>
                </a:solidFill>
                <a:latin typeface="Calibri"/>
              </a:rPr>
              <a:t>Наименьшая деградация: работает с патчами без явного разделения на компоненты.</a:t>
            </a:r>
          </a:p>
          <a:p>
            <a:pPr algn="l">
              <a:lnSpc>
                <a:spcPct val="110000"/>
              </a:lnSpc>
              <a:spcAft>
                <a:spcPts val="1300"/>
              </a:spcAft>
            </a:pPr>
            <a:r>
              <a:rPr sz="145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450" b="1" i="0">
                <a:solidFill>
                  <a:srgbClr val="292E3A"/>
                </a:solidFill>
                <a:latin typeface="Calibri"/>
              </a:rPr>
              <a:t>Классика стабильна. </a:t>
            </a:r>
            <a:r>
              <a:rPr sz="1450" b="0" i="0">
                <a:solidFill>
                  <a:srgbClr val="292E3A"/>
                </a:solidFill>
                <a:latin typeface="Calibri"/>
              </a:rPr>
              <a:t>ETS и Auto-ARIMA почти нечувствительны — рекуррентность заложена в модель.</a:t>
            </a:r>
          </a:p>
          <a:p>
            <a:pPr algn="l">
              <a:lnSpc>
                <a:spcPct val="110000"/>
              </a:lnSpc>
              <a:spcAft>
                <a:spcPts val="1300"/>
              </a:spcAft>
            </a:pPr>
            <a:r>
              <a:rPr sz="145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450" b="1" i="0">
                <a:solidFill>
                  <a:srgbClr val="292E3A"/>
                </a:solidFill>
                <a:latin typeface="Calibri"/>
              </a:rPr>
              <a:t>Закономерность. </a:t>
            </a:r>
            <a:r>
              <a:rPr sz="1450" b="0" i="0">
                <a:solidFill>
                  <a:srgbClr val="292E3A"/>
                </a:solidFill>
                <a:latin typeface="Calibri"/>
              </a:rPr>
              <a:t>Чем сложнее обучаемое разложение, тем сильнее копится ошибка.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43800" y="1627632"/>
            <a:ext cx="4005072" cy="3977639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543800" y="1627632"/>
            <a:ext cx="50800" cy="3977639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1847088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07A5F"/>
                </a:solidFill>
                <a:latin typeface="Calibri"/>
              </a:rPr>
              <a:t>СЛЕДСТВИЕ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286000"/>
            <a:ext cx="361188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FFFFFF"/>
                </a:solidFill>
                <a:latin typeface="Calibri"/>
              </a:rPr>
              <a:t>Сложная обучаемая декомпозиция повышает риск накопления ошибки при многошаговом прогнозе. Для итеративных задач простые и классические модели предпочтительнее.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0" y="4526280"/>
            <a:ext cx="3383280" cy="12700"/>
          </a:xfrm>
          <a:prstGeom prst="rect">
            <a:avLst/>
          </a:prstGeom>
          <a:solidFill>
            <a:srgbClr val="2E3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681728"/>
            <a:ext cx="3611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E07A5F"/>
                </a:solidFill>
                <a:latin typeface="Calibri"/>
              </a:rPr>
              <a:t>Рекомендация: </a:t>
            </a:r>
            <a:r>
              <a:rPr sz="1400" b="0" i="0">
                <a:solidFill>
                  <a:srgbClr val="B7C2DE"/>
                </a:solidFill>
                <a:latin typeface="Calibri"/>
              </a:rPr>
              <a:t>выбор модели учитывает не только точность, но и режим её применения.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5779008"/>
            <a:ext cx="10908792" cy="566928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5779008"/>
            <a:ext cx="50800" cy="566928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5852160"/>
            <a:ext cx="1554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5A40"/>
                </a:solidFill>
                <a:latin typeface="Calibri"/>
              </a:rPr>
              <a:t>ВЫВОД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65960" y="5779008"/>
            <a:ext cx="9418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92E3A"/>
                </a:solidFill>
                <a:latin typeface="Calibri"/>
              </a:rPr>
              <a:t>Тип декомпозиции должен соответствовать режиму прогнозирования.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5024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35024"/>
            <a:ext cx="12191695" cy="3810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96926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Итеративное прогнозирование: масштаб деградации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05256"/>
            <a:ext cx="9509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B7C2DE"/>
                </a:solidFill>
                <a:latin typeface="Calibri"/>
              </a:rPr>
              <a:t>Раздел 3. Прямой vs итеративный sMAPE по моделям (M3)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771632" y="384048"/>
            <a:ext cx="1024128" cy="457200"/>
          </a:xfrm>
          <a:prstGeom prst="roundRect">
            <a:avLst/>
          </a:prstGeom>
          <a:solidFill>
            <a:srgbClr val="2E3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71632" y="475488"/>
            <a:ext cx="102412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18 / 22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37376"/>
            <a:ext cx="10908792" cy="9525"/>
          </a:xfrm>
          <a:prstGeom prst="rect">
            <a:avLst/>
          </a:prstGeom>
          <a:solidFill>
            <a:srgbClr val="D7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66E82"/>
                </a:solidFill>
                <a:latin typeface="Calibri"/>
              </a:rPr>
              <a:t>Прогнозирование временных рядов · ВКР · Лазарев А.К. · 2026</a:t>
            </a:r>
          </a:p>
        </p:txBody>
      </p:sp>
      <p:pic>
        <p:nvPicPr>
          <p:cNvPr id="11" name="Picture 10" descr="rollout_degradation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016636"/>
            <a:ext cx="7040880" cy="3099048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818120" y="1554480"/>
            <a:ext cx="3730752" cy="2286000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818120" y="1554480"/>
            <a:ext cx="50800" cy="228600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55864" y="1700784"/>
            <a:ext cx="33649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B2649"/>
                </a:solidFill>
                <a:latin typeface="Calibri"/>
              </a:rPr>
              <a:t>Столбцы на диаграмме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55864" y="2121408"/>
            <a:ext cx="3310128" cy="1609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500" b="1" i="0">
                <a:solidFill>
                  <a:srgbClr val="1B2649"/>
                </a:solidFill>
                <a:latin typeface="Calibri"/>
              </a:rPr>
              <a:t>▬  </a:t>
            </a:r>
            <a:r>
              <a:rPr sz="1300" b="1" i="0">
                <a:solidFill>
                  <a:srgbClr val="292E3A"/>
                </a:solidFill>
                <a:latin typeface="Calibri"/>
              </a:rPr>
              <a:t>Синий </a:t>
            </a:r>
            <a:r>
              <a:rPr sz="1300" b="0" i="0">
                <a:solidFill>
                  <a:srgbClr val="292E3A"/>
                </a:solidFill>
                <a:latin typeface="Calibri"/>
              </a:rPr>
              <a:t>— прямой прогноз.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500" b="1" i="0">
                <a:solidFill>
                  <a:srgbClr val="E07A5F"/>
                </a:solidFill>
                <a:latin typeface="Calibri"/>
              </a:rPr>
              <a:t>▬  </a:t>
            </a:r>
            <a:r>
              <a:rPr sz="1300" b="1" i="0">
                <a:solidFill>
                  <a:srgbClr val="292E3A"/>
                </a:solidFill>
                <a:latin typeface="Calibri"/>
              </a:rPr>
              <a:t>Оранжевый </a:t>
            </a:r>
            <a:r>
              <a:rPr sz="1300" b="0" i="0">
                <a:solidFill>
                  <a:srgbClr val="292E3A"/>
                </a:solidFill>
                <a:latin typeface="Calibri"/>
              </a:rPr>
              <a:t>— итеративный прогноз.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18120" y="3950208"/>
            <a:ext cx="3730752" cy="1627632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818120" y="3950208"/>
            <a:ext cx="50800" cy="1627632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74152" y="4096512"/>
            <a:ext cx="33649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B2649"/>
                </a:solidFill>
                <a:latin typeface="Calibri"/>
              </a:rPr>
              <a:t>Что видно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74152" y="4535424"/>
            <a:ext cx="327355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292E3A"/>
                </a:solidFill>
                <a:latin typeface="Calibri"/>
              </a:rPr>
              <a:t>Классика </a:t>
            </a:r>
            <a:r>
              <a:rPr sz="1300" b="0" i="0">
                <a:solidFill>
                  <a:srgbClr val="292E3A"/>
                </a:solidFill>
                <a:latin typeface="Calibri"/>
              </a:rPr>
              <a:t>(S. Naive, ARIMA, ETS) — деградации нет.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292E3A"/>
                </a:solidFill>
                <a:latin typeface="Calibri"/>
              </a:rPr>
              <a:t>FEDformer, Autoformer, TimesNet </a:t>
            </a:r>
            <a:r>
              <a:rPr sz="1300" b="0" i="0">
                <a:solidFill>
                  <a:srgbClr val="292E3A"/>
                </a:solidFill>
                <a:latin typeface="Calibri"/>
              </a:rPr>
              <a:t>теряют 4–6 п.п. sMAPE.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5779008"/>
            <a:ext cx="10908792" cy="566928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5779008"/>
            <a:ext cx="50800" cy="566928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852160"/>
            <a:ext cx="1554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5A40"/>
                </a:solidFill>
                <a:latin typeface="Calibri"/>
              </a:rPr>
              <a:t>ВЫВОД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65960" y="5779008"/>
            <a:ext cx="9418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92E3A"/>
                </a:solidFill>
                <a:latin typeface="Calibri"/>
              </a:rPr>
              <a:t>Чем сложнее обучаемая декомпозиция, тем сильнее накопление ошибки; классика к режиму нечувствительна.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5024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35024"/>
            <a:ext cx="12191695" cy="3810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96926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Выводы по работе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05256"/>
            <a:ext cx="9509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B7C2DE"/>
                </a:solidFill>
                <a:latin typeface="Calibri"/>
              </a:rPr>
              <a:t>Раздел 4. Основные результаты исследования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771632" y="384048"/>
            <a:ext cx="1024128" cy="457200"/>
          </a:xfrm>
          <a:prstGeom prst="roundRect">
            <a:avLst/>
          </a:prstGeom>
          <a:solidFill>
            <a:srgbClr val="2E3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71632" y="475488"/>
            <a:ext cx="102412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19 / 22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37376"/>
            <a:ext cx="10908792" cy="9525"/>
          </a:xfrm>
          <a:prstGeom prst="rect">
            <a:avLst/>
          </a:prstGeom>
          <a:solidFill>
            <a:srgbClr val="D7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66E82"/>
                </a:solidFill>
                <a:latin typeface="Calibri"/>
              </a:rPr>
              <a:t>Прогнозирование временных рядов · ВКР · Лазарев А.К. ·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1591056"/>
            <a:ext cx="10908792" cy="859536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1591056"/>
            <a:ext cx="50800" cy="859536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680" y="1783080"/>
            <a:ext cx="512064" cy="512064"/>
          </a:xfrm>
          <a:prstGeom prst="ellipse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1856232"/>
            <a:ext cx="5120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1709928"/>
            <a:ext cx="32004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1B2649"/>
                </a:solidFill>
                <a:latin typeface="Calibri"/>
              </a:rPr>
              <a:t>Длина обучающей выборки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92040" y="1682496"/>
            <a:ext cx="64922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 i="0">
                <a:solidFill>
                  <a:srgbClr val="292E3A"/>
                </a:solidFill>
                <a:latin typeface="Calibri"/>
              </a:rPr>
              <a:t>Определяющий фактор. Ниже ≈ 50–100 наблюдений — ETS и Auto-ARIMA; выше — нейросети конкурентоспособны.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505456"/>
            <a:ext cx="10908792" cy="859536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2505456"/>
            <a:ext cx="50800" cy="859536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680" y="2697480"/>
            <a:ext cx="512064" cy="512064"/>
          </a:xfrm>
          <a:prstGeom prst="ellipse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2770632"/>
            <a:ext cx="5120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00200" y="2624328"/>
            <a:ext cx="32004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1B2649"/>
                </a:solidFill>
                <a:latin typeface="Calibri"/>
              </a:rPr>
              <a:t>TimesNet — лучшая нейросеть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92040" y="2596896"/>
            <a:ext cx="64922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 i="0">
                <a:solidFill>
                  <a:srgbClr val="292E3A"/>
                </a:solidFill>
                <a:latin typeface="Calibri"/>
              </a:rPr>
              <a:t>В режиме обучения на одном ряде: обучаемая 2D-декомпозиция эффективна при достаточном объёме данных.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3419856"/>
            <a:ext cx="10908792" cy="859536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3419856"/>
            <a:ext cx="50800" cy="859536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68680" y="3611880"/>
            <a:ext cx="512064" cy="512064"/>
          </a:xfrm>
          <a:prstGeom prst="ellipse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3685032"/>
            <a:ext cx="5120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00200" y="3538728"/>
            <a:ext cx="32004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1B2649"/>
                </a:solidFill>
                <a:latin typeface="Calibri"/>
              </a:rPr>
              <a:t>Предобучение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92040" y="3511296"/>
            <a:ext cx="64922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 i="0">
                <a:solidFill>
                  <a:srgbClr val="292E3A"/>
                </a:solidFill>
                <a:latin typeface="Calibri"/>
              </a:rPr>
              <a:t>Повышает качество нейросетей на 18–32 % и выводит их на уровень и выше классики на M3 monthly и M4 daily.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334256"/>
            <a:ext cx="10908792" cy="859536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" y="4334256"/>
            <a:ext cx="50800" cy="859536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68680" y="4526280"/>
            <a:ext cx="512064" cy="512064"/>
          </a:xfrm>
          <a:prstGeom prst="ellipse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4599432"/>
            <a:ext cx="5120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00200" y="4453128"/>
            <a:ext cx="32004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1B2649"/>
                </a:solidFill>
                <a:latin typeface="Calibri"/>
              </a:rPr>
              <a:t>Тип декомпозиции и режим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92040" y="4425696"/>
            <a:ext cx="64922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 i="0">
                <a:solidFill>
                  <a:srgbClr val="292E3A"/>
                </a:solidFill>
                <a:latin typeface="Calibri"/>
              </a:rPr>
              <a:t>Фиксированная устойчивее, обучаемая адаптивнее, но хрупка при итеративном прогнозе.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5248656"/>
            <a:ext cx="10908792" cy="859536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40080" y="5248656"/>
            <a:ext cx="50800" cy="859536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68680" y="5440680"/>
            <a:ext cx="512064" cy="512064"/>
          </a:xfrm>
          <a:prstGeom prst="ellipse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5513832"/>
            <a:ext cx="5120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00200" y="5367528"/>
            <a:ext cx="32004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1B2649"/>
                </a:solidFill>
                <a:latin typeface="Calibri"/>
              </a:rPr>
              <a:t>Общий вывод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92040" y="5340096"/>
            <a:ext cx="64922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 i="0">
                <a:solidFill>
                  <a:srgbClr val="292E3A"/>
                </a:solidFill>
                <a:latin typeface="Calibri"/>
              </a:rPr>
              <a:t>Эффективность нейросетевых механизмов не абсолютна — её определяют длина ряда, режим обучения и объём данных.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5024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35024"/>
            <a:ext cx="12191695" cy="3810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96926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Когда строить сложные модели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05256"/>
            <a:ext cx="9509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B7C2DE"/>
                </a:solidFill>
                <a:latin typeface="Calibri"/>
              </a:rPr>
              <a:t>Раздел 4. Практические рекомендации по выбору модели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771632" y="384048"/>
            <a:ext cx="1024128" cy="457200"/>
          </a:xfrm>
          <a:prstGeom prst="roundRect">
            <a:avLst/>
          </a:prstGeom>
          <a:solidFill>
            <a:srgbClr val="2E3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71632" y="475488"/>
            <a:ext cx="102412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20 / 22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37376"/>
            <a:ext cx="10908792" cy="9525"/>
          </a:xfrm>
          <a:prstGeom prst="rect">
            <a:avLst/>
          </a:prstGeom>
          <a:solidFill>
            <a:srgbClr val="D7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66E82"/>
                </a:solidFill>
                <a:latin typeface="Calibri"/>
              </a:rPr>
              <a:t>Прогнозирование временных рядов · ВКР · Лазарев А.К. ·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1627632"/>
            <a:ext cx="3840480" cy="457200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627632"/>
            <a:ext cx="354787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50" b="1" i="0">
                <a:solidFill>
                  <a:srgbClr val="FFFFFF"/>
                </a:solidFill>
                <a:latin typeface="Calibri"/>
              </a:rPr>
              <a:t>Сценарий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0" y="1627632"/>
            <a:ext cx="3291840" cy="457200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627632"/>
            <a:ext cx="299923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50" b="1" i="0">
                <a:solidFill>
                  <a:srgbClr val="FFFFFF"/>
                </a:solidFill>
                <a:latin typeface="Calibri"/>
              </a:rPr>
              <a:t>Что выбрать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0" y="1627632"/>
            <a:ext cx="3776472" cy="457200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6992" y="1627632"/>
            <a:ext cx="34838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50" b="1" i="0">
                <a:solidFill>
                  <a:srgbClr val="FFFFFF"/>
                </a:solidFill>
                <a:latin typeface="Calibri"/>
              </a:rPr>
              <a:t>Почему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103120"/>
            <a:ext cx="3840480" cy="676656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2103120"/>
            <a:ext cx="354787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0" i="0">
                <a:solidFill>
                  <a:srgbClr val="292E3A"/>
                </a:solidFill>
                <a:latin typeface="Calibri"/>
              </a:rPr>
              <a:t>Короткие ряды (годовые, месячные)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60" y="2103120"/>
            <a:ext cx="3291840" cy="676656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45152" y="2103120"/>
            <a:ext cx="299923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1" i="0">
                <a:solidFill>
                  <a:srgbClr val="1B2649"/>
                </a:solidFill>
                <a:latin typeface="Calibri"/>
              </a:rPr>
              <a:t>Классика: ETS / Auto-ARIMA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0" y="2103120"/>
            <a:ext cx="3776472" cy="676656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36992" y="2103120"/>
            <a:ext cx="3483864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0" i="0">
                <a:solidFill>
                  <a:srgbClr val="292E3A"/>
                </a:solidFill>
                <a:latin typeface="Calibri"/>
              </a:rPr>
              <a:t>Нейросети не успевают обучиться на малой истории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2798064"/>
            <a:ext cx="3840480" cy="676656"/>
          </a:xfrm>
          <a:prstGeom prst="rect">
            <a:avLst/>
          </a:prstGeom>
          <a:solidFill>
            <a:srgbClr val="FCE9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" y="2798064"/>
            <a:ext cx="354787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0" i="0">
                <a:solidFill>
                  <a:srgbClr val="292E3A"/>
                </a:solidFill>
                <a:latin typeface="Calibri"/>
              </a:rPr>
              <a:t>Длинные ряды (ежедневные, недельные)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80560" y="2798064"/>
            <a:ext cx="3291840" cy="676656"/>
          </a:xfrm>
          <a:prstGeom prst="rect">
            <a:avLst/>
          </a:prstGeom>
          <a:solidFill>
            <a:srgbClr val="FCE9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45152" y="2798064"/>
            <a:ext cx="299923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1" i="0">
                <a:solidFill>
                  <a:srgbClr val="C25A40"/>
                </a:solidFill>
                <a:latin typeface="Calibri"/>
              </a:rPr>
              <a:t>Нейросети с предобучением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0" y="2798064"/>
            <a:ext cx="3776472" cy="676656"/>
          </a:xfrm>
          <a:prstGeom prst="rect">
            <a:avLst/>
          </a:prstGeom>
          <a:solidFill>
            <a:srgbClr val="FCE9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36992" y="2798064"/>
            <a:ext cx="3483864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0" i="0">
                <a:solidFill>
                  <a:srgbClr val="292E3A"/>
                </a:solidFill>
                <a:latin typeface="Calibri"/>
              </a:rPr>
              <a:t>Длина раскрывает обучаемую декомпозицию и дальние зависимости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3493008"/>
            <a:ext cx="3840480" cy="676656"/>
          </a:xfrm>
          <a:prstGeom prst="rect">
            <a:avLst/>
          </a:prstGeom>
          <a:solidFill>
            <a:srgbClr val="FCE9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4672" y="3493008"/>
            <a:ext cx="354787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0" i="0">
                <a:solidFill>
                  <a:srgbClr val="292E3A"/>
                </a:solidFill>
                <a:latin typeface="Calibri"/>
              </a:rPr>
              <a:t>Есть корпус похожих рядов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480560" y="3493008"/>
            <a:ext cx="3291840" cy="676656"/>
          </a:xfrm>
          <a:prstGeom prst="rect">
            <a:avLst/>
          </a:prstGeom>
          <a:solidFill>
            <a:srgbClr val="FCE9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45152" y="3493008"/>
            <a:ext cx="299923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1" i="0">
                <a:solidFill>
                  <a:srgbClr val="C25A40"/>
                </a:solidFill>
                <a:latin typeface="Calibri"/>
              </a:rPr>
              <a:t>Предобучение + дообучение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772400" y="3493008"/>
            <a:ext cx="3776472" cy="676656"/>
          </a:xfrm>
          <a:prstGeom prst="rect">
            <a:avLst/>
          </a:prstGeom>
          <a:solidFill>
            <a:srgbClr val="FCE9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36992" y="3493008"/>
            <a:ext cx="3483864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0" i="0">
                <a:solidFill>
                  <a:srgbClr val="292E3A"/>
                </a:solidFill>
                <a:latin typeface="Calibri"/>
              </a:rPr>
              <a:t>Перенос знаний даёт +18–32 % к качеству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4187952"/>
            <a:ext cx="3840480" cy="676656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4672" y="4187952"/>
            <a:ext cx="354787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0" i="0">
                <a:solidFill>
                  <a:srgbClr val="292E3A"/>
                </a:solidFill>
                <a:latin typeface="Calibri"/>
              </a:rPr>
              <a:t>Итеративный (rollout) прогноз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480560" y="4187952"/>
            <a:ext cx="3291840" cy="676656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645152" y="4187952"/>
            <a:ext cx="299923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1" i="0">
                <a:solidFill>
                  <a:srgbClr val="1B2649"/>
                </a:solidFill>
                <a:latin typeface="Calibri"/>
              </a:rPr>
              <a:t>Простые / классические модели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72400" y="4187952"/>
            <a:ext cx="3776472" cy="676656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936992" y="4187952"/>
            <a:ext cx="3483864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0" i="0">
                <a:solidFill>
                  <a:srgbClr val="292E3A"/>
                </a:solidFill>
                <a:latin typeface="Calibri"/>
              </a:rPr>
              <a:t>Сложная обучаемая декомпозиция копит ошибку на горизонте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" y="4882896"/>
            <a:ext cx="3840480" cy="676656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04672" y="4882896"/>
            <a:ext cx="354787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0" i="0">
                <a:solidFill>
                  <a:srgbClr val="292E3A"/>
                </a:solidFill>
                <a:latin typeface="Calibri"/>
              </a:rPr>
              <a:t>Гладкий тренд без сезонности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480560" y="4882896"/>
            <a:ext cx="3291840" cy="676656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645152" y="4882896"/>
            <a:ext cx="299923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1" i="0">
                <a:solidFill>
                  <a:srgbClr val="1B2649"/>
                </a:solidFill>
                <a:latin typeface="Calibri"/>
              </a:rPr>
              <a:t>ETS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772400" y="4882896"/>
            <a:ext cx="3776472" cy="676656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936992" y="4882896"/>
            <a:ext cx="3483864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0" i="0">
                <a:solidFill>
                  <a:srgbClr val="292E3A"/>
                </a:solidFill>
                <a:latin typeface="Calibri"/>
              </a:rPr>
              <a:t>Сглаживание устойчиво к шуму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" y="5779008"/>
            <a:ext cx="10908792" cy="566928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40080" y="5779008"/>
            <a:ext cx="50800" cy="566928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14400" y="5852160"/>
            <a:ext cx="1554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5A40"/>
                </a:solidFill>
                <a:latin typeface="Calibri"/>
              </a:rPr>
              <a:t>ВЫВОД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965960" y="5779008"/>
            <a:ext cx="9418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92E3A"/>
                </a:solidFill>
                <a:latin typeface="Calibri"/>
              </a:rPr>
              <a:t>Сложная модель оправдана при длинных рядах, доступном корпусе для предобучения и прямом (не итеративном) режиме.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5024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35024"/>
            <a:ext cx="12191695" cy="3810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96926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Список литературы (избранное)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05256"/>
            <a:ext cx="9509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B7C2DE"/>
                </a:solidFill>
                <a:latin typeface="Calibri"/>
              </a:rPr>
              <a:t>Раздел 5. Полный список — 51 источник в ВКР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771632" y="384048"/>
            <a:ext cx="1024128" cy="457200"/>
          </a:xfrm>
          <a:prstGeom prst="roundRect">
            <a:avLst/>
          </a:prstGeom>
          <a:solidFill>
            <a:srgbClr val="2E3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71632" y="475488"/>
            <a:ext cx="102412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21 / 22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37376"/>
            <a:ext cx="10908792" cy="9525"/>
          </a:xfrm>
          <a:prstGeom prst="rect">
            <a:avLst/>
          </a:prstGeom>
          <a:solidFill>
            <a:srgbClr val="D7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66E82"/>
                </a:solidFill>
                <a:latin typeface="Calibri"/>
              </a:rPr>
              <a:t>Прогнозирование временных рядов · ВКР · Лазарев А.К. ·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691640"/>
            <a:ext cx="53949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sz="1150" b="1" i="0">
                <a:solidFill>
                  <a:srgbClr val="C25A40"/>
                </a:solidFill>
                <a:latin typeface="Calibri"/>
              </a:rPr>
              <a:t>1.  </a:t>
            </a:r>
            <a:r>
              <a:rPr sz="1150" b="0" i="0">
                <a:solidFill>
                  <a:srgbClr val="292E3A"/>
                </a:solidFill>
                <a:latin typeface="Calibri"/>
              </a:rPr>
              <a:t>Hyndman R.J., Athanasopoulos G. Forecasting: principles and practice. — OTexts, 2021.</a:t>
            </a:r>
          </a:p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sz="1150" b="1" i="0">
                <a:solidFill>
                  <a:srgbClr val="C25A40"/>
                </a:solidFill>
                <a:latin typeface="Calibri"/>
              </a:rPr>
              <a:t>2.  </a:t>
            </a:r>
            <a:r>
              <a:rPr sz="1150" b="0" i="0">
                <a:solidFill>
                  <a:srgbClr val="292E3A"/>
                </a:solidFill>
                <a:latin typeface="Calibri"/>
              </a:rPr>
              <a:t>Makridakis S. et al. The M4 Competition // Int. J. Forecasting. — 2020. — Vol. 36(1).</a:t>
            </a:r>
          </a:p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sz="1150" b="1" i="0">
                <a:solidFill>
                  <a:srgbClr val="C25A40"/>
                </a:solidFill>
                <a:latin typeface="Calibri"/>
              </a:rPr>
              <a:t>3.  </a:t>
            </a:r>
            <a:r>
              <a:rPr sz="1150" b="0" i="0">
                <a:solidFill>
                  <a:srgbClr val="292E3A"/>
                </a:solidFill>
                <a:latin typeface="Calibri"/>
              </a:rPr>
              <a:t>Makridakis S., Hibon M. The M3-Competition // Int. J. Forecasting. — 2000. — Vol. 16(4).</a:t>
            </a:r>
          </a:p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sz="1150" b="1" i="0">
                <a:solidFill>
                  <a:srgbClr val="C25A40"/>
                </a:solidFill>
                <a:latin typeface="Calibri"/>
              </a:rPr>
              <a:t>4.  </a:t>
            </a:r>
            <a:r>
              <a:rPr sz="1150" b="0" i="0">
                <a:solidFill>
                  <a:srgbClr val="292E3A"/>
                </a:solidFill>
                <a:latin typeface="Calibri"/>
              </a:rPr>
              <a:t>Cleveland R.B. et al. STL: A Seasonal-Trend Decomposition Procedure. — 1990.</a:t>
            </a:r>
          </a:p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sz="1150" b="1" i="0">
                <a:solidFill>
                  <a:srgbClr val="C25A40"/>
                </a:solidFill>
                <a:latin typeface="Calibri"/>
              </a:rPr>
              <a:t>5.  </a:t>
            </a:r>
            <a:r>
              <a:rPr sz="1150" b="0" i="0">
                <a:solidFill>
                  <a:srgbClr val="292E3A"/>
                </a:solidFill>
                <a:latin typeface="Calibri"/>
              </a:rPr>
              <a:t>Hyndman R.J. et al. A state space framework for automatic forecasting. — 2002.</a:t>
            </a:r>
          </a:p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sz="1150" b="1" i="0">
                <a:solidFill>
                  <a:srgbClr val="C25A40"/>
                </a:solidFill>
                <a:latin typeface="Calibri"/>
              </a:rPr>
              <a:t>6.  </a:t>
            </a:r>
            <a:r>
              <a:rPr sz="1150" b="0" i="0">
                <a:solidFill>
                  <a:srgbClr val="292E3A"/>
                </a:solidFill>
                <a:latin typeface="Calibri"/>
              </a:rPr>
              <a:t>Taylor S.J., Letham B. Forecasting at scale // The American Statistician. — 2018.</a:t>
            </a:r>
          </a:p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sz="1150" b="1" i="0">
                <a:solidFill>
                  <a:srgbClr val="C25A40"/>
                </a:solidFill>
                <a:latin typeface="Calibri"/>
              </a:rPr>
              <a:t>7.  </a:t>
            </a:r>
            <a:r>
              <a:rPr sz="1150" b="0" i="0">
                <a:solidFill>
                  <a:srgbClr val="292E3A"/>
                </a:solidFill>
                <a:latin typeface="Calibri"/>
              </a:rPr>
              <a:t>Zeng A. et al. Are Transformers Effective for Time Series Forecasting? (DLinear) // AAAI. — 2023.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89904" y="1783080"/>
            <a:ext cx="9525" cy="4114800"/>
          </a:xfrm>
          <a:prstGeom prst="rect">
            <a:avLst/>
          </a:prstGeom>
          <a:solidFill>
            <a:srgbClr val="D7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1691640"/>
            <a:ext cx="53949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sz="1150" b="1" i="0">
                <a:solidFill>
                  <a:srgbClr val="C25A40"/>
                </a:solidFill>
                <a:latin typeface="Calibri"/>
              </a:rPr>
              <a:t>8.  </a:t>
            </a:r>
            <a:r>
              <a:rPr sz="1150" b="0" i="0">
                <a:solidFill>
                  <a:srgbClr val="292E3A"/>
                </a:solidFill>
                <a:latin typeface="Calibri"/>
              </a:rPr>
              <a:t>Oreshkin B.N. et al. N-BEATS. — arXiv:1905.10437, 2020.</a:t>
            </a:r>
          </a:p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sz="1150" b="1" i="0">
                <a:solidFill>
                  <a:srgbClr val="C25A40"/>
                </a:solidFill>
                <a:latin typeface="Calibri"/>
              </a:rPr>
              <a:t>9.  </a:t>
            </a:r>
            <a:r>
              <a:rPr sz="1150" b="0" i="0">
                <a:solidFill>
                  <a:srgbClr val="292E3A"/>
                </a:solidFill>
                <a:latin typeface="Calibri"/>
              </a:rPr>
              <a:t>Wu H. et al. TimesNet: Temporal 2D-Variation Modeling. — ICLR, 2023.</a:t>
            </a:r>
          </a:p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sz="1150" b="1" i="0">
                <a:solidFill>
                  <a:srgbClr val="C25A40"/>
                </a:solidFill>
                <a:latin typeface="Calibri"/>
              </a:rPr>
              <a:t>10.  </a:t>
            </a:r>
            <a:r>
              <a:rPr sz="1150" b="0" i="0">
                <a:solidFill>
                  <a:srgbClr val="292E3A"/>
                </a:solidFill>
                <a:latin typeface="Calibri"/>
              </a:rPr>
              <a:t>Wu H. et al. Autoformer: Decomposition Transformers with Auto-Correlation. — NeurIPS, 2021.</a:t>
            </a:r>
          </a:p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sz="1150" b="1" i="0">
                <a:solidFill>
                  <a:srgbClr val="C25A40"/>
                </a:solidFill>
                <a:latin typeface="Calibri"/>
              </a:rPr>
              <a:t>11.  </a:t>
            </a:r>
            <a:r>
              <a:rPr sz="1150" b="0" i="0">
                <a:solidFill>
                  <a:srgbClr val="292E3A"/>
                </a:solidFill>
                <a:latin typeface="Calibri"/>
              </a:rPr>
              <a:t>Zhou T. et al. FEDformer // ICML. — 2022.</a:t>
            </a:r>
          </a:p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sz="1150" b="1" i="0">
                <a:solidFill>
                  <a:srgbClr val="C25A40"/>
                </a:solidFill>
                <a:latin typeface="Calibri"/>
              </a:rPr>
              <a:t>12.  </a:t>
            </a:r>
            <a:r>
              <a:rPr sz="1150" b="0" i="0">
                <a:solidFill>
                  <a:srgbClr val="292E3A"/>
                </a:solidFill>
                <a:latin typeface="Calibri"/>
              </a:rPr>
              <a:t>Nie Y. et al. A Time Series is Worth 64 Words (PatchTST). — ICLR, 2023.</a:t>
            </a:r>
          </a:p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sz="1150" b="1" i="0">
                <a:solidFill>
                  <a:srgbClr val="C25A40"/>
                </a:solidFill>
                <a:latin typeface="Calibri"/>
              </a:rPr>
              <a:t>13.  </a:t>
            </a:r>
            <a:r>
              <a:rPr sz="1150" b="0" i="0">
                <a:solidFill>
                  <a:srgbClr val="292E3A"/>
                </a:solidFill>
                <a:latin typeface="Calibri"/>
              </a:rPr>
              <a:t>Kehinde T.O. et al. Helformer // J. Big Data. — 2025.</a:t>
            </a:r>
          </a:p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sz="1150" b="1" i="0">
                <a:solidFill>
                  <a:srgbClr val="C25A40"/>
                </a:solidFill>
                <a:latin typeface="Calibri"/>
              </a:rPr>
              <a:t>14.  </a:t>
            </a:r>
            <a:r>
              <a:rPr sz="1150" b="0" i="0">
                <a:solidFill>
                  <a:srgbClr val="292E3A"/>
                </a:solidFill>
                <a:latin typeface="Calibri"/>
              </a:rPr>
              <a:t>Vaswani A. et al. Attention Is All You Need. — NeurIPS, 2017.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5897880"/>
            <a:ext cx="10908792" cy="566928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5897880"/>
            <a:ext cx="50800" cy="566928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971032"/>
            <a:ext cx="1554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5A40"/>
                </a:solidFill>
                <a:latin typeface="Calibri"/>
              </a:rPr>
              <a:t>ВЫВОД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65960" y="5897880"/>
            <a:ext cx="9418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92E3A"/>
                </a:solidFill>
                <a:latin typeface="Calibri"/>
              </a:rPr>
              <a:t>Полный пронумерованный список из 51 источника по ГОСТ Р 7.0.5-2008 приведён в тексте ВКР.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68680" y="3703320"/>
            <a:ext cx="4023360" cy="3175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33172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 i="0">
                <a:solidFill>
                  <a:srgbClr val="FFFFFF"/>
                </a:solidFill>
                <a:latin typeface="Calibri"/>
              </a:rPr>
              <a:t>Спасибо за внимание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977639"/>
            <a:ext cx="10424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1">
                <a:solidFill>
                  <a:srgbClr val="B7C2DE"/>
                </a:solidFill>
                <a:latin typeface="Calibri"/>
              </a:rPr>
              <a:t>Прогнозирование временных рядов за счёт обучаемой декомпозиции и нейросетевых механизмов учёта долгосрочных зависимостей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07492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Лазарев А.К. · КМБО-03-22 · Научный руководитель — Петрусевич Д.А.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53212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B7C2DE"/>
                </a:solidFill>
                <a:latin typeface="Calibri"/>
              </a:rPr>
              <a:t>Готов ответить на вопросы комиссии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5024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35024"/>
            <a:ext cx="12191695" cy="3810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96926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Себестоимость проекта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05256"/>
            <a:ext cx="9509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B7C2DE"/>
                </a:solidFill>
                <a:latin typeface="Calibri"/>
              </a:rPr>
              <a:t>Экономическая часть · калькуляция разработки сервиса «ГМ-ПВР»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771632" y="384048"/>
            <a:ext cx="1024128" cy="457200"/>
          </a:xfrm>
          <a:prstGeom prst="roundRect">
            <a:avLst/>
          </a:prstGeom>
          <a:solidFill>
            <a:srgbClr val="2E3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71632" y="475488"/>
            <a:ext cx="102412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Доп. 1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37376"/>
            <a:ext cx="10908792" cy="9525"/>
          </a:xfrm>
          <a:prstGeom prst="rect">
            <a:avLst/>
          </a:prstGeom>
          <a:solidFill>
            <a:srgbClr val="D7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66E82"/>
                </a:solidFill>
                <a:latin typeface="Calibri"/>
              </a:rPr>
              <a:t>Прогнозирование временных рядов · ВКР · Лазарев А.К. ·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1627632"/>
            <a:ext cx="3749039" cy="457200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1627632"/>
            <a:ext cx="3493007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Статья затрат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19" y="1627632"/>
            <a:ext cx="1920240" cy="457200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35423" y="1627632"/>
            <a:ext cx="166420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Затраты, ₽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59" y="1627632"/>
            <a:ext cx="1371600" cy="457200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3" y="1627632"/>
            <a:ext cx="11155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Доля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098548"/>
            <a:ext cx="3749039" cy="475488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" y="2098548"/>
            <a:ext cx="3493007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292E3A"/>
                </a:solidFill>
                <a:latin typeface="Calibri"/>
              </a:rPr>
              <a:t>Материалы и расходники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89119" y="2098548"/>
            <a:ext cx="1920240" cy="475488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35423" y="2098548"/>
            <a:ext cx="166420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292E3A"/>
                </a:solidFill>
                <a:latin typeface="Calibri"/>
              </a:rPr>
              <a:t>5 210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9359" y="2098548"/>
            <a:ext cx="1371600" cy="475488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3" y="2098548"/>
            <a:ext cx="111556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292E3A"/>
                </a:solidFill>
                <a:latin typeface="Calibri"/>
              </a:rPr>
              <a:t>0,6 %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2587752"/>
            <a:ext cx="3749039" cy="475488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6384" y="2587752"/>
            <a:ext cx="3493007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292E3A"/>
                </a:solidFill>
                <a:latin typeface="Calibri"/>
              </a:rPr>
              <a:t>Спец. оборудование (GPU, хранение)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119" y="2587752"/>
            <a:ext cx="1920240" cy="475488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35423" y="2587752"/>
            <a:ext cx="166420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292E3A"/>
                </a:solidFill>
                <a:latin typeface="Calibri"/>
              </a:rPr>
              <a:t>27 000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9359" y="2587752"/>
            <a:ext cx="1371600" cy="475488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55663" y="2587752"/>
            <a:ext cx="111556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292E3A"/>
                </a:solidFill>
                <a:latin typeface="Calibri"/>
              </a:rPr>
              <a:t>3,0 %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3076956"/>
            <a:ext cx="3749039" cy="475488"/>
          </a:xfrm>
          <a:prstGeom prst="rect">
            <a:avLst/>
          </a:prstGeom>
          <a:solidFill>
            <a:srgbClr val="FCE9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6384" y="3076956"/>
            <a:ext cx="3493007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92E3A"/>
                </a:solidFill>
                <a:latin typeface="Calibri"/>
              </a:rPr>
              <a:t>Основная заработная плата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119" y="3076956"/>
            <a:ext cx="1920240" cy="475488"/>
          </a:xfrm>
          <a:prstGeom prst="rect">
            <a:avLst/>
          </a:prstGeom>
          <a:solidFill>
            <a:srgbClr val="FCE9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35423" y="3076956"/>
            <a:ext cx="166420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C25A40"/>
                </a:solidFill>
                <a:latin typeface="Calibri"/>
              </a:rPr>
              <a:t>240 830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09359" y="3076956"/>
            <a:ext cx="1371600" cy="475488"/>
          </a:xfrm>
          <a:prstGeom prst="rect">
            <a:avLst/>
          </a:prstGeom>
          <a:solidFill>
            <a:srgbClr val="FCE9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55663" y="3076956"/>
            <a:ext cx="111556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C25A40"/>
                </a:solidFill>
                <a:latin typeface="Calibri"/>
              </a:rPr>
              <a:t>27,1 %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3566160"/>
            <a:ext cx="3749039" cy="475488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86384" y="3566160"/>
            <a:ext cx="3493007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292E3A"/>
                </a:solidFill>
                <a:latin typeface="Calibri"/>
              </a:rPr>
              <a:t>Дополнительная ЗП (20 %)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389119" y="3566160"/>
            <a:ext cx="1920240" cy="475488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35423" y="3566160"/>
            <a:ext cx="166420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292E3A"/>
                </a:solidFill>
                <a:latin typeface="Calibri"/>
              </a:rPr>
              <a:t>48 166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09359" y="3566160"/>
            <a:ext cx="1371600" cy="475488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55663" y="3566160"/>
            <a:ext cx="111556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292E3A"/>
                </a:solidFill>
                <a:latin typeface="Calibri"/>
              </a:rPr>
              <a:t>5,4 %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" y="4055364"/>
            <a:ext cx="3749039" cy="475488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6384" y="4055364"/>
            <a:ext cx="3493007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292E3A"/>
                </a:solidFill>
                <a:latin typeface="Calibri"/>
              </a:rPr>
              <a:t>Страховые взносы (30,2 %)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19" y="4055364"/>
            <a:ext cx="1920240" cy="475488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35423" y="4055364"/>
            <a:ext cx="166420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292E3A"/>
                </a:solidFill>
                <a:latin typeface="Calibri"/>
              </a:rPr>
              <a:t>87 276,8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09359" y="4055364"/>
            <a:ext cx="1371600" cy="475488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55663" y="4055364"/>
            <a:ext cx="111556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292E3A"/>
                </a:solidFill>
                <a:latin typeface="Calibri"/>
              </a:rPr>
              <a:t>9,8 %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" y="4544568"/>
            <a:ext cx="3749039" cy="475488"/>
          </a:xfrm>
          <a:prstGeom prst="rect">
            <a:avLst/>
          </a:prstGeom>
          <a:solidFill>
            <a:srgbClr val="FCE9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86384" y="4544568"/>
            <a:ext cx="3493007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92E3A"/>
                </a:solidFill>
                <a:latin typeface="Calibri"/>
              </a:rPr>
              <a:t>Накладные расходы (200 %)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389119" y="4544568"/>
            <a:ext cx="1920240" cy="475488"/>
          </a:xfrm>
          <a:prstGeom prst="rect">
            <a:avLst/>
          </a:prstGeom>
          <a:solidFill>
            <a:srgbClr val="FCE9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535423" y="4544568"/>
            <a:ext cx="166420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C25A40"/>
                </a:solidFill>
                <a:latin typeface="Calibri"/>
              </a:rPr>
              <a:t>481 660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09359" y="4544568"/>
            <a:ext cx="1371600" cy="475488"/>
          </a:xfrm>
          <a:prstGeom prst="rect">
            <a:avLst/>
          </a:prstGeom>
          <a:solidFill>
            <a:srgbClr val="FCE9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55663" y="4544568"/>
            <a:ext cx="111556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C25A40"/>
                </a:solidFill>
                <a:latin typeface="Calibri"/>
              </a:rPr>
              <a:t>54,1 %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40080" y="5033772"/>
            <a:ext cx="3749039" cy="475488"/>
          </a:xfrm>
          <a:prstGeom prst="rect">
            <a:avLst/>
          </a:prstGeom>
          <a:solidFill>
            <a:srgbClr val="2E3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86384" y="5033772"/>
            <a:ext cx="3493007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Итого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389119" y="5033772"/>
            <a:ext cx="1920240" cy="475488"/>
          </a:xfrm>
          <a:prstGeom prst="rect">
            <a:avLst/>
          </a:prstGeom>
          <a:solidFill>
            <a:srgbClr val="2E3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35423" y="5033772"/>
            <a:ext cx="166420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890 142,8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309359" y="5033772"/>
            <a:ext cx="1371600" cy="475488"/>
          </a:xfrm>
          <a:prstGeom prst="rect">
            <a:avLst/>
          </a:prstGeom>
          <a:solidFill>
            <a:srgbClr val="2E3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55663" y="5033772"/>
            <a:ext cx="111556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100 %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909560" y="1664208"/>
            <a:ext cx="3639312" cy="1188720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138160" y="1810512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Calibri"/>
              </a:rPr>
              <a:t>890 142,8 ₽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138160" y="2414016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150" b="0" i="1">
                <a:solidFill>
                  <a:srgbClr val="B7C2DE"/>
                </a:solidFill>
                <a:latin typeface="Calibri"/>
              </a:rPr>
              <a:t>полная себестоимость (метод калькулирования)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909560" y="2990088"/>
            <a:ext cx="3639312" cy="118872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138160" y="3136392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Calibri"/>
              </a:rPr>
              <a:t>60 000 ₽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138160" y="3739896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150" b="0" i="1">
                <a:solidFill>
                  <a:srgbClr val="B7C2DE"/>
                </a:solidFill>
                <a:latin typeface="Calibri"/>
              </a:rPr>
              <a:t>оклад руководителя · 25 раб. дней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909560" y="4315968"/>
            <a:ext cx="3639312" cy="1188720"/>
          </a:xfrm>
          <a:prstGeom prst="rect">
            <a:avLst/>
          </a:prstGeom>
          <a:solidFill>
            <a:srgbClr val="2E3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138160" y="4462272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Calibri"/>
              </a:rPr>
              <a:t>50 000 ₽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138160" y="5065776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150" b="0" i="1">
                <a:solidFill>
                  <a:srgbClr val="B7C2DE"/>
                </a:solidFill>
                <a:latin typeface="Calibri"/>
              </a:rPr>
              <a:t>оклад разработчика · 90 раб. дней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40080" y="5779008"/>
            <a:ext cx="10908792" cy="566928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40080" y="5779008"/>
            <a:ext cx="50800" cy="566928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14400" y="5852160"/>
            <a:ext cx="1554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5A40"/>
                </a:solidFill>
                <a:latin typeface="Calibri"/>
              </a:rPr>
              <a:t>ВЫВОД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965960" y="5779008"/>
            <a:ext cx="9418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92E3A"/>
                </a:solidFill>
                <a:latin typeface="Calibri"/>
              </a:rPr>
              <a:t>Большая часть бюджета — накладные расходы (54,1 %) и основная зарплата (27,1 %): главный ресурс — труд исполнителей.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5024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35024"/>
            <a:ext cx="12191695" cy="3810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96926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Окупаемость и эффективность проекта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05256"/>
            <a:ext cx="9509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B7C2DE"/>
                </a:solidFill>
                <a:latin typeface="Calibri"/>
              </a:rPr>
              <a:t>Экономическая часть · NPV, PI, срок окупаемости при ставке 22 %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771632" y="384048"/>
            <a:ext cx="1024128" cy="457200"/>
          </a:xfrm>
          <a:prstGeom prst="roundRect">
            <a:avLst/>
          </a:prstGeom>
          <a:solidFill>
            <a:srgbClr val="2E3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71632" y="475488"/>
            <a:ext cx="102412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Доп. 2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37376"/>
            <a:ext cx="10908792" cy="9525"/>
          </a:xfrm>
          <a:prstGeom prst="rect">
            <a:avLst/>
          </a:prstGeom>
          <a:solidFill>
            <a:srgbClr val="D7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66E82"/>
                </a:solidFill>
                <a:latin typeface="Calibri"/>
              </a:rPr>
              <a:t>Прогнозирование временных рядов · ВКР · Лазарев А.К. ·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1627632"/>
            <a:ext cx="2615184" cy="1280160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792224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Calibri"/>
              </a:rPr>
              <a:t>890 142,8 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395728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150" b="0" i="1">
                <a:solidFill>
                  <a:srgbClr val="B7C2DE"/>
                </a:solidFill>
                <a:latin typeface="Calibri"/>
              </a:rPr>
              <a:t>IC — инвестиции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64992" y="1627632"/>
            <a:ext cx="2615184" cy="1280160"/>
          </a:xfrm>
          <a:prstGeom prst="rect">
            <a:avLst/>
          </a:prstGeom>
          <a:solidFill>
            <a:srgbClr val="2E3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47872" y="1792224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Calibri"/>
              </a:rPr>
              <a:t>≈ 48,0 млн 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47872" y="2395728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150" b="0" i="1">
                <a:solidFill>
                  <a:srgbClr val="B7C2DE"/>
                </a:solidFill>
                <a:latin typeface="Calibri"/>
              </a:rPr>
              <a:t>NPV — чистая прив. стоимость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89904" y="1627632"/>
            <a:ext cx="2615184" cy="128016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72784" y="1792224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Calibri"/>
              </a:rPr>
              <a:t>≈ 54,93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2784" y="2395728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150" b="0" i="1">
                <a:solidFill>
                  <a:srgbClr val="B7C2DE"/>
                </a:solidFill>
                <a:latin typeface="Calibri"/>
              </a:rPr>
              <a:t>PI — индекс рентабельности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814816" y="1627632"/>
            <a:ext cx="2615184" cy="1280160"/>
          </a:xfrm>
          <a:prstGeom prst="rect">
            <a:avLst/>
          </a:prstGeom>
          <a:solidFill>
            <a:srgbClr val="2E3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97696" y="1792224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Calibri"/>
              </a:rPr>
              <a:t>≈ 2,4 мес.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97696" y="2395728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150" b="0" i="1">
                <a:solidFill>
                  <a:srgbClr val="B7C2DE"/>
                </a:solidFill>
                <a:latin typeface="Calibri"/>
              </a:rPr>
              <a:t>DPP — диск. окупаемость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3200400"/>
            <a:ext cx="2286000" cy="420624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8096" y="3200400"/>
            <a:ext cx="206654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Период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926080" y="3200400"/>
            <a:ext cx="1463040" cy="420624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054096" y="3200400"/>
            <a:ext cx="124358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CF, тыс. ₽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89120" y="3200400"/>
            <a:ext cx="1554480" cy="420624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17136" y="3200400"/>
            <a:ext cx="13350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k = 1/(1+r)ⁱ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43600" y="3200400"/>
            <a:ext cx="1463040" cy="420624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71616" y="3200400"/>
            <a:ext cx="124358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PV, тыс. ₽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3634740"/>
            <a:ext cx="2286000" cy="42062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8096" y="3634740"/>
            <a:ext cx="206654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92E3A"/>
                </a:solidFill>
                <a:latin typeface="Calibri"/>
              </a:rPr>
              <a:t>Год 0 (инвестиции)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26080" y="3634740"/>
            <a:ext cx="1463040" cy="42062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54096" y="3634740"/>
            <a:ext cx="124358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292E3A"/>
                </a:solidFill>
                <a:latin typeface="Calibri"/>
              </a:rPr>
              <a:t>−890,1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89120" y="3634740"/>
            <a:ext cx="1554480" cy="42062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17136" y="3634740"/>
            <a:ext cx="13350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292E3A"/>
                </a:solidFill>
                <a:latin typeface="Calibri"/>
              </a:rPr>
              <a:t>1,0000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943600" y="3634740"/>
            <a:ext cx="1463040" cy="42062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71616" y="3634740"/>
            <a:ext cx="124358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292E3A"/>
                </a:solidFill>
                <a:latin typeface="Calibri"/>
              </a:rPr>
              <a:t>−890,1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" y="4069080"/>
            <a:ext cx="2286000" cy="42062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68096" y="4069080"/>
            <a:ext cx="206654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92E3A"/>
                </a:solidFill>
                <a:latin typeface="Calibri"/>
              </a:rPr>
              <a:t>Год 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926080" y="4069080"/>
            <a:ext cx="1463040" cy="42062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054096" y="4069080"/>
            <a:ext cx="124358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292E3A"/>
                </a:solidFill>
                <a:latin typeface="Calibri"/>
              </a:rPr>
              <a:t>5 345,9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0" y="4069080"/>
            <a:ext cx="1554480" cy="42062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17136" y="4069080"/>
            <a:ext cx="13350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292E3A"/>
                </a:solidFill>
                <a:latin typeface="Calibri"/>
              </a:rPr>
              <a:t>0,8197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943600" y="4069080"/>
            <a:ext cx="1463040" cy="42062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71616" y="4069080"/>
            <a:ext cx="124358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292E3A"/>
                </a:solidFill>
                <a:latin typeface="Calibri"/>
              </a:rPr>
              <a:t>4 381,9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" y="4503420"/>
            <a:ext cx="2286000" cy="42062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68096" y="4503420"/>
            <a:ext cx="206654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92E3A"/>
                </a:solidFill>
                <a:latin typeface="Calibri"/>
              </a:rPr>
              <a:t>Год 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926080" y="4503420"/>
            <a:ext cx="1463040" cy="42062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054096" y="4503420"/>
            <a:ext cx="124358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292E3A"/>
                </a:solidFill>
                <a:latin typeface="Calibri"/>
              </a:rPr>
              <a:t>26 239,8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120" y="4503420"/>
            <a:ext cx="1554480" cy="42062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517136" y="4503420"/>
            <a:ext cx="13350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292E3A"/>
                </a:solidFill>
                <a:latin typeface="Calibri"/>
              </a:rPr>
              <a:t>0,6719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943600" y="4503420"/>
            <a:ext cx="1463040" cy="42062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071616" y="4503420"/>
            <a:ext cx="124358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292E3A"/>
                </a:solidFill>
                <a:latin typeface="Calibri"/>
              </a:rPr>
              <a:t>17 629,5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40080" y="4937760"/>
            <a:ext cx="2286000" cy="42062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68096" y="4937760"/>
            <a:ext cx="206654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92E3A"/>
                </a:solidFill>
                <a:latin typeface="Calibri"/>
              </a:rPr>
              <a:t>Год 3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926080" y="4937760"/>
            <a:ext cx="1463040" cy="42062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054096" y="4937760"/>
            <a:ext cx="124358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292E3A"/>
                </a:solidFill>
                <a:latin typeface="Calibri"/>
              </a:rPr>
              <a:t>48 818,7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389120" y="4937760"/>
            <a:ext cx="1554480" cy="42062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517136" y="4937760"/>
            <a:ext cx="13350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292E3A"/>
                </a:solidFill>
                <a:latin typeface="Calibri"/>
              </a:rPr>
              <a:t>0,5507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943600" y="4937760"/>
            <a:ext cx="1463040" cy="42062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071616" y="4937760"/>
            <a:ext cx="124358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292E3A"/>
                </a:solidFill>
                <a:latin typeface="Calibri"/>
              </a:rPr>
              <a:t>26 884,8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40080" y="5372100"/>
            <a:ext cx="2286000" cy="420624"/>
          </a:xfrm>
          <a:prstGeom prst="rect">
            <a:avLst/>
          </a:prstGeom>
          <a:solidFill>
            <a:srgbClr val="2E3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68096" y="5372100"/>
            <a:ext cx="206654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NPV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926080" y="5372100"/>
            <a:ext cx="1463040" cy="420624"/>
          </a:xfrm>
          <a:prstGeom prst="rect">
            <a:avLst/>
          </a:prstGeom>
          <a:solidFill>
            <a:srgbClr val="2E3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054096" y="5372100"/>
            <a:ext cx="124358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67" name="Rectangle 66"/>
          <p:cNvSpPr/>
          <p:nvPr/>
        </p:nvSpPr>
        <p:spPr>
          <a:xfrm>
            <a:off x="4389120" y="5372100"/>
            <a:ext cx="1554480" cy="420624"/>
          </a:xfrm>
          <a:prstGeom prst="rect">
            <a:avLst/>
          </a:prstGeom>
          <a:solidFill>
            <a:srgbClr val="2E3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517136" y="5372100"/>
            <a:ext cx="13350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69" name="Rectangle 68"/>
          <p:cNvSpPr/>
          <p:nvPr/>
        </p:nvSpPr>
        <p:spPr>
          <a:xfrm>
            <a:off x="5943600" y="5372100"/>
            <a:ext cx="1463040" cy="420624"/>
          </a:xfrm>
          <a:prstGeom prst="rect">
            <a:avLst/>
          </a:prstGeom>
          <a:solidFill>
            <a:srgbClr val="2E3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071616" y="5372100"/>
            <a:ext cx="124358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48 006,1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498079" y="3200400"/>
            <a:ext cx="4050791" cy="2542032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498079" y="3200400"/>
            <a:ext cx="50800" cy="2542032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735824" y="3328416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B2649"/>
                </a:solidFill>
                <a:latin typeface="Calibri"/>
              </a:rPr>
              <a:t>Консервативный сценарий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735824" y="3712463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292E3A"/>
                </a:solidFill>
                <a:latin typeface="Calibri"/>
              </a:rPr>
              <a:t>Прирост клиентской базы по 1 в месяц: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735824" y="4114800"/>
            <a:ext cx="3566160" cy="6035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6" name="Picture 75" descr="payb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7" y="4261104"/>
            <a:ext cx="2340640" cy="329184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7735824" y="4846320"/>
            <a:ext cx="3657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92E3A"/>
                </a:solidFill>
                <a:latin typeface="Calibri"/>
              </a:rPr>
              <a:t>N = 4 → 850 000 ₽ — не покрывает;  N = 5 → 1 275 000 ₽ — покрывает.
</a:t>
            </a:r>
            <a:r>
              <a:rPr sz="1250" b="1" i="0">
                <a:solidFill>
                  <a:srgbClr val="C25A40"/>
                </a:solidFill>
                <a:latin typeface="Calibri"/>
              </a:rPr>
              <a:t>Полная окупаемость — к концу 5-го месяца продаж.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5024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35024"/>
            <a:ext cx="12191695" cy="3810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96926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План продаж и эффект для клиента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05256"/>
            <a:ext cx="9509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B7C2DE"/>
                </a:solidFill>
                <a:latin typeface="Calibri"/>
              </a:rPr>
              <a:t>Экономическая часть · 3-летний P&amp;L и экономия потребителя «ГМ-ПВР»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771632" y="384048"/>
            <a:ext cx="1024128" cy="457200"/>
          </a:xfrm>
          <a:prstGeom prst="roundRect">
            <a:avLst/>
          </a:prstGeom>
          <a:solidFill>
            <a:srgbClr val="2E3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71632" y="475488"/>
            <a:ext cx="102412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Доп. 3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37376"/>
            <a:ext cx="10908792" cy="9525"/>
          </a:xfrm>
          <a:prstGeom prst="rect">
            <a:avLst/>
          </a:prstGeom>
          <a:solidFill>
            <a:srgbClr val="D7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66E82"/>
                </a:solidFill>
                <a:latin typeface="Calibri"/>
              </a:rPr>
              <a:t>Прогнозирование временных рядов · ВКР · Лазарев А.К. · 2026</a:t>
            </a:r>
          </a:p>
        </p:txBody>
      </p:sp>
      <p:pic>
        <p:nvPicPr>
          <p:cNvPr id="11" name="Picture 10" descr="econ_pn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0595" y="1554480"/>
            <a:ext cx="5785529" cy="402336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589520" y="1554480"/>
            <a:ext cx="3959352" cy="2194560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589520" y="1554480"/>
            <a:ext cx="50800" cy="219456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27264" y="1700784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B2649"/>
                </a:solidFill>
                <a:latin typeface="Calibri"/>
              </a:rPr>
              <a:t>Экономия клиента, ₽/мес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27264" y="2103120"/>
            <a:ext cx="3566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E07A5F"/>
                </a:solidFill>
                <a:latin typeface="Calibri"/>
              </a:rPr>
              <a:t>≈ 815 000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27264" y="2779776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666E82"/>
                </a:solidFill>
                <a:latin typeface="Calibri"/>
              </a:rPr>
              <a:t>≈ 9,78 млн ₽ / год на одного клиента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27264" y="3127248"/>
            <a:ext cx="3566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92E3A"/>
                </a:solidFill>
                <a:latin typeface="Calibri"/>
              </a:rPr>
              <a:t>Снижение потерь (25 %) +750 000 · экономия на специалистах +150 000 · подписка −85 000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589520" y="3931920"/>
            <a:ext cx="3959352" cy="402336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0" y="3931920"/>
            <a:ext cx="11887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25A40"/>
                </a:solidFill>
                <a:latin typeface="Calibri"/>
              </a:rPr>
              <a:t>Модель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3931920"/>
            <a:ext cx="25603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92E3A"/>
                </a:solidFill>
                <a:latin typeface="Calibri"/>
              </a:rPr>
              <a:t>B2B SaaS, REST API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589520" y="4361688"/>
            <a:ext cx="3959352" cy="402336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0" y="4361688"/>
            <a:ext cx="11887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25A40"/>
                </a:solidFill>
                <a:latin typeface="Calibri"/>
              </a:rPr>
              <a:t>Тариф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680" y="4361688"/>
            <a:ext cx="25603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92E3A"/>
                </a:solidFill>
                <a:latin typeface="Calibri"/>
              </a:rPr>
              <a:t>85 000 ₽/мес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589520" y="4791456"/>
            <a:ext cx="3959352" cy="402336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0" y="4791456"/>
            <a:ext cx="11887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25A40"/>
                </a:solidFill>
                <a:latin typeface="Calibri"/>
              </a:rPr>
              <a:t>ОПФ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69680" y="4791456"/>
            <a:ext cx="25603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92E3A"/>
                </a:solidFill>
                <a:latin typeface="Calibri"/>
              </a:rPr>
              <a:t>ООО · УСН 6 %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589520" y="5221224"/>
            <a:ext cx="3959352" cy="402336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0" y="5221224"/>
            <a:ext cx="11887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25A40"/>
                </a:solidFill>
                <a:latin typeface="Calibri"/>
              </a:rPr>
              <a:t>SOM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69680" y="5221224"/>
            <a:ext cx="25603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92E3A"/>
                </a:solidFill>
                <a:latin typeface="Calibri"/>
              </a:rPr>
              <a:t>≈ 60 млн ₽/год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5779008"/>
            <a:ext cx="10908792" cy="566928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0080" y="5779008"/>
            <a:ext cx="50800" cy="566928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" y="5852160"/>
            <a:ext cx="1554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5A40"/>
                </a:solidFill>
                <a:latin typeface="Calibri"/>
              </a:rPr>
              <a:t>ВЫВОД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965960" y="5779008"/>
            <a:ext cx="9418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92E3A"/>
                </a:solidFill>
                <a:latin typeface="Calibri"/>
              </a:rPr>
              <a:t>Подписочная SaaS-модель: предельные издержки на нового клиента малы, основные инвестиции уже понесены.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