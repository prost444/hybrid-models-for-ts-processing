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254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МИРЭА — Российский технологический университет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9C3DE"/>
                </a:solidFill>
                <a:latin typeface="Calibri"/>
              </a:rPr>
              <a:t>Институт искусственного интеллекта · Кафедра высшей математики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FFFFFF"/>
                </a:solidFill>
                <a:latin typeface="Calibri"/>
              </a:rPr>
              <a:t>Прогнозирование временных рядов за счёт обучаемой</a:t>
            </a:r>
          </a:p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FFFFFF"/>
                </a:solidFill>
                <a:latin typeface="Calibri"/>
              </a:rPr>
              <a:t>декомпозиции и нейросетевых механизмов учёта</a:t>
            </a:r>
          </a:p>
          <a:p>
            <a:pPr algn="l">
              <a:lnSpc>
                <a:spcPct val="105000"/>
              </a:lnSpc>
            </a:pPr>
            <a:r>
              <a:rPr sz="3100" b="1" i="0">
                <a:solidFill>
                  <a:srgbClr val="FFFFFF"/>
                </a:solidFill>
                <a:latin typeface="Calibri"/>
              </a:rPr>
              <a:t>долгосрочных зависимостей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9C3DE"/>
                </a:solidFill>
                <a:latin typeface="Calibri"/>
              </a:rPr>
              <a:t>Выполнил: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студент группы КМБО-03-22 —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9C3DE"/>
                </a:solidFill>
                <a:latin typeface="Calibri"/>
              </a:rPr>
              <a:t>Научный руководитель: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к.ф.-м.н., доцент кафедры ВМ — Петрусевич Д.А.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35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AA6C8"/>
                </a:solidFill>
                <a:latin typeface="Calibri"/>
              </a:rPr>
              <a:t>Москва,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Актуальность и цель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1. Постановка исследования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85216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Краткосрочный прогноз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временных рядов нужен в планировании: продажи, трафик, спрос, ресурсы.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Универсальной модели нет: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классика устойчива на коротких рядах, нейросети сильнее на длинных и сложных.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Современные архитектуры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включают обучаемую декомпозицию и механизмы долгосрочных зависимостей — но дают ли они реальный выигрыш?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0" y="1828800"/>
            <a:ext cx="38100" cy="32918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286000"/>
            <a:ext cx="46177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0" i="0">
                <a:solidFill>
                  <a:srgbClr val="2B2B2B"/>
                </a:solidFill>
                <a:latin typeface="Calibri"/>
              </a:rPr>
              <a:t>Определить условия, при которых обучаемая декомпозиция и нейросетевые механизмы учёта долгосрочных зависимостей дают практическое преимущество над классическими статистическими моделями — и когда более простые методы предпочтительнее.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Модели и масштаб эксперимента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1. Что и на чём сравнивалось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3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4E"/>
                </a:solidFill>
                <a:latin typeface="Calibri"/>
              </a:rPr>
              <a:t>Классические модели (4)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40280"/>
            <a:ext cx="5120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Seasonal Naive · Auto-ARIMA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ETS · Prophet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F2A4E"/>
                </a:solidFill>
                <a:latin typeface="Calibri"/>
              </a:rPr>
              <a:t>Нейросетевые модели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5212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DLinear · N-BEATS · TimesNet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Autoformer · FEDformer · PatchTST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Helformer (гибрид: HW-декомпозиция + нейросеть)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828800"/>
            <a:ext cx="38100" cy="41148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ДАННЫЕ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86000"/>
            <a:ext cx="45720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M3 Competition —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2829 рядов (полный набор)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M4 Competition —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3000 рядов (Q + M + D)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6 частотных категорий, 5829 рядов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4114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ТРИ РЕЖИМА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457200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Прямое прогнозирование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Итеративное прогнозирование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Предобучение на корпусе рядов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Методология: декомпозиция и зависимости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2. Два ключевых механизма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4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45720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Фиксированная декомпозиция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ETS, DLinear, Helformer: тренд и сезонность выделяются заранее заданным правилом.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Обучаемая декомпозиция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Autoformer, FEDformer, TimesNet: компоненты выделяет сама сеть в ходе обучения.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Долгосрочные зависимости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— внимание, свёртки, линейные проекции.</a:t>
            </a:r>
          </a:p>
        </p:txBody>
      </p:sp>
      <p:pic>
        <p:nvPicPr>
          <p:cNvPr id="10" name="Picture 9" descr="decomposition_type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2538487"/>
            <a:ext cx="6126480" cy="251254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0680" y="5806440"/>
            <a:ext cx="6126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A6478"/>
                </a:solidFill>
                <a:latin typeface="Calibri"/>
              </a:rPr>
              <a:t>Средний sMAPE и MASE по типу декомпозиции — обучаемая выигрывает только при достатке данных.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Прямое прогнозирование: общая картина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Кто лидирует по частотам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5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rank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2228"/>
            <a:ext cx="7315200" cy="36165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83879" y="1920240"/>
            <a:ext cx="33832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Классика (ARIMA, ETS, S. Naive) стабильно лидирует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TimesNet — лучшая нейросеть, средний ранг ≈ 4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Трансформеры в per-series режиме отстают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С ростом частоты разрыв сокращается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Длина ряда — ключевой фактор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Где нейросети догоняют классику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6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bar_m4_dai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73834"/>
            <a:ext cx="7132320" cy="29332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8288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F2A4E"/>
                </a:solidFill>
                <a:latin typeface="Calibri"/>
              </a:rPr>
              <a:t>Порог ≈ 50–100 наблюдений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377440"/>
            <a:ext cx="3611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Короткие ряды — преимущество классики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Длинные ежедневные ряды M4 — нейросети конкурентоспособны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TimesNet вплотную к Auto-ARIMA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Предобучение — главный результат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Эффект переноса знаний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7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pretrain_effect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70510"/>
            <a:ext cx="7406640" cy="22484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0" y="182880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+31.5%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60604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DLinear — наибольший выигрыш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29184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+25.5%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0690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Autoformer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66344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+18.2%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544068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Helformer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Предобученные нейросети обходят классику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M3 monthly и M4 daily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8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cherry_pretrained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70672"/>
            <a:ext cx="7223760" cy="3048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920240"/>
            <a:ext cx="352044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M3 monthly: предобученный TimesNet точнее ETS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M4 daily: предобученный PatchTST обходит Auto-ARIMA и ETS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Предобучение сдвигает порог конкурентоспособности вниз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Анализ отдельных рядов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Где нейросети явно точнее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9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pic>
        <p:nvPicPr>
          <p:cNvPr id="9" name="Picture 8" descr="cherry_D2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3503"/>
            <a:ext cx="7589520" cy="32025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0" y="182880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517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60604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из 1000 ежедневных рядов
нейросеть лучше классики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657600"/>
            <a:ext cx="27432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E07A5F"/>
                </a:solidFill>
                <a:latin typeface="Calibri"/>
              </a:rPr>
              <a:t>295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443484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5A6478"/>
                </a:solidFill>
                <a:latin typeface="Calibri"/>
              </a:rPr>
              <a:t>рядов, где побеждают
3+ нейросетевых модели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Итеративное прогнозирование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3. Хрупкость обучаемой декомпозиции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10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67665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При накоплении ошибки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сильнее всего деградируют модели с обучаемой декомпозицией.</a:t>
            </a:r>
          </a:p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FEDformer и TimesNet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теряют около +5 п.п. sMAPE при переходе к итеративному режиму.</a:t>
            </a:r>
          </a:p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PatchTST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(без явной декомпозиции) — наиболее устойчивый трансформер.</a:t>
            </a:r>
          </a:p>
          <a:p>
            <a:pPr algn="l">
              <a:lnSpc>
                <a:spcPct val="112000"/>
              </a:lnSpc>
              <a:spcAft>
                <a:spcPts val="1500"/>
              </a:spcAft>
            </a:pPr>
            <a:r>
              <a:rPr sz="17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2B2B2B"/>
                </a:solidFill>
                <a:latin typeface="Calibri"/>
              </a:rPr>
              <a:t>Классические модели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(ETS, Auto-ARIMA) практически нечувствительны к режиму.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38100" cy="31089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103120"/>
            <a:ext cx="3566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700" b="1" i="0">
                <a:solidFill>
                  <a:srgbClr val="E07A5F"/>
                </a:solidFill>
                <a:latin typeface="Calibri"/>
              </a:rPr>
              <a:t>Вывод: </a:t>
            </a:r>
            <a:r>
              <a:rPr sz="1700" b="0" i="0">
                <a:solidFill>
                  <a:srgbClr val="2B2B2B"/>
                </a:solidFill>
                <a:latin typeface="Calibri"/>
              </a:rPr>
              <a:t>сложная обучаемая декомпозиция — это риск при многошаговом прогнозе. Простые и классические модели предпочтительнее, если нужен итеративный режим.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F2A4E"/>
                </a:solidFill>
                <a:latin typeface="Calibri"/>
              </a:rPr>
              <a:t>Выводы и практические рекомендации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15568"/>
            <a:ext cx="108813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374676"/>
                </a:solidFill>
                <a:latin typeface="Calibri"/>
              </a:rPr>
              <a:t>Раздел 4. Основные 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8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0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A6478"/>
                </a:solidFill>
                <a:latin typeface="Calibri"/>
              </a:rPr>
              <a:t>11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A6478"/>
                </a:solidFill>
                <a:latin typeface="Calibri"/>
              </a:rPr>
              <a:t>Прогнозирование временных рядов · ВКР · Лазарев А.К.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Длина ряда решает.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Ниже ≈ 50–100 наблюдений лидирует классика (ETS, Auto-ARIMA); выше — нейросети конкурентоспособны.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TimesNet — лучшая нейросеть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в per-series режиме; обучаемая 2D-декомпозиция эффективна при достатке данных.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Предобучение кардинально усиливает нейросети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(+18…32 %) и выводит их на уровень и выше классики (M3 monthly, M4 daily).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Тип декомпозиции должен соответствовать режиму: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фиксированная — устойчивее, обучаемая — адаптивнее, но хрупка при итеративном прогнозе.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6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2B2B2B"/>
                </a:solidFill>
                <a:latin typeface="Calibri"/>
              </a:rPr>
              <a:t>Ответ не бинарный: </a:t>
            </a:r>
            <a:r>
              <a:rPr sz="1650" b="0" i="0">
                <a:solidFill>
                  <a:srgbClr val="2B2B2B"/>
                </a:solidFill>
                <a:latin typeface="Calibri"/>
              </a:rPr>
              <a:t>эффективность нейросетевых механизмов зависит от длины ряда, режима обучения и объёма данных.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54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Спасибо за внимание!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B9C3DE"/>
                </a:solidFill>
                <a:latin typeface="Calibri"/>
              </a:rPr>
              <a:t>Прогнозирование временных рядов за счёт обучаемой декомпозиции и нейросетевых механизмов учёта долгосрочных зависимостей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Лазарев А.К. · КМБО-03-22 · Научный руководитель Петрусевич Д.А.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