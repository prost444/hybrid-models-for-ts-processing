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224528"/>
            <a:ext cx="4023360" cy="3175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03504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МИРЭА — Российский технологический университет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50976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7C2DE"/>
                </a:solidFill>
                <a:latin typeface="Calibri"/>
              </a:rPr>
              <a:t>Институт искусственного интеллекта · Кафедра высшей математики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10698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Прогнозирование временных рядов за счёт</a:t>
            </a:r>
          </a:p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обучаемой декомпозиции и нейросетевых механизмов</a:t>
            </a:r>
          </a:p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учёта долгосрочных зависимостей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2628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7C2DE"/>
                </a:solidFill>
                <a:latin typeface="Calibri"/>
              </a:rPr>
              <a:t>Выполнил: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студент группы КМБО-03-22 — Лазарев А.К.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5604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B7C2DE"/>
                </a:solidFill>
                <a:latin typeface="Calibri"/>
              </a:rPr>
              <a:t>Научный руководитель: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к.ф.-м.н., доцент кафедры ВМ — Петрусевич Д.А.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893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Москва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Актуальность и цель исследования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Постановка задачи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55321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92224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Проблематика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31136"/>
            <a:ext cx="50749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Прикладная значимость.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Краткосрочный прогноз применяется в планировании спроса, трафика и ресурсов.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Отсутствие универсальной модели.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Статистические методы устойчивы на коротких рядах, нейросетевые — на длинных и сложных.</a:t>
            </a:r>
          </a:p>
          <a:p>
            <a:pPr algn="l">
              <a:lnSpc>
                <a:spcPct val="110000"/>
              </a:lnSpc>
              <a:spcAft>
                <a:spcPts val="1200"/>
              </a:spcAft>
            </a:pPr>
            <a:r>
              <a:rPr sz="15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500" b="1" i="0">
                <a:solidFill>
                  <a:srgbClr val="292E3A"/>
                </a:solidFill>
                <a:latin typeface="Calibri"/>
              </a:rPr>
              <a:t>Открытый вопрос. </a:t>
            </a:r>
            <a:r>
              <a:rPr sz="1500" b="0" i="0">
                <a:solidFill>
                  <a:srgbClr val="292E3A"/>
                </a:solidFill>
                <a:latin typeface="Calibri"/>
              </a:rPr>
              <a:t>Оправдывают ли обучаемая декомпозиция и механизмы долгосрочных зависимостей свою сложность?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627632"/>
            <a:ext cx="51480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ЦЕЛЬ РАБОТЫ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331720"/>
            <a:ext cx="46177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Установить условия, при которых обучаемая декомпозиция временных рядов и нейросетевые механизмы учёта долгосрочных зависимостей обеспечивают практическое преимущество над классическими статистическими моделями, и определить области, где более простые методы остаются предпочтительными.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Классические статистические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Четыре эталонные модели сравнения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03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Seasonal Naive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Прогноз воспроизводит значения предыдущего сезонного периода. Не имеет обучаемых параметров.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Роль: эталон для метрики MASE и нижняя граница качества.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19856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19856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9856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Auto-ARIMA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Линейная модель стационаризованного ряда: авторегрессия, интегрирование (разности) и скользящее среднее. Порядки (p, d, q) подбираются автоматически по информационному критерию.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21024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21024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Сильная сторона: устойчивость на коротких рядах.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Экспоненциальное сглаживание уровня, тренда и сезонности в пространстве состояний. Веса α, β, γ оцениваются по правдоподобию.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Сильная сторона: плавная динамика и сезонность.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79408" y="1627632"/>
            <a:ext cx="2660904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79408" y="1627632"/>
            <a:ext cx="2660904" cy="54864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79408" y="1728216"/>
            <a:ext cx="26609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Prophet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80576" y="2331720"/>
            <a:ext cx="2276856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Аддитивная декомпозиция: кусочно-линейный тренд, сезонные гармоники и календарные эффекты с байесовской оценкой параметров.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0576" y="4754880"/>
            <a:ext cx="2258568" cy="15240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0576" y="4864608"/>
            <a:ext cx="227685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C25A40"/>
                </a:solidFill>
                <a:latin typeface="Calibri"/>
              </a:rPr>
              <a:t>Особенность: гибкая настройка сезонных компонент.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Классические модели интерпретируемы и устойчивы при ограниченной истории наблюдений — это сильная база сравнения.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Нейросетевые модели и их архитектуры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1. Семь моделей: от линейных до гибридных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04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arch_neural_pipe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60059"/>
            <a:ext cx="7818120" cy="387621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613648" y="1517904"/>
            <a:ext cx="2935224" cy="416052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13648" y="1517904"/>
            <a:ext cx="50800" cy="416052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1682496"/>
            <a:ext cx="2569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Семейства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121408"/>
            <a:ext cx="2478024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Линейные: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DLinear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Базисные: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N-BEATS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Свёрточные: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TimesNet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Трансформеры: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Autoformer, FEDformer, PatchTST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Гибридные: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Helformer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Модели различаются способом выделения компонент ряда и механизмом учёта зависимостей — это и есть предмет сравнения.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Экспериментальная база и протокол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2. Данные, режимы, тип декомпозиции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05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34747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922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31136"/>
            <a:ext cx="30175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M3 Competition.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Полный набор — 2829 рядов: 645 годовых, 756 квартальных, 1428 месячных.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M4 Competition.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3000 рядов: 1000 квартальных, 1000 месячных, 1000 ежедневных.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Итого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6 частотных категорий, 5829 рядов.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Метрики.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sMAPE, MASE, RMSE — для устойчивости выводов к выбору меры.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1104" y="1627632"/>
            <a:ext cx="34747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61104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17136" y="179222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Три режима прогнозирования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2231136"/>
            <a:ext cx="30175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Прямой.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Весь горизонт прогнозируется за один проход модели.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Итеративный.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Пошаговое продвижение с подстановкой собственных прогнозов; ошибка накапливается.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С предобучением.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Обучение на корпусе рядов с последующим дообучением на целевом ряде.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1627632"/>
            <a:ext cx="365760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82127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59" y="1792224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Тип декомпозиции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2231136"/>
            <a:ext cx="320040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Фиксированная.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Правило задано заранее — ETS, DLinear, Helformer.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Обучаемая.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Компоненты выделяет сеть — Autoformer, FEDformer, TimesNet.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0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292E3A"/>
                </a:solidFill>
                <a:latin typeface="Calibri"/>
              </a:rPr>
              <a:t>Без декомпозиции. </a:t>
            </a:r>
            <a:r>
              <a:rPr sz="1400" b="0" i="0">
                <a:solidFill>
                  <a:srgbClr val="292E3A"/>
                </a:solidFill>
                <a:latin typeface="Calibri"/>
              </a:rPr>
              <a:t>Прямое моделирование — Auto-ARIMA, PatchTST.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Сопоставление по трём осям — длина ряда, режим обучения и тип декомпозиции — формирует структуру анализа.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Прямое прогнозирование: общая картина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Сравнительная позиция моделей по частотам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06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rank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9467"/>
            <a:ext cx="7360920" cy="363910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138160" y="1554480"/>
            <a:ext cx="3410712" cy="406908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1554480"/>
            <a:ext cx="50800" cy="40690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719072"/>
            <a:ext cx="30449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Наблюдения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157984"/>
            <a:ext cx="2953512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Лидерство классики.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Auto-ARIMA, ETS, Seasonal Naive — верхние ранги на всех частотах.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Лучшая нейросеть.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TimesNet, средний ранг ≈ 4.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Отставание трансформеров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в режиме обучения на одном ряде.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В режиме обучения на одном ряде классические модели сохраняют лидерство, однако разрыв убывает с ростом длины ряда.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Длина обучающей выборки как фактор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Пороговая зависимость качества от длины ряда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07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bar_m4_daily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41177"/>
            <a:ext cx="7040880" cy="289568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818120" y="1554480"/>
            <a:ext cx="3730752" cy="406908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1554480"/>
            <a:ext cx="50800" cy="40690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1719072"/>
            <a:ext cx="33649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Пороговый эффект (≈ 50–100 набл.)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152" y="2157984"/>
            <a:ext cx="3273552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Короткие ряды.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Уверенное преимущество классических моделей.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Длинные ряды M4 daily.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Нейросети конкурентоспособны.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TimesNet (3.62)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сопоставим с Auto-ARIMA (3.22) и ETS (3.46).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Существует пороговая длина обучающей выборки: ниже неё лидирует классика, выше — нейросетевые модели выходят на её уровень.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Предобучение: эффект переноса знаний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Относительное улучшение по частотам и моделям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08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pretrain_effect_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446809"/>
            <a:ext cx="7223760" cy="2192981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001000" y="1554480"/>
            <a:ext cx="35478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1554480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75564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E07A5F"/>
                </a:solidFill>
                <a:latin typeface="Calibri"/>
              </a:rPr>
              <a:t>СРЕДНИЙ ВЫИГРЫШ sMAPE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212848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+31.5 %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724912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DLinear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29184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+25.5 %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803904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Autoformer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370832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+18.2 %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82896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Helformer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Предобучение на корпусе рядов выводит ранее слабые нейросетевые модели на конкурентоспособный уровень.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Предобученные нейросети и классические модели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Превосходство на среднечастотных и длинных рядах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09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cherry_pretrained_D21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1364"/>
            <a:ext cx="7132320" cy="3009591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909560" y="1554480"/>
            <a:ext cx="3639312" cy="4023360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09560" y="1554480"/>
            <a:ext cx="50800" cy="402336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719072"/>
            <a:ext cx="32735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Ключевые сопоставления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157984"/>
            <a:ext cx="318211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M3 monthly.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Предобученный TimesNet (13.68) точнее ETS (17.42).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M4 daily.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Предобученный PatchTST (2.36) точнее Auto-ARIMA (3.22) и ETS (3.46).</a:t>
            </a:r>
          </a:p>
          <a:p>
            <a:pPr algn="l">
              <a:lnSpc>
                <a:spcPct val="110000"/>
              </a:lnSpc>
              <a:spcAft>
                <a:spcPts val="1100"/>
              </a:spcAft>
            </a:pPr>
            <a:r>
              <a:rPr sz="13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350" b="1" i="0">
                <a:solidFill>
                  <a:srgbClr val="292E3A"/>
                </a:solidFill>
                <a:latin typeface="Calibri"/>
              </a:rPr>
              <a:t>Прогнозы нейросетей </a:t>
            </a:r>
            <a:r>
              <a:rPr sz="1350" b="0" i="0">
                <a:solidFill>
                  <a:srgbClr val="292E3A"/>
                </a:solidFill>
                <a:latin typeface="Calibri"/>
              </a:rPr>
              <a:t>плотно следуют фактической траектории.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При достаточном объёме данных предобученные нейросетевые модели обеспечивают точность выше лучших классических моделей.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Сводное сравнение: sMAPE по категориям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Предобученные нейросети и классические модели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1591056"/>
          <a:ext cx="10913364" cy="274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1101852"/>
                <a:gridCol w="1101852"/>
                <a:gridCol w="1101852"/>
                <a:gridCol w="1101852"/>
                <a:gridCol w="1101852"/>
                <a:gridCol w="1101852"/>
                <a:gridCol w="1101852"/>
              </a:tblGrid>
              <a:tr h="24938">
                <a:tc>
                  <a:txBody>
                    <a:bodyPr/>
                    <a:lstStyle/>
                    <a:p>
                      <a:pPr algn="l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M3-Y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M3-Q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M3-M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M4-Q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M4-M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M4-D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Ср.</a:t>
                      </a:r>
                    </a:p>
                  </a:txBody>
                  <a:tcPr marL="63500" marR="50800" marT="25400" marB="25400" anchor="ctr">
                    <a:solidFill>
                      <a:srgbClr val="1B2649"/>
                    </a:solidFill>
                  </a:tcPr>
                </a:tc>
              </a:tr>
              <a:tr h="24938">
                <a:tc gridSpan="8">
                  <a:txBody>
                    <a:bodyPr/>
                    <a:lstStyle/>
                    <a:p>
                      <a:pPr algn="l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>Классические модели (per-series)</a:t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</a:tr>
              <a:tr h="2493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Auto-ARIMA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18.1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14.7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3.22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493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ETS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19.1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9.7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3.46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493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666E82"/>
                          </a:solidFill>
                          <a:latin typeface="Calibri"/>
                        </a:rPr>
                        <a:t>Seasonal Naive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11.1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12.2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4.05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666E82"/>
                          </a:solidFill>
                          <a:latin typeface="Calibri"/>
                        </a:rPr>
                        <a:t>13.0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4938">
                <a:tc gridSpan="8">
                  <a:txBody>
                    <a:bodyPr/>
                    <a:lstStyle/>
                    <a:p>
                      <a:pPr algn="l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>Нейросетевые модели (с предобучением)</a:t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b="1" i="1" sz="125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50800" marT="25400" marB="25400" anchor="ctr">
                    <a:solidFill>
                      <a:srgbClr val="2E3D6B"/>
                    </a:solidFill>
                  </a:tcPr>
                </a:tc>
              </a:tr>
              <a:tr h="2493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DLinear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12.7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14.0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2.44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14.2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493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TimesNet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25.1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13.7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22.5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17.2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2.46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493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PatchTST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17.5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2.36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  <a:tr h="2493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Autoformer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23.4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13.8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15.1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20.1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2.81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 marL="63500" marR="50800" marT="25400" marB="25400" anchor="ctr">
                    <a:solidFill>
                      <a:srgbClr val="FFFFFF"/>
                    </a:solidFill>
                  </a:tcPr>
                </a:tc>
              </a:tr>
              <a:tr h="249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92E3A"/>
                          </a:solidFill>
                          <a:latin typeface="Calibri"/>
                        </a:rPr>
                        <a:t>FEDformer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22.8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15.8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16.3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25A40"/>
                          </a:solidFill>
                          <a:latin typeface="Calibri"/>
                        </a:rPr>
                        <a:t>4.16</a:t>
                      </a:r>
                    </a:p>
                  </a:txBody>
                  <a:tcPr marL="63500" marR="50800" marT="25400" marB="25400" anchor="ctr">
                    <a:solidFill>
                      <a:srgbClr val="FCE9E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292E3A"/>
                          </a:solidFill>
                          <a:latin typeface="Calibri"/>
                        </a:rPr>
                        <a:t>15.7</a:t>
                      </a:r>
                    </a:p>
                  </a:txBody>
                  <a:tcPr marL="63500" marR="50800" marT="25400" marB="25400" anchor="ctr"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5907024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907024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980176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907024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На M3 monthly и M4 daily предобученные нейросети превосходят лучшую классику; на коротких рядах классика сохраняет преимущество.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Анализ отдельных временных рядов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Массовый характер преимущества нейросетей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pic>
        <p:nvPicPr>
          <p:cNvPr id="11" name="Picture 10" descr="cherry_D2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6347"/>
            <a:ext cx="7406640" cy="3125345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183879" y="1554480"/>
            <a:ext cx="3364992" cy="406908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83879" y="1554480"/>
            <a:ext cx="50800" cy="406908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828800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517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615184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из 1000 ежедневных рядов M4 — нейросеть точнее классики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58444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295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370832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B7C2DE"/>
                </a:solidFill>
                <a:latin typeface="Calibri"/>
              </a:rPr>
              <a:t>рядов, где побеждают 3 и более нейросетевых модели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Преимущество нейросетевых моделей на длинных рядах носит массовый, а не единичный характер.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Итеративное прогнозирование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3. Устойчивость моделей к накоплению ошибки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27632"/>
            <a:ext cx="6675120" cy="3977639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1792224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B2649"/>
                </a:solidFill>
                <a:latin typeface="Calibri"/>
              </a:rPr>
              <a:t>Деградация при переходе от прямого режима к итеративному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2231136"/>
            <a:ext cx="6217920" cy="3246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Обучаемая декомпозиция уязвима.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FEDformer и TimesNet теряют около 5 п.п. sMAPE — выделенные компоненты искажаются на собственных прогнозах.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PatchTST устойчив.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Наименьшая деградация среди трансформеров: модель работает с патчами без явного разделения на компоненты.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Классические модели стабильны.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ETS и Auto-ARIMA практически нечувствительны к режиму — рекуррентная структура заложена в самой модели.</a:t>
            </a:r>
          </a:p>
          <a:p>
            <a:pPr algn="l">
              <a:lnSpc>
                <a:spcPct val="110000"/>
              </a:lnSpc>
              <a:spcAft>
                <a:spcPts val="1300"/>
              </a:spcAft>
            </a:pPr>
            <a:r>
              <a:rPr sz="1450" b="1" i="0">
                <a:solidFill>
                  <a:srgbClr val="E07A5F"/>
                </a:solidFill>
                <a:latin typeface="Calibri"/>
              </a:rPr>
              <a:t>▪  </a:t>
            </a:r>
            <a:r>
              <a:rPr sz="1450" b="1" i="0">
                <a:solidFill>
                  <a:srgbClr val="292E3A"/>
                </a:solidFill>
                <a:latin typeface="Calibri"/>
              </a:rPr>
              <a:t>Закономерность. </a:t>
            </a:r>
            <a:r>
              <a:rPr sz="1450" b="0" i="0">
                <a:solidFill>
                  <a:srgbClr val="292E3A"/>
                </a:solidFill>
                <a:latin typeface="Calibri"/>
              </a:rPr>
              <a:t>Чем сложнее обучаемое разложение, тем сильнее накопление ошибки на горизонте.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43800" y="1627632"/>
            <a:ext cx="4005072" cy="3977639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1627632"/>
            <a:ext cx="50800" cy="3977639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84708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07A5F"/>
                </a:solidFill>
                <a:latin typeface="Calibri"/>
              </a:rPr>
              <a:t>СЛЕДСТВИЕ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286000"/>
            <a:ext cx="3611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Сложная обучаемая декомпозиция повышает риск накопления ошибки при многошаговом прогнозе. В задачах с итеративным прогнозированием простые и классические модели предпочтительнее.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4526280"/>
            <a:ext cx="3383280" cy="12700"/>
          </a:xfrm>
          <a:prstGeom prst="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681728"/>
            <a:ext cx="3611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E07A5F"/>
                </a:solidFill>
                <a:latin typeface="Calibri"/>
              </a:rPr>
              <a:t>Рекомендация: </a:t>
            </a:r>
            <a:r>
              <a:rPr sz="1400" b="0" i="0">
                <a:solidFill>
                  <a:srgbClr val="B7C2DE"/>
                </a:solidFill>
                <a:latin typeface="Calibri"/>
              </a:rPr>
              <a:t>выбор модели должен учитывать не только точность, но и режим её применения.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779008"/>
            <a:ext cx="10908792" cy="566928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5779008"/>
            <a:ext cx="50800" cy="566928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852160"/>
            <a:ext cx="1554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5A40"/>
                </a:solidFill>
                <a:latin typeface="Calibri"/>
              </a:rPr>
              <a:t>ВЫВОД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779008"/>
            <a:ext cx="9418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92E3A"/>
                </a:solidFill>
                <a:latin typeface="Calibri"/>
              </a:rPr>
              <a:t>Тип декомпозиции должен соответствовать режиму прогнозирования.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5024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5024"/>
            <a:ext cx="12191695" cy="381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93268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Выводы и практические рекомендации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89611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B7C2DE"/>
                </a:solidFill>
                <a:latin typeface="Calibri"/>
              </a:rPr>
              <a:t>Раздел 4. Основные результаты исследования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27080" y="384048"/>
            <a:ext cx="868680" cy="457200"/>
          </a:xfrm>
          <a:prstGeom prst="roundRect">
            <a:avLst/>
          </a:prstGeom>
          <a:solidFill>
            <a:srgbClr val="2E3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7080" y="475488"/>
            <a:ext cx="8686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37376"/>
            <a:ext cx="10908792" cy="9525"/>
          </a:xfrm>
          <a:prstGeom prst="rect">
            <a:avLst/>
          </a:prstGeom>
          <a:solidFill>
            <a:srgbClr val="D7D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66E82"/>
                </a:solidFill>
                <a:latin typeface="Calibri"/>
              </a:rPr>
              <a:t>Прогнозирование временных рядов · ВКР · Лазарев А.К. ·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5910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15910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17830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18562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17099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Длина обучающей выборки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16824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Определяющий фактор. Ниже ≈ 50–100 наблюдений предпочтительны ETS и Auto-ARIMA; выше — нейросети конкурентоспособны.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05456"/>
            <a:ext cx="10908792" cy="85953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5054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26974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27706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26243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TimesNet — лучшая нейросеть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25968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В режиме обучения на одном ряде; обучаемая 2D-декомпозиция эффективна при достаточном объёме данных.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4198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4198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680" y="36118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6850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35387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Предобучение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5112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Повышает качество нейросетей на 18–32 % и выводит их на уровень и выше классики на M3 monthly и M4 daily.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334256"/>
            <a:ext cx="10908792" cy="859536"/>
          </a:xfrm>
          <a:prstGeom prst="rect">
            <a:avLst/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3342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8680" y="45262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5994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44531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Тип декомпозиции и режим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4256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Фиксированная декомпозиция устойчивее, обучаемая адаптивнее, но хрупка при итеративном прогнозировании.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248656"/>
            <a:ext cx="10908792" cy="85953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248656"/>
            <a:ext cx="50800" cy="859536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" y="5440680"/>
            <a:ext cx="512064" cy="512064"/>
          </a:xfrm>
          <a:prstGeom prst="ellipse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513832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5367528"/>
            <a:ext cx="3200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B2649"/>
                </a:solidFill>
                <a:latin typeface="Calibri"/>
              </a:rPr>
              <a:t>Общий вывод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5340096"/>
            <a:ext cx="649224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92E3A"/>
                </a:solidFill>
                <a:latin typeface="Calibri"/>
              </a:rPr>
              <a:t>Эффективность нейросетевых механизмов не абсолютна — она определяется длиной ряда, режимом обучения и объёмом данных.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6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3703320"/>
            <a:ext cx="4023360" cy="31750"/>
          </a:xfrm>
          <a:prstGeom prst="rect">
            <a:avLst/>
          </a:prstGeom>
          <a:solidFill>
            <a:srgbClr val="E07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B7C2DE"/>
                </a:solidFill>
                <a:latin typeface="Calibri"/>
              </a:rPr>
              <a:t>Прогнозирование временных рядов за счёт обучаемой декомпозиции и нейросетевых механизмов учёта долгосрочных зависимостей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749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Лазарев А.К. · КМБО-03-22 · Научный руководитель — Петрусевич Д.А.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3212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B7C2DE"/>
                </a:solidFill>
                <a:latin typeface="Calibri"/>
              </a:rPr>
              <a:t>Готов ответить на вопросы комиссии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