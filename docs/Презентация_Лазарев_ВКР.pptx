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24528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МИРЭА — Российский технологический университет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50976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Институт искусственного интеллекта · Кафедра высшей математики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10698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Прогнозирование временных рядов за счёт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обучаемой декомпозиции и нейросетевых механизмов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учёта долгосрочных зависимостей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Выполнил: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студент группы КМБО-03-22 — Лазарев А.К.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5604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Научный руководитель: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к.ф.-м.н., доцент кафедры ВМ — Петрусевич Д.А.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893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Москва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Актуальность и цель исследования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55321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Проблематика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50749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Прикладная значимость.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Краткосрочный прогноз применяется в планировании спроса, трафика и ресурсов.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Отсутствие универсальной модели.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Статистические методы устойчивы на коротких рядах, нейросетевые — на длинных и сложных.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Открытый вопрос.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Оправдывают ли обучаемая декомпозиция и механизмы долгосрочных зависимостей свою сложность?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27632"/>
            <a:ext cx="51480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ЦЕЛЬ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Установить условия, при которых обучаемая декомпозиция временных рядов и нейросетевые механизмы учёта долгосрочных зависимостей обеспечивают практическое преимущество над классическими статистическими моделями, и определить области, где более простые методы остаются предпочтительными.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Классические статистические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Четыре эталонные модели сравнения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03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Seasonal Naive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Прогноз воспроизводит значения предыдущего сезонного периода. Не имеет обучаемых параметров.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Роль: эталон для метрики MASE и нижняя граница качества.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9856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19856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9856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Auto-ARIMA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Линейная модель стационаризованного ряда: авторегрессия, интегрирование (разности) и скользящее среднее. Порядки (p, d, q) подбираются автоматически по информационному критерию.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21024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Сильная сторона: устойчивость на коротких рядах.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Экспоненциальное сглаживание уровня, тренда и сезонности в пространстве состояний. Веса α, β, γ оцениваются по правдоподобию.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Сильная сторона: плавная динамика и сезонность.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79408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79408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79408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Prophet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Аддитивная декомпозиция: кусочно-линейный тренд, сезонные гармоники и календарные эффекты с байесовской оценкой параметров.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0576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0576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Особенность: гибкая настройка сезонных компонент.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Классические модели интерпретируемы и устойчивы при ограниченной истории наблюдений — это сильная база сравнения.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Нейросетевые модели и их архитектуры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Семь моделей: от линейных до гибридных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04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arch_neural_pip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0059"/>
            <a:ext cx="7818120" cy="387621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613648" y="1517904"/>
            <a:ext cx="2935224" cy="416052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13648" y="1517904"/>
            <a:ext cx="50800" cy="416052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1682496"/>
            <a:ext cx="2569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Семейства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121408"/>
            <a:ext cx="2478024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Линейные: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DLinear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Базисные: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N-BEATS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Свёрточные: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TimesNet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Трансформеры: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Autoformer, FEDformer, PatchTST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Гибридные: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Helformer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Модели различаются способом выделения компонент ряда и механизмом учёта зависимостей — это и есть предмет сравнения.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Экспериментальная база и протокол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Данные, режимы, тип декомпозиции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05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30175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M3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Полный набор — 2829 рядов: 645 годовых, 756 квартальных, 1428 месячных.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M4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3000 рядов: 1000 квартальных, 1000 месячных, 1000 ежедневных.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Итого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6 частотных категорий, 5829 рядов.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Метрики.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sMAPE, MASE, RMSE — для устойчивости выводов к выбору меры.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4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1104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17922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Три режима прогнозирования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231136"/>
            <a:ext cx="30175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Прямой.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Весь горизонт прогнозируется за один проход модели.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Итеративный.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Пошаговое продвижение с подстановкой собственных прогнозов; ошибка накапливается.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С предобучением.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Обучение на корпусе рядов с последующим дообучением на целевом ряде.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1627632"/>
            <a:ext cx="365760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82127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59" y="179222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Тип декомпозиции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2231136"/>
            <a:ext cx="320040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Фиксированная.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Правило задано заранее — ETS, DLinear, Helformer.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Обучаемая.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Компоненты выделяет сеть — Autoformer, FEDformer, TimesNet.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Без декомпозиции.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Прямое моделирование — Auto-ARIMA, PatchTST.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Сопоставление по трём осям — длина ряда, режим обучения и тип декомпозиции — формирует структуру анализа.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Прямое прогнозирование: общая картина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Сравнительная позиция моделей по частотам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06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rank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9467"/>
            <a:ext cx="7360920" cy="363910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38160" y="1554480"/>
            <a:ext cx="3410712" cy="406908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719072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Наблюдения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157984"/>
            <a:ext cx="2953512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Лидерство классики.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Auto-ARIMA, ETS, Seasonal Naive — верхние ранги на всех частотах.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Лучшая нейросеть.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TimesNet, средний ранг ≈ 4.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Отставание трансформеров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в режиме обучения на одном ряде.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В режиме обучения на одном ряде классические модели сохраняют лидерство, однако разрыв убывает с ростом длины ряда.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Длина обучающей выборки как фактор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Пороговая зависимость качества от длины ряда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07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bar_m4_daily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1177"/>
            <a:ext cx="7040880" cy="289568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20" y="1554480"/>
            <a:ext cx="3730752" cy="406908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1719072"/>
            <a:ext cx="3364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Пороговый эффект (≈ 50–100 набл.)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2157984"/>
            <a:ext cx="3273552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Короткие ряды.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Уверенное преимущество классических моделей.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Длинные ряды M4 daily.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Нейросети конкурентоспособны.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TimesNet (3.62)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сопоставим с Auto-ARIMA (3.22) и ETS (3.46).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Существует пороговая длина обучающей выборки: ниже неё лидирует классика, выше — нейросетевые модели выходят на её уровень.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Предобучение: эффект переноса знаний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Относительное улучшение по частотам и моделям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08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pretrain_effect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6809"/>
            <a:ext cx="7223760" cy="219298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01000" y="1554480"/>
            <a:ext cx="35478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554480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556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5F"/>
                </a:solidFill>
                <a:latin typeface="Calibri"/>
              </a:rPr>
              <a:t>СРЕДНИЙ ВЫИГРЫШ sMAPE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21284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+31.5 %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724912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DLinear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2918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+25.5 %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03904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Autoformer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37083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+18.2 %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82896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Helformer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Предобучение на корпусе рядов выводит ранее слабые нейросетевые модели на конкурентоспособный уровень.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Предобучение: эффект на прогнозе ряда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Одна модель: обучение с нуля против предобучения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09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pretrain_forecast_autoformer_D2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03046"/>
            <a:ext cx="7223760" cy="252622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01000" y="1554480"/>
            <a:ext cx="3547872" cy="402336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554480"/>
            <a:ext cx="50800" cy="40233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2" y="1719072"/>
            <a:ext cx="3182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Что показывает график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2" y="2157984"/>
            <a:ext cx="30906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Серая линия —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обучающая история, чёрная — фактические значения.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Пунктир (с нуля).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Прогноз Autoformer без предобучения, sMAPE 3.8 %.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Сплошная (предобучен).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После предобучения sMAPE 1.0 % — прогноз плотно следует факту.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Предобучение на корпусе рядов существенно повышает точность прогноза одной и той же модели.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Сводное сравнение: sMAPE по категориям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Предобученные нейросети и классические модели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1591056"/>
          <a:ext cx="10913364" cy="274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1101852"/>
                <a:gridCol w="1101852"/>
                <a:gridCol w="1101852"/>
                <a:gridCol w="1101852"/>
                <a:gridCol w="1101852"/>
                <a:gridCol w="1101852"/>
                <a:gridCol w="1101852"/>
              </a:tblGrid>
              <a:tr h="21101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M3-Y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M4-D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Ср.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</a:tr>
              <a:tr h="21101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Классические модели (per-series)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Auto-ARIMA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14.7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3.22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ETS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19.1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Seasonal Naive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4.05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Нейросетевые модели (с предобучением)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DLinear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2.44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TimesNet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13.7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PatchTST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2.36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Autoformer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FEDformer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4.16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N-BEATS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21.5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18.3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3.20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Helformer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29.8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23.0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46.3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2.87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5907024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907024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98017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907024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На M3 monthly и M4 daily предобученные нейросети превосходят лучшую классику; на коротких рядах классика сохраняет преимущество.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Анализ отдельных временных рядов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Массовый характер преимущества нейросетей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cherry_D2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6347"/>
            <a:ext cx="7406640" cy="31253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83879" y="1554480"/>
            <a:ext cx="3364992" cy="406908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517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615184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из 1000 ежедневных рядов M4 — нейросеть точнее классики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8444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295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7083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рядов, где побеждают 3 и более нейросетевых модели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Преимущество нейросетевых моделей на длинных рядах носит массовый, а не единичный характер.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Итеративное прогнозирование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Устойчивость моделей к накоплению ошибки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rollout_m3_quarterly_T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73457"/>
            <a:ext cx="7178040" cy="318540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955279" y="1554480"/>
            <a:ext cx="3593592" cy="402336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554480"/>
            <a:ext cx="50800" cy="40233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1" y="1719072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Прямой против итеративного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1" y="2157984"/>
            <a:ext cx="313639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На графике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пунктир — прямой прогноз, сплошная — итеративный.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Обучаемая декомпозиция уязвима.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FEDformer и TimesNet теряют около 5 п.п. sMAPE.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PatchTST устойчив.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Наименьшая деградация среди трансформеров.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292E3A"/>
                </a:solidFill>
                <a:latin typeface="Calibri"/>
              </a:rPr>
              <a:t>Классика стабильна. </a:t>
            </a:r>
            <a:r>
              <a:rPr sz="1300" b="0" i="0">
                <a:solidFill>
                  <a:srgbClr val="292E3A"/>
                </a:solidFill>
                <a:latin typeface="Calibri"/>
              </a:rPr>
              <a:t>ETS и Auto-ARIMA нечувствительны к режиму.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Сложная обучаемая декомпозиция повышает риск накопления ошибки; тип декомпозиции должен соответствовать режиму прогнозирования.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Выводы и практические рекомендации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4. Основные результаты исследования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5910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5910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17830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8562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17099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Длина обучающей выборки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16824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Определяющий фактор. Ниже ≈ 50–100 наблюдений предпочтительны ETS и Auto-ARIMA; выше — нейросети конкурентоспособны.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054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5054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26974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7706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26243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TimesNet — лучшая нейросеть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5968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В режиме обучения на одном ряде; обучаемая 2D-декомпозиция эффективна при достаточном объёме данных.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198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4198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36118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6850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35387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Предобучение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5112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Повышает качество нейросетей на 18–32 % и выводит их на уровень и выше классики на M3 monthly и M4 daily.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3342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3342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80" y="45262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5994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4531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Тип декомпозиции и режим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4256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Фиксированная декомпозиция устойчивее, обучаемая адаптивнее, но хрупка при итеративном прогнозировании.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2486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2486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" y="54406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5138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53675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Общий вывод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53400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Эффективность нейросетевых механизмов не абсолютна — она определяется длиной ряда, режимом обучения и объёмом данных.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3703320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B7C2DE"/>
                </a:solidFill>
                <a:latin typeface="Calibri"/>
              </a:rPr>
              <a:t>Прогнозирование временных рядов за счёт обучаемой декомпозиции и нейросетевых механизмов учёта долгосрочных зависимостей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Лазарев А.К. · КМБО-03-22 · Научный руководитель — Петрусевич Д.А.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321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Готов ответить на вопросы комиссии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