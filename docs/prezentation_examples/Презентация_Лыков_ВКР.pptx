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  <p:sldId id="268" r:id="rId14"/>
    <p:sldId id="270" r:id="rId15"/>
    <p:sldId id="271" r:id="rId16"/>
    <p:sldId id="272" r:id="rId17"/>
    <p:sldId id="273" r:id="rId18"/>
    <p:sldId id="283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8B74"/>
    <a:srgbClr val="E76F51"/>
    <a:srgbClr val="21295C"/>
    <a:srgbClr val="2F9E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57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753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Добрый</a:t>
            </a:r>
            <a:r>
              <a:rPr dirty="0"/>
              <a:t> </a:t>
            </a:r>
            <a:r>
              <a:rPr dirty="0" err="1"/>
              <a:t>день</a:t>
            </a:r>
            <a:r>
              <a:rPr dirty="0"/>
              <a:t>, </a:t>
            </a:r>
            <a:r>
              <a:rPr dirty="0" err="1"/>
              <a:t>уважаемые</a:t>
            </a:r>
            <a:r>
              <a:rPr dirty="0"/>
              <a:t> </a:t>
            </a:r>
            <a:r>
              <a:rPr dirty="0" err="1"/>
              <a:t>члены</a:t>
            </a:r>
            <a:r>
              <a:rPr dirty="0"/>
              <a:t> </a:t>
            </a:r>
            <a:r>
              <a:rPr dirty="0" err="1"/>
              <a:t>комиссии</a:t>
            </a:r>
            <a:r>
              <a:rPr dirty="0"/>
              <a:t>! </a:t>
            </a:r>
            <a:r>
              <a:rPr dirty="0" err="1"/>
              <a:t>Меня</a:t>
            </a:r>
            <a:r>
              <a:rPr dirty="0"/>
              <a:t> </a:t>
            </a:r>
            <a:r>
              <a:rPr dirty="0" err="1"/>
              <a:t>зовут</a:t>
            </a:r>
            <a:r>
              <a:rPr dirty="0"/>
              <a:t> </a:t>
            </a:r>
            <a:r>
              <a:rPr dirty="0" err="1"/>
              <a:t>Лыков</a:t>
            </a:r>
            <a:r>
              <a:rPr dirty="0"/>
              <a:t> </a:t>
            </a:r>
            <a:r>
              <a:rPr dirty="0" err="1"/>
              <a:t>Даниил</a:t>
            </a:r>
            <a:r>
              <a:rPr dirty="0"/>
              <a:t>, и </a:t>
            </a:r>
            <a:r>
              <a:rPr dirty="0" err="1"/>
              <a:t>сегодня</a:t>
            </a:r>
            <a:r>
              <a:rPr dirty="0"/>
              <a:t> я </a:t>
            </a:r>
            <a:r>
              <a:rPr dirty="0" err="1"/>
              <a:t>представлю</a:t>
            </a:r>
            <a:r>
              <a:rPr dirty="0"/>
              <a:t> </a:t>
            </a:r>
            <a:r>
              <a:rPr dirty="0" err="1"/>
              <a:t>свою</a:t>
            </a:r>
            <a:r>
              <a:rPr dirty="0"/>
              <a:t> </a:t>
            </a:r>
            <a:r>
              <a:rPr dirty="0" err="1"/>
              <a:t>выпускную</a:t>
            </a:r>
            <a:r>
              <a:rPr dirty="0"/>
              <a:t> </a:t>
            </a:r>
            <a:r>
              <a:rPr dirty="0" err="1"/>
              <a:t>квалификационную</a:t>
            </a:r>
            <a:r>
              <a:rPr dirty="0"/>
              <a:t> </a:t>
            </a:r>
            <a:r>
              <a:rPr dirty="0" err="1"/>
              <a:t>работу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тему</a:t>
            </a:r>
            <a:r>
              <a:rPr dirty="0"/>
              <a:t> «</a:t>
            </a:r>
            <a:r>
              <a:rPr dirty="0" err="1"/>
              <a:t>Построение</a:t>
            </a:r>
            <a:r>
              <a:rPr dirty="0"/>
              <a:t> </a:t>
            </a:r>
            <a:r>
              <a:rPr dirty="0" err="1"/>
              <a:t>комбинированных</a:t>
            </a:r>
            <a:r>
              <a:rPr dirty="0"/>
              <a:t> </a:t>
            </a:r>
            <a:r>
              <a:rPr dirty="0" err="1"/>
              <a:t>моделей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основе</a:t>
            </a:r>
            <a:r>
              <a:rPr dirty="0"/>
              <a:t> </a:t>
            </a:r>
            <a:r>
              <a:rPr dirty="0" err="1"/>
              <a:t>алгоритма</a:t>
            </a:r>
            <a:r>
              <a:rPr dirty="0"/>
              <a:t> MODWT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обработке</a:t>
            </a:r>
            <a:r>
              <a:rPr dirty="0"/>
              <a:t> </a:t>
            </a:r>
            <a:r>
              <a:rPr dirty="0" err="1"/>
              <a:t>временных</a:t>
            </a:r>
            <a:r>
              <a:rPr dirty="0"/>
              <a:t> </a:t>
            </a:r>
            <a:r>
              <a:rPr dirty="0" err="1"/>
              <a:t>рядов</a:t>
            </a:r>
            <a:r>
              <a:rPr dirty="0"/>
              <a:t>». </a:t>
            </a:r>
            <a:r>
              <a:rPr dirty="0" err="1"/>
              <a:t>Работа</a:t>
            </a:r>
            <a:r>
              <a:rPr dirty="0"/>
              <a:t> </a:t>
            </a:r>
            <a:r>
              <a:rPr dirty="0" err="1"/>
              <a:t>выполнена</a:t>
            </a:r>
            <a:r>
              <a:rPr dirty="0"/>
              <a:t> </a:t>
            </a:r>
            <a:r>
              <a:rPr dirty="0" err="1"/>
              <a:t>под</a:t>
            </a:r>
            <a:r>
              <a:rPr dirty="0"/>
              <a:t> </a:t>
            </a:r>
            <a:r>
              <a:rPr dirty="0" err="1"/>
              <a:t>руководством</a:t>
            </a:r>
            <a:r>
              <a:rPr dirty="0"/>
              <a:t> </a:t>
            </a:r>
            <a:r>
              <a:rPr dirty="0" err="1"/>
              <a:t>кандидата</a:t>
            </a:r>
            <a:r>
              <a:rPr dirty="0"/>
              <a:t> </a:t>
            </a:r>
            <a:r>
              <a:rPr dirty="0" err="1"/>
              <a:t>физико-математических</a:t>
            </a:r>
            <a:r>
              <a:rPr dirty="0"/>
              <a:t> </a:t>
            </a:r>
            <a:r>
              <a:rPr dirty="0" err="1"/>
              <a:t>наук</a:t>
            </a:r>
            <a:r>
              <a:rPr dirty="0"/>
              <a:t>, </a:t>
            </a:r>
            <a:r>
              <a:rPr dirty="0" err="1"/>
              <a:t>доцента</a:t>
            </a:r>
            <a:r>
              <a:rPr dirty="0"/>
              <a:t> </a:t>
            </a:r>
            <a:r>
              <a:rPr dirty="0" err="1"/>
              <a:t>Петрусевича</a:t>
            </a:r>
            <a:r>
              <a:rPr dirty="0"/>
              <a:t> </a:t>
            </a:r>
            <a:r>
              <a:rPr dirty="0" err="1"/>
              <a:t>Дениса</a:t>
            </a:r>
            <a:r>
              <a:rPr dirty="0"/>
              <a:t> </a:t>
            </a:r>
            <a:r>
              <a:rPr dirty="0" err="1"/>
              <a:t>Андреевича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Прогнозирование временных рядов востребовано в задачах планирования: продажи, трафик, потребление ресурсов. Принципиальная проблема — нет универсальной модели: статистические методы стабильны на коротких рядах, нейросетевые архитектуры лучше работают на длинных и сложных. Поэтому в последние годы активно развиваются гибридные схемы. Моё исследование — построение и сравнительный анализ гибридного конвейера HybridPlus на основе вейвлет-разложения MODWT, который сравнивается с традиционным разложением STL при работе со сложной сезонностью.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Все методы прогнозирования временных рядов можно условно разделить на три группы. Классические статистические модели — ARIMA, ETS, Prophet — устойчивы и интерпретируемы, но ограничены предпосылками о линейности. Нейросетевые архитектуры, такие как TimesNet и N-BEATS, способны улавливать сложные нелинейные зависимости, но требуют достаточного объёма данных. Гибридные модели объединяют сильные стороны обоих подходов через предварительную декомпозицию ряда и применение разных моделей к разным его компонентам — именно этот класс моделей изучается в работе.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В работе представлено</a:t>
            </a:r>
            <a:r>
              <a:rPr dirty="0"/>
              <a:t> </a:t>
            </a:r>
            <a:r>
              <a:rPr dirty="0" err="1"/>
              <a:t>два</a:t>
            </a:r>
            <a:r>
              <a:rPr dirty="0"/>
              <a:t> </a:t>
            </a:r>
            <a:r>
              <a:rPr dirty="0" err="1"/>
              <a:t>основных</a:t>
            </a:r>
            <a:r>
              <a:rPr dirty="0"/>
              <a:t> </a:t>
            </a:r>
            <a:r>
              <a:rPr dirty="0" err="1"/>
              <a:t>подхода</a:t>
            </a:r>
            <a:r>
              <a:rPr dirty="0"/>
              <a:t> к </a:t>
            </a:r>
            <a:r>
              <a:rPr dirty="0" err="1"/>
              <a:t>декомпозиции</a:t>
            </a:r>
            <a:r>
              <a:rPr dirty="0"/>
              <a:t>. STL </a:t>
            </a:r>
            <a:r>
              <a:rPr dirty="0" err="1"/>
              <a:t>раскладывает</a:t>
            </a:r>
            <a:r>
              <a:rPr dirty="0"/>
              <a:t> </a:t>
            </a:r>
            <a:r>
              <a:rPr dirty="0" err="1"/>
              <a:t>ряд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тренд</a:t>
            </a:r>
            <a:r>
              <a:rPr dirty="0"/>
              <a:t>, </a:t>
            </a:r>
            <a:r>
              <a:rPr dirty="0" err="1"/>
              <a:t>сезонность</a:t>
            </a:r>
            <a:r>
              <a:rPr dirty="0"/>
              <a:t> и </a:t>
            </a:r>
            <a:r>
              <a:rPr dirty="0" err="1"/>
              <a:t>остаток</a:t>
            </a:r>
            <a:r>
              <a:rPr dirty="0"/>
              <a:t>. </a:t>
            </a:r>
            <a:r>
              <a:rPr dirty="0" err="1"/>
              <a:t>Этот</a:t>
            </a:r>
            <a:r>
              <a:rPr dirty="0"/>
              <a:t> </a:t>
            </a:r>
            <a:r>
              <a:rPr dirty="0" err="1"/>
              <a:t>подход</a:t>
            </a:r>
            <a:r>
              <a:rPr dirty="0"/>
              <a:t> </a:t>
            </a:r>
            <a:r>
              <a:rPr dirty="0" err="1"/>
              <a:t>прост</a:t>
            </a:r>
            <a:r>
              <a:rPr dirty="0"/>
              <a:t> и </a:t>
            </a:r>
            <a:r>
              <a:rPr dirty="0" err="1"/>
              <a:t>интерпретируем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использует</a:t>
            </a:r>
            <a:r>
              <a:rPr dirty="0"/>
              <a:t> </a:t>
            </a:r>
            <a:r>
              <a:rPr dirty="0" err="1"/>
              <a:t>одну</a:t>
            </a:r>
            <a:r>
              <a:rPr dirty="0"/>
              <a:t> </a:t>
            </a:r>
            <a:r>
              <a:rPr dirty="0" err="1"/>
              <a:t>фиксированную</a:t>
            </a:r>
            <a:r>
              <a:rPr dirty="0"/>
              <a:t> </a:t>
            </a:r>
            <a:r>
              <a:rPr dirty="0" err="1"/>
              <a:t>сезонную</a:t>
            </a:r>
            <a:r>
              <a:rPr dirty="0"/>
              <a:t> </a:t>
            </a:r>
            <a:r>
              <a:rPr dirty="0" err="1"/>
              <a:t>шкалу</a:t>
            </a:r>
            <a:r>
              <a:rPr dirty="0"/>
              <a:t> и </a:t>
            </a:r>
            <a:r>
              <a:rPr dirty="0" err="1"/>
              <a:t>хуже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сложной</a:t>
            </a:r>
            <a:r>
              <a:rPr dirty="0"/>
              <a:t> </a:t>
            </a:r>
            <a:r>
              <a:rPr dirty="0" err="1"/>
              <a:t>многопериодной</a:t>
            </a:r>
            <a:r>
              <a:rPr dirty="0"/>
              <a:t> </a:t>
            </a:r>
            <a:r>
              <a:rPr dirty="0" err="1"/>
              <a:t>сезонности</a:t>
            </a:r>
            <a:r>
              <a:rPr dirty="0"/>
              <a:t>. MODWT — </a:t>
            </a:r>
            <a:r>
              <a:rPr dirty="0" err="1"/>
              <a:t>максимальное</a:t>
            </a:r>
            <a:r>
              <a:rPr dirty="0"/>
              <a:t> </a:t>
            </a:r>
            <a:r>
              <a:rPr dirty="0" err="1"/>
              <a:t>перекрывающееся</a:t>
            </a:r>
            <a:r>
              <a:rPr dirty="0"/>
              <a:t> </a:t>
            </a:r>
            <a:r>
              <a:rPr dirty="0" err="1"/>
              <a:t>дискретное</a:t>
            </a:r>
            <a:r>
              <a:rPr dirty="0"/>
              <a:t> </a:t>
            </a:r>
            <a:r>
              <a:rPr dirty="0" err="1"/>
              <a:t>вейвлет-преобразование</a:t>
            </a:r>
            <a:r>
              <a:rPr dirty="0"/>
              <a:t> — </a:t>
            </a:r>
            <a:r>
              <a:rPr dirty="0" err="1"/>
              <a:t>выделяет</a:t>
            </a:r>
            <a:r>
              <a:rPr dirty="0"/>
              <a:t> </a:t>
            </a:r>
            <a:r>
              <a:rPr dirty="0" err="1"/>
              <a:t>компоненты</a:t>
            </a:r>
            <a:r>
              <a:rPr dirty="0"/>
              <a:t> </a:t>
            </a:r>
            <a:r>
              <a:rPr dirty="0" err="1"/>
              <a:t>сразу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нескольких</a:t>
            </a:r>
            <a:r>
              <a:rPr dirty="0"/>
              <a:t> </a:t>
            </a:r>
            <a:r>
              <a:rPr dirty="0" err="1"/>
              <a:t>частотных</a:t>
            </a:r>
            <a:r>
              <a:rPr dirty="0"/>
              <a:t> </a:t>
            </a:r>
            <a:r>
              <a:rPr dirty="0" err="1"/>
              <a:t>шкалах</a:t>
            </a:r>
            <a:r>
              <a:rPr dirty="0"/>
              <a:t>, </a:t>
            </a:r>
            <a:r>
              <a:rPr dirty="0" err="1"/>
              <a:t>причём</a:t>
            </a:r>
            <a:r>
              <a:rPr dirty="0"/>
              <a:t> </a:t>
            </a:r>
            <a:r>
              <a:rPr dirty="0" err="1"/>
              <a:t>базисные</a:t>
            </a:r>
            <a:r>
              <a:rPr dirty="0"/>
              <a:t> </a:t>
            </a:r>
            <a:r>
              <a:rPr dirty="0" err="1"/>
              <a:t>функции</a:t>
            </a:r>
            <a:r>
              <a:rPr dirty="0"/>
              <a:t> </a:t>
            </a:r>
            <a:r>
              <a:rPr dirty="0" err="1"/>
              <a:t>локализованы</a:t>
            </a:r>
            <a:r>
              <a:rPr dirty="0"/>
              <a:t> и </a:t>
            </a:r>
            <a:r>
              <a:rPr dirty="0" err="1"/>
              <a:t>во</a:t>
            </a:r>
            <a:r>
              <a:rPr dirty="0"/>
              <a:t> </a:t>
            </a:r>
            <a:r>
              <a:rPr dirty="0" err="1"/>
              <a:t>времени</a:t>
            </a:r>
            <a:r>
              <a:rPr dirty="0"/>
              <a:t>, и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частоте</a:t>
            </a:r>
            <a:r>
              <a:rPr dirty="0"/>
              <a:t>. </a:t>
            </a:r>
            <a:r>
              <a:rPr dirty="0" err="1"/>
              <a:t>Ключевая</a:t>
            </a:r>
            <a:r>
              <a:rPr dirty="0"/>
              <a:t> </a:t>
            </a:r>
            <a:r>
              <a:rPr dirty="0" err="1"/>
              <a:t>гипотеза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: </a:t>
            </a:r>
            <a:r>
              <a:rPr dirty="0" err="1"/>
              <a:t>именно</a:t>
            </a:r>
            <a:r>
              <a:rPr dirty="0"/>
              <a:t> </a:t>
            </a:r>
            <a:r>
              <a:rPr dirty="0" err="1"/>
              <a:t>многошкальный</a:t>
            </a:r>
            <a:r>
              <a:rPr dirty="0"/>
              <a:t> </a:t>
            </a:r>
            <a:r>
              <a:rPr dirty="0" err="1"/>
              <a:t>характер</a:t>
            </a:r>
            <a:r>
              <a:rPr dirty="0"/>
              <a:t> MODWT </a:t>
            </a:r>
            <a:r>
              <a:rPr dirty="0" err="1"/>
              <a:t>даёт</a:t>
            </a:r>
            <a:r>
              <a:rPr dirty="0"/>
              <a:t> </a:t>
            </a:r>
            <a:r>
              <a:rPr dirty="0" err="1"/>
              <a:t>преимущество</a:t>
            </a:r>
            <a:r>
              <a:rPr dirty="0"/>
              <a:t> в </a:t>
            </a:r>
            <a:r>
              <a:rPr dirty="0" err="1"/>
              <a:t>гибридных</a:t>
            </a:r>
            <a:r>
              <a:rPr dirty="0"/>
              <a:t> </a:t>
            </a:r>
            <a:r>
              <a:rPr dirty="0" err="1"/>
              <a:t>моделях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Цель работы — разработать и исследовать гибридный подход к краткосрочному прогнозированию унивариативных временных рядов на основе многошкальной декомпозиции. Для достижения цели поставлены шесть задач: формализовать постановку и метрики, реализовать базовые статистические и нейросетевые модели, обосновать выбор MODWT, построить гибридную архитектуру, сопоставимую STL-схему, и провести эксперименты на синтетических рядах и на эталонных наборах M3 и M4.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Формальная постановка: на основании наблюдений ряда y_1 … y_T строится прогноз ŷ_{T+1} … ŷ_{T+H} на горизонт H. Качество оценивается тремя метриками: RMSE — абсолютная ошибка в исходных единицах ряда; MAPE — относительная средняя процентная ошибка, но она плохо работает при значениях ряда близких к нулю; sMAPE — симметричная процентная ошибка, она используется как основная метрика в протоколах M3 и M4. Все эксперименты построены как rollout — оценка вне обучающей выборки.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Идея MODWT связана с ограничением классического Фурье-анализа. Синусоиды хорошо показывают, какие частоты есть в ряде, но плохо отвечают на вопрос, когда именно эти частоты проявляются. Для временных рядов это важно, потому что локальные всплески, смена тренда или изменение сезонности могут возникать только на отдельных участках. Вейвлет-анализ решает эту проблему за счёт базисных функций, локализованных и во времени, и по частоте. Масштаб a отвечает за уровень детализации: большие масштабы описывают медленную динамику, малые — быстрые колебания. Сдвиг b задаёт положение окна во времени. Поэтому вейвлет-разложение удобно для дальнейшей гибридизации: разные масштабы ряда можно прогнозировать разными моделями.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Технически MODWT строится как многоуровневая фильтрация временного ряда. На каждом уровне используются низкочастотный и высокочастотный фильтры: первый выделяет сглаженную часть ряда, второй — детали. В отличие от DWT, MODWT не выполняет прореживание, то есть не отбрасывает каждый второй коэффициент. Поэтому все компоненты имеют ту же длину, что и исходный ряд. Это важно для моей работы, потому что такие компоненты удобно подавать в прогнозные модели и затем суммировать обратно. Итоговое представление можно записать как y(t)=A_J(t)+∑</a:t>
            </a:r>
            <a:r>
              <a:rPr lang="ru-RU" dirty="0" err="1"/>
              <a:t>D_j</a:t>
            </a:r>
            <a:r>
              <a:rPr lang="ru-RU" dirty="0"/>
              <a:t>(t), где A_J(t) — низкочастотная часть, а </a:t>
            </a:r>
            <a:r>
              <a:rPr lang="ru-RU" dirty="0" err="1"/>
              <a:t>D_j</a:t>
            </a:r>
            <a:r>
              <a:rPr lang="ru-RU" dirty="0"/>
              <a:t>(t) — детали разных масштабов. Именно это свойство используется дальше в </a:t>
            </a:r>
            <a:r>
              <a:rPr lang="ru-RU" dirty="0" err="1"/>
              <a:t>HybridPlus</a:t>
            </a:r>
            <a:r>
              <a:rPr lang="ru-RU" dirty="0"/>
              <a:t>: низкочастотную часть можно отдавать </a:t>
            </a:r>
            <a:r>
              <a:rPr lang="ru-RU" dirty="0" err="1"/>
              <a:t>TimesNet</a:t>
            </a:r>
            <a:r>
              <a:rPr lang="ru-RU" dirty="0"/>
              <a:t> или N-BEATS, а детали — более устойчивым ARIMA или 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b="1" dirty="0"/>
              <a:t>STL</a:t>
            </a:r>
            <a:r>
              <a:rPr lang="ru-RU" dirty="0"/>
              <a:t> — это сезонно-трендовая декомпозиция временного ряда, основанная на LOESS-сглаживании. В рамках этого подхода ряд представляется как сумма трёх явно интерпретируемых компонент: тренда, сезонности и остатка. Близкая идея структурного разложения используется и в модели </a:t>
            </a:r>
            <a:r>
              <a:rPr lang="ru-RU" dirty="0" err="1"/>
              <a:t>Prophet</a:t>
            </a:r>
            <a:r>
              <a:rPr lang="ru-RU" dirty="0"/>
              <a:t>, где временной ряд также описывается через трендовую, сезонную и остаточную составляющие, дополненные календарными эффектами.</a:t>
            </a:r>
          </a:p>
          <a:p>
            <a:r>
              <a:rPr lang="ru-RU" dirty="0"/>
              <a:t>Главное преимущество STL состоит в наглядной интерпретации компонент и гибком выделении нелинейного тренда. При этом метод требует заранее заданного сезонного периода и в базовой постановке ориентирован на одну сезонную шкалу. Поэтому при наличии нескольких наложенных сезонностей или сложной многопериодной структуры STL может выделять компоненты менее устойчиво. Это ограничение мотивирует рассмотрение MODWT как альтернативного </a:t>
            </a:r>
            <a:r>
              <a:rPr lang="ru-RU" dirty="0" err="1"/>
              <a:t>многошкального</a:t>
            </a:r>
            <a:r>
              <a:rPr lang="ru-RU" dirty="0"/>
              <a:t> подхода к разложению ряда.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На этом слайде показаны классические модели сравнения: ARIMA, ETS и </a:t>
            </a:r>
            <a:r>
              <a:rPr lang="ru-RU" dirty="0" err="1"/>
              <a:t>Prophet</a:t>
            </a:r>
            <a:r>
              <a:rPr lang="ru-RU" dirty="0"/>
              <a:t>. ARIMA строит линейную модель для стационарной версии ряда: авторегрессия учитывает прошлые значения, дифференцирование убирает нестационарность, а MA-компонента учитывает прошлые ошибки. В работе используется ARIMA с </a:t>
            </a:r>
            <a:r>
              <a:rPr lang="ru-RU" dirty="0" err="1"/>
              <a:t>автоподбором</a:t>
            </a:r>
            <a:r>
              <a:rPr lang="ru-RU" dirty="0"/>
              <a:t> по ACF/PACF, защитой от вырожденного прогноза и резервным набором порядков.</a:t>
            </a:r>
          </a:p>
          <a:p>
            <a:r>
              <a:rPr lang="ru-RU" dirty="0"/>
              <a:t>ETS описывает ряд через уровень, тренд и сезонность, которые обновляются экспоненциальным сглаживанием с весами α, β, γ. Поэтому модель хорошо подходит для коротких рядов и плавной динамики.</a:t>
            </a:r>
          </a:p>
          <a:p>
            <a:r>
              <a:rPr lang="ru-RU" dirty="0" err="1"/>
              <a:t>Prophet</a:t>
            </a:r>
            <a:r>
              <a:rPr lang="ru-RU" dirty="0"/>
              <a:t> — аддитивная модель: тренд плюс сезонность плюс календарные эффекты и ошибка. В работе он используется без встроенных календарных сезонностей как базовая модель сравнения.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 err="1"/>
              <a:t>TimesNet</a:t>
            </a:r>
            <a:r>
              <a:rPr lang="ru-RU" dirty="0"/>
              <a:t> превращает одномерный временной ряд в набор двумерных представлений. Сначала применяется FFT — быстрое преобразование Фурье. Оно показывает, какие частоты в ряде выражены сильнее всего; затем эти частоты переводятся в соответствующие периоды. Для каждого найденного периода ряд укладывается в двумерную матрицу. В этой матрице один тип направления отвечает за изменения внутри периода — это </a:t>
            </a:r>
            <a:r>
              <a:rPr lang="ru-RU" dirty="0" err="1"/>
              <a:t>intra-period</a:t>
            </a:r>
            <a:r>
              <a:rPr lang="ru-RU" dirty="0"/>
              <a:t> </a:t>
            </a:r>
            <a:r>
              <a:rPr lang="ru-RU" dirty="0" err="1"/>
              <a:t>variation</a:t>
            </a:r>
            <a:r>
              <a:rPr lang="ru-RU" dirty="0"/>
              <a:t>, например колебания внутри недели или сезона. Второе направление отвечает за изменения между соседними периодами — </a:t>
            </a:r>
            <a:r>
              <a:rPr lang="ru-RU" dirty="0" err="1"/>
              <a:t>inter-period</a:t>
            </a:r>
            <a:r>
              <a:rPr lang="ru-RU" dirty="0"/>
              <a:t> </a:t>
            </a:r>
            <a:r>
              <a:rPr lang="ru-RU" dirty="0" err="1"/>
              <a:t>variation</a:t>
            </a:r>
            <a:r>
              <a:rPr lang="ru-RU" dirty="0"/>
              <a:t>, например как меняется одна неделя относительно другой. Затем такие двумерные представления обрабатываются 2D-свёртками, которые могут одновременно учитывать оба типа зависимостей. После этого результаты по разным периодам объединяются через </a:t>
            </a:r>
            <a:r>
              <a:rPr lang="ru-RU" dirty="0" err="1"/>
              <a:t>softmax</a:t>
            </a:r>
            <a:r>
              <a:rPr lang="ru-RU" dirty="0"/>
              <a:t>-агрегацию: периоды с большей амплитудой получают больший вес в итоговом представлении. В моей реализации используется </a:t>
            </a:r>
            <a:r>
              <a:rPr lang="ru-RU" dirty="0" err="1"/>
              <a:t>top</a:t>
            </a:r>
            <a:r>
              <a:rPr lang="ru-RU" dirty="0"/>
              <a:t>-k равный 3, четыре слоя, размер скрытого представления 64, а прогноз строится как приращение относительно последнего наблюдения, что делает краткосрочный прогноз устойчивее.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N-BEATS строит прогноз как сумму вкладов последовательных блоков. Блоки объединяются в стеки: трендовый стек использует полиномиальный базис, сезонный — базис Фурье, а </a:t>
            </a:r>
            <a:r>
              <a:rPr lang="ru-RU" dirty="0" err="1"/>
              <a:t>generic</a:t>
            </a:r>
            <a:r>
              <a:rPr lang="ru-RU" dirty="0"/>
              <a:t>-стек использует обучаемый базис и нужен для более гибкого описания остаточных паттернов. Каждый блок состоит из </a:t>
            </a:r>
            <a:r>
              <a:rPr lang="ru-RU" dirty="0" err="1"/>
              <a:t>полносвязных</a:t>
            </a:r>
            <a:r>
              <a:rPr lang="ru-RU" dirty="0"/>
              <a:t> слоёв с </a:t>
            </a:r>
            <a:r>
              <a:rPr lang="ru-RU" dirty="0" err="1"/>
              <a:t>ReLU</a:t>
            </a:r>
            <a:r>
              <a:rPr lang="ru-RU" dirty="0"/>
              <a:t> и выдаёт два результата: </a:t>
            </a:r>
            <a:r>
              <a:rPr lang="ru-RU" dirty="0" err="1"/>
              <a:t>backcast</a:t>
            </a:r>
            <a:r>
              <a:rPr lang="ru-RU" dirty="0"/>
              <a:t> и </a:t>
            </a:r>
            <a:r>
              <a:rPr lang="ru-RU" dirty="0" err="1"/>
              <a:t>forecast</a:t>
            </a:r>
            <a:r>
              <a:rPr lang="ru-RU" dirty="0"/>
              <a:t>. </a:t>
            </a:r>
            <a:r>
              <a:rPr lang="ru-RU" dirty="0" err="1"/>
              <a:t>Backcast</a:t>
            </a:r>
            <a:r>
              <a:rPr lang="ru-RU" dirty="0"/>
              <a:t> — это часть входной истории, которую блок смог объяснить; она вычитается из входа, поэтому следующий блок работает уже с остатком. </a:t>
            </a:r>
            <a:r>
              <a:rPr lang="ru-RU" dirty="0" err="1"/>
              <a:t>Forecast</a:t>
            </a:r>
            <a:r>
              <a:rPr lang="ru-RU" dirty="0"/>
              <a:t> — это частичный прогноз блока, и все такие прогнозы суммируются в итоговый прогноз. При этом STL/MODWT и N-BEATS не дублируют друг друга: STL/MODWT заранее разделяют исходный ряд на компоненты, а N-BEATS строит прогноз уже для отдельной компоненты.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Концепция HybridPlus состоит в раздельном моделировании компонент после MODWT-разложения. Исходный ряд раскладывается на низкочастотную часть — фактически тренд, и высокочастотные детали — фактически сезонность и шум. Для каждой компоненты используется наиболее подходящая модель: нейросеть TimesNet или N-BEATS — для гладкой низкочастотной части, а статистические ARIMA или ETS — для высокочастотных деталей. После раздельного прогнозирования компоненты объединяются обратно через суммирование. Чтобы избежать типичных проблем гибридных моделей, добавлены инженерные меры: вклад высокочастотных компонент монотонно уменьшается с горизонтом, а разница между последним наблюдением и первым шагом прогноза ограничивается робастной оценкой.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работе реализовано четыре класса моделей. Четыре классические базовые: ARIMA с фиксированным порядком, ARIMA с автоподбором, ETS и Prophet. Четыре нейросетевые: TimesNet и N-BEATS без декомпозиции, а также TimesNet+ и N-BEATS+, где сеть применяется ко всем компонентам MODWT. И восемь гибридных моделей HybridPlus: четыре на основе MODWT и четыре на основе STL — в каждой четвёрке комбинируются TimesNet или N-BEATS на одной части и ARIMA или ETS на другой. Это симметричный набор, позволяющий аккуратно сравнить два типа декомпозиции.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Главная инженерная сложность гибридных моделей часто скрыта в обработке границ и стабилизации первого шага. Я выделил четыре основные меры. Первая — padding повторением последнего значения вместо нулей; это уменьшает искусственные скачки на границе окна при укладке в матрицу TimesNet. Вторая — стабилизация первого шага: прогноз деталей смешивается с последним наблюдаемым уровнем, а разность между прогнозом и последним наблюдением ограничивается робастной оценкой типичного шага ряда. Третья — вклад высокочастотных компонент монотонно убывает с горизонтом: мы не доверяем дальним прогнозам шумоподобных компонент. И четвёртая — циклическое граничное условие для MODWT, что снижает артефакты разложения.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Эксперименты</a:t>
            </a:r>
            <a:r>
              <a:rPr dirty="0"/>
              <a:t> </a:t>
            </a:r>
            <a:r>
              <a:rPr dirty="0" err="1"/>
              <a:t>проведены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трёх</a:t>
            </a:r>
            <a:r>
              <a:rPr dirty="0"/>
              <a:t> </a:t>
            </a:r>
            <a:r>
              <a:rPr dirty="0" err="1"/>
              <a:t>типах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. </a:t>
            </a:r>
            <a:r>
              <a:rPr dirty="0" err="1"/>
              <a:t>Сначала</a:t>
            </a:r>
            <a:r>
              <a:rPr dirty="0"/>
              <a:t> —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синтетических</a:t>
            </a:r>
            <a:r>
              <a:rPr dirty="0"/>
              <a:t> </a:t>
            </a:r>
            <a:r>
              <a:rPr dirty="0" err="1"/>
              <a:t>рядах</a:t>
            </a:r>
            <a:r>
              <a:rPr dirty="0"/>
              <a:t> с </a:t>
            </a:r>
            <a:r>
              <a:rPr dirty="0" err="1"/>
              <a:t>контролируемой</a:t>
            </a:r>
            <a:r>
              <a:rPr dirty="0"/>
              <a:t> </a:t>
            </a:r>
            <a:r>
              <a:rPr dirty="0" err="1"/>
              <a:t>структурой</a:t>
            </a:r>
            <a:r>
              <a:rPr dirty="0"/>
              <a:t>: </a:t>
            </a:r>
            <a:r>
              <a:rPr dirty="0" err="1"/>
              <a:t>плоские</a:t>
            </a:r>
            <a:r>
              <a:rPr dirty="0"/>
              <a:t>, с </a:t>
            </a:r>
            <a:r>
              <a:rPr dirty="0" err="1"/>
              <a:t>трендом</a:t>
            </a:r>
            <a:r>
              <a:rPr lang="ru-RU" dirty="0"/>
              <a:t>, </a:t>
            </a:r>
            <a:r>
              <a:rPr dirty="0" err="1"/>
              <a:t>со</a:t>
            </a:r>
            <a:r>
              <a:rPr dirty="0"/>
              <a:t> </a:t>
            </a:r>
            <a:r>
              <a:rPr dirty="0" err="1"/>
              <a:t>сложной</a:t>
            </a:r>
            <a:r>
              <a:rPr dirty="0"/>
              <a:t> </a:t>
            </a:r>
            <a:r>
              <a:rPr dirty="0" err="1"/>
              <a:t>составной</a:t>
            </a:r>
            <a:r>
              <a:rPr dirty="0"/>
              <a:t> </a:t>
            </a:r>
            <a:r>
              <a:rPr dirty="0" err="1"/>
              <a:t>сезонностью</a:t>
            </a:r>
            <a:r>
              <a:rPr dirty="0"/>
              <a:t> с </a:t>
            </a:r>
            <a:r>
              <a:rPr dirty="0" err="1"/>
              <a:t>наименьшим</a:t>
            </a:r>
            <a:r>
              <a:rPr dirty="0"/>
              <a:t> </a:t>
            </a:r>
            <a:r>
              <a:rPr dirty="0" err="1"/>
              <a:t>общим</a:t>
            </a:r>
            <a:r>
              <a:rPr dirty="0"/>
              <a:t> </a:t>
            </a:r>
            <a:r>
              <a:rPr dirty="0" err="1"/>
              <a:t>кратным</a:t>
            </a:r>
            <a:r>
              <a:rPr dirty="0"/>
              <a:t> 105</a:t>
            </a:r>
            <a:r>
              <a:rPr lang="ru-RU" dirty="0"/>
              <a:t> и 60</a:t>
            </a:r>
            <a:r>
              <a:rPr dirty="0"/>
              <a:t>. </a:t>
            </a:r>
            <a:r>
              <a:rPr dirty="0" err="1"/>
              <a:t>По</a:t>
            </a:r>
            <a:r>
              <a:rPr dirty="0"/>
              <a:t> 500 </a:t>
            </a:r>
            <a:r>
              <a:rPr dirty="0" err="1"/>
              <a:t>рядов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профиль</a:t>
            </a:r>
            <a:r>
              <a:rPr dirty="0"/>
              <a:t>. </a:t>
            </a:r>
            <a:r>
              <a:rPr dirty="0" err="1"/>
              <a:t>Затем</a:t>
            </a:r>
            <a:r>
              <a:rPr dirty="0"/>
              <a:t> —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эталонных</a:t>
            </a:r>
            <a:r>
              <a:rPr dirty="0"/>
              <a:t> </a:t>
            </a:r>
            <a:r>
              <a:rPr dirty="0" err="1"/>
              <a:t>рядах</a:t>
            </a:r>
            <a:r>
              <a:rPr dirty="0"/>
              <a:t> </a:t>
            </a:r>
            <a:r>
              <a:rPr dirty="0" err="1"/>
              <a:t>конкурсов</a:t>
            </a:r>
            <a:r>
              <a:rPr dirty="0"/>
              <a:t> M3 (</a:t>
            </a:r>
            <a:r>
              <a:rPr dirty="0" err="1"/>
              <a:t>по</a:t>
            </a:r>
            <a:r>
              <a:rPr dirty="0"/>
              <a:t> 100 </a:t>
            </a:r>
            <a:r>
              <a:rPr dirty="0" err="1"/>
              <a:t>рядов</a:t>
            </a:r>
            <a:r>
              <a:rPr dirty="0"/>
              <a:t> в </a:t>
            </a:r>
            <a:r>
              <a:rPr dirty="0" err="1"/>
              <a:t>каждой</a:t>
            </a:r>
            <a:r>
              <a:rPr dirty="0"/>
              <a:t> </a:t>
            </a:r>
            <a:r>
              <a:rPr dirty="0" err="1"/>
              <a:t>категории</a:t>
            </a:r>
            <a:r>
              <a:rPr dirty="0"/>
              <a:t>) и M4 (</a:t>
            </a:r>
            <a:r>
              <a:rPr dirty="0" err="1"/>
              <a:t>по</a:t>
            </a:r>
            <a:r>
              <a:rPr dirty="0"/>
              <a:t> 500 </a:t>
            </a:r>
            <a:r>
              <a:rPr dirty="0" err="1"/>
              <a:t>рядов</a:t>
            </a:r>
            <a:r>
              <a:rPr dirty="0"/>
              <a:t>). M4 — </a:t>
            </a:r>
            <a:r>
              <a:rPr dirty="0" err="1"/>
              <a:t>основной</a:t>
            </a:r>
            <a:r>
              <a:rPr dirty="0"/>
              <a:t> </a:t>
            </a:r>
            <a:r>
              <a:rPr dirty="0" err="1"/>
              <a:t>набор</a:t>
            </a:r>
            <a:r>
              <a:rPr dirty="0"/>
              <a:t>: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покрывает</a:t>
            </a:r>
            <a:r>
              <a:rPr dirty="0"/>
              <a:t> </a:t>
            </a:r>
            <a:r>
              <a:rPr dirty="0" err="1"/>
              <a:t>четыре</a:t>
            </a:r>
            <a:r>
              <a:rPr dirty="0"/>
              <a:t> </a:t>
            </a:r>
            <a:r>
              <a:rPr dirty="0" err="1"/>
              <a:t>частоты</a:t>
            </a:r>
            <a:r>
              <a:rPr dirty="0"/>
              <a:t> — </a:t>
            </a:r>
            <a:r>
              <a:rPr dirty="0" err="1"/>
              <a:t>годовую</a:t>
            </a:r>
            <a:r>
              <a:rPr dirty="0"/>
              <a:t>, </a:t>
            </a:r>
            <a:r>
              <a:rPr dirty="0" err="1"/>
              <a:t>квартальную</a:t>
            </a:r>
            <a:r>
              <a:rPr dirty="0"/>
              <a:t>, </a:t>
            </a:r>
            <a:r>
              <a:rPr dirty="0" err="1"/>
              <a:t>дневную</a:t>
            </a:r>
            <a:r>
              <a:rPr dirty="0"/>
              <a:t> и </a:t>
            </a:r>
            <a:r>
              <a:rPr dirty="0" err="1"/>
              <a:t>часовую</a:t>
            </a:r>
            <a:r>
              <a:rPr dirty="0"/>
              <a:t>, и </a:t>
            </a:r>
            <a:r>
              <a:rPr dirty="0" err="1"/>
              <a:t>именно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нём</a:t>
            </a:r>
            <a:r>
              <a:rPr dirty="0"/>
              <a:t> </a:t>
            </a:r>
            <a:r>
              <a:rPr dirty="0" err="1"/>
              <a:t>проявляются</a:t>
            </a:r>
            <a:r>
              <a:rPr dirty="0"/>
              <a:t> </a:t>
            </a:r>
            <a:r>
              <a:rPr dirty="0" err="1"/>
              <a:t>основные</a:t>
            </a:r>
            <a:r>
              <a:rPr dirty="0"/>
              <a:t> </a:t>
            </a:r>
            <a:r>
              <a:rPr dirty="0" err="1"/>
              <a:t>закономерности</a:t>
            </a:r>
            <a:r>
              <a:rPr dirty="0"/>
              <a:t> </a:t>
            </a:r>
            <a:r>
              <a:rPr dirty="0" err="1"/>
              <a:t>гибридных</a:t>
            </a:r>
            <a:r>
              <a:rPr dirty="0"/>
              <a:t> </a:t>
            </a:r>
            <a:r>
              <a:rPr dirty="0" err="1"/>
              <a:t>моделей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Это первый эксперимент — на отдельном квартальном ряде Q2142 из набора M4. Видно, что лучший результат показывает гибрид MODWT + TimesNet + ETS: sMAPE 3.97, что меньше, чем у любой классической модели. На графике справа можно увидеть, как кривые прогнозов моделей расходятся: разноцветные пунктирные линии — это прогнозы конкретных моделей, синяя сплошная — истинная динамика обучающей выборки. Особенно показательно поведение Prophet — он даёт катастрофически плохой результат. Этот пример иллюстрирует, что даже на коротком квартальном ряде декомпозиция способна дать выигрыш.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Второй иллюстративный пример — квартальный ряд Q2147. Это ряд с выраженным растущим трендом и заметной сезонностью. Здесь лучшим оказался гибрид MODWT + N-BEATS + ETS — </a:t>
            </a:r>
            <a:r>
              <a:rPr lang="ru-RU" dirty="0" err="1"/>
              <a:t>sMAPE</a:t>
            </a:r>
            <a:r>
              <a:rPr lang="ru-RU" dirty="0"/>
              <a:t> 2.32, RMSE 281. Чистый N-BEATS без декомпозиции даёт </a:t>
            </a:r>
            <a:r>
              <a:rPr lang="ru-RU" dirty="0" err="1"/>
              <a:t>sMAPE</a:t>
            </a:r>
            <a:r>
              <a:rPr lang="ru-RU" dirty="0"/>
              <a:t> 3.06, то есть гибрид выигрывает в полтора раза. На графике справа видно, как все MODWT-гибриды довольно плотно идут вдоль истинного ряда, тогда как чистые модели </a:t>
            </a:r>
            <a:r>
              <a:rPr lang="ru-RU" dirty="0" err="1"/>
              <a:t>TimesNet</a:t>
            </a:r>
            <a:r>
              <a:rPr lang="ru-RU" dirty="0"/>
              <a:t> и N-BEATS дают видимое отклонение на отдельных участках. Этот пример хорошо дополняет предыдущий: на разных рядах лидируют разные гибриды, но семейство MODWT-гибридов в целом стабильно опережает базовые модели.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741737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 500 годовых рядах из M4 лучшим оказался гибрид MODWT + TimesNet + ARIMA с автоподбором — sMAPE 13.52, что заметно лучше всех классических моделей. Однако на этой частоте видна общая закономерность: ряды настолько короткие, что нейросетевые модели не успевают обучиться. Поэтому классические ARIMA остаются конкурентоспособными, и в среднем гибриды лишь слегка обгоняют их.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 квартальной частоте картина другая: лучшая по относительным метрикам — ETS, по абсолютной RMSE — чистый TimesNet без декомпозиции, который лучше попадает в крупные уровни ряда. Гибриды отстают незначительно, но дополнительная сложность их построения не окупается таким небольшим выигрышем. Это важный практический вывод: гибридизация имеет смысл там, где есть выраженный потенциал её применения.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Это ключевой результат всей работы. На 500 дневных рядах M4 гибридная архитектура MODWT + TimesNet + ETS уверенно обходит все классические модели сразу по всем трём метрикам: sMAPE снижается с 3.08 у ARIMA до 2.05 у гибрида — это улучшение примерно в полтора раза. RMSE снижается с 165 до 111. На дневных рядах присутствуют все элементы, ради которых строилось разложение: устойчивый тренд, календарные эффекты, локальные всплески, шум. Именно здесь многошкальная декомпозиция работает в полную силу.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Это ключевой эксперимент для проверки гипотезы работы — действительно ли MODWT даёт преимущество перед STL. На синтетических рядах со сложной сезонностью периода 60 MODWT-гибриды стабильно опережают STL-гибриды. Лучший — MODWT + N-BEATS + ETS с sMAPE 6.63. Все четыре STL-гибрида показывают sMAPE от 7.5 до 9.1, тогда как MODWT-гибриды — от 6.6 до 7.2. На профиле с наименьшим общим кратным 105 разрыв ещё больше — почти 2.2 пункта sMAPE, а MSE у STL примерно вдвое выше. Это подтверждает гипотезу: на рядах со сложной составной сезонностью многошкальное разложение лучше сохраняет полезную структуру сигнала.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 этом слайде — параллельное сравнение компонентных прогнозов на одном и том же ряду со сложной сезонностью НОК 60. Слева — MODWT-разложение: четыре панели сверху вниз — аппроксимация A_J и три уровня деталей D_1, D_2, D_3. Справа — STL-разложение: трендовая, сезонная и остаточная компоненты. Видно, что на MODWT-компонентах модели уверенно восстанавливают аппроксимацию A_J и среднечастотную D_1 — пунктирные линии прогнозов идут вдоль красной истинной кривой. Высокочастотные D_2 и D_3 сглаживаются и тяготеют к нулю, что и заложено в схеме гибридизации. На STL-компонентах ситуация хуже: трендовая компонента STL воспроизводится менее точно, а высокочастотные колебания, не вписавшиеся в сезонную модель, попадают в остаток и плохо предсказываются. Это и объясняет, почему MODWT-гибриды стабильно превосходят STL-аналоги.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Перейдём</a:t>
            </a:r>
            <a:r>
              <a:rPr dirty="0"/>
              <a:t> к </a:t>
            </a:r>
            <a:r>
              <a:rPr dirty="0" err="1"/>
              <a:t>основным</a:t>
            </a:r>
            <a:r>
              <a:rPr dirty="0"/>
              <a:t> </a:t>
            </a:r>
            <a:r>
              <a:rPr dirty="0" err="1"/>
              <a:t>выводам</a:t>
            </a:r>
            <a:r>
              <a:rPr dirty="0"/>
              <a:t>. </a:t>
            </a:r>
            <a:r>
              <a:rPr dirty="0" err="1"/>
              <a:t>Первое</a:t>
            </a:r>
            <a:r>
              <a:rPr dirty="0"/>
              <a:t> — </a:t>
            </a:r>
            <a:r>
              <a:rPr dirty="0" err="1"/>
              <a:t>реализован</a:t>
            </a:r>
            <a:r>
              <a:rPr dirty="0"/>
              <a:t> </a:t>
            </a:r>
            <a:r>
              <a:rPr dirty="0" err="1"/>
              <a:t>полный</a:t>
            </a:r>
            <a:r>
              <a:rPr dirty="0"/>
              <a:t> </a:t>
            </a:r>
            <a:r>
              <a:rPr dirty="0" err="1"/>
              <a:t>конвейер</a:t>
            </a:r>
            <a:r>
              <a:rPr dirty="0"/>
              <a:t> </a:t>
            </a:r>
            <a:r>
              <a:rPr dirty="0" err="1"/>
              <a:t>HybridPlus</a:t>
            </a:r>
            <a:r>
              <a:rPr dirty="0"/>
              <a:t>, </a:t>
            </a:r>
            <a:r>
              <a:rPr dirty="0" err="1"/>
              <a:t>сочетающий</a:t>
            </a:r>
            <a:r>
              <a:rPr dirty="0"/>
              <a:t> MODWT-</a:t>
            </a:r>
            <a:r>
              <a:rPr dirty="0" err="1"/>
              <a:t>декомпозицию</a:t>
            </a:r>
            <a:r>
              <a:rPr dirty="0"/>
              <a:t> с </a:t>
            </a:r>
            <a:r>
              <a:rPr dirty="0" err="1"/>
              <a:t>раздельным</a:t>
            </a:r>
            <a:r>
              <a:rPr dirty="0"/>
              <a:t> </a:t>
            </a:r>
            <a:r>
              <a:rPr dirty="0" err="1"/>
              <a:t>моделированием</a:t>
            </a:r>
            <a:r>
              <a:rPr dirty="0"/>
              <a:t> </a:t>
            </a:r>
            <a:r>
              <a:rPr dirty="0" err="1"/>
              <a:t>компонент</a:t>
            </a:r>
            <a:r>
              <a:rPr dirty="0"/>
              <a:t> </a:t>
            </a:r>
            <a:r>
              <a:rPr dirty="0" err="1"/>
              <a:t>нейросетевыми</a:t>
            </a:r>
            <a:r>
              <a:rPr dirty="0"/>
              <a:t> и </a:t>
            </a:r>
            <a:r>
              <a:rPr dirty="0" err="1"/>
              <a:t>статистическими</a:t>
            </a:r>
            <a:r>
              <a:rPr dirty="0"/>
              <a:t> </a:t>
            </a:r>
            <a:r>
              <a:rPr dirty="0" err="1"/>
              <a:t>моделями</a:t>
            </a:r>
            <a:r>
              <a:rPr dirty="0"/>
              <a:t>. </a:t>
            </a:r>
            <a:r>
              <a:rPr dirty="0" err="1"/>
              <a:t>Второе</a:t>
            </a:r>
            <a:r>
              <a:rPr dirty="0"/>
              <a:t> — </a:t>
            </a:r>
            <a:r>
              <a:rPr dirty="0" err="1"/>
              <a:t>проведено</a:t>
            </a:r>
            <a:r>
              <a:rPr dirty="0"/>
              <a:t> </a:t>
            </a:r>
            <a:r>
              <a:rPr dirty="0" err="1"/>
              <a:t>систематическое</a:t>
            </a:r>
            <a:r>
              <a:rPr dirty="0"/>
              <a:t> </a:t>
            </a:r>
            <a:r>
              <a:rPr dirty="0" err="1"/>
              <a:t>сравнение</a:t>
            </a:r>
            <a:r>
              <a:rPr dirty="0"/>
              <a:t> </a:t>
            </a:r>
            <a:r>
              <a:rPr lang="ru-RU" dirty="0"/>
              <a:t>шестнадцати</a:t>
            </a:r>
            <a:r>
              <a:rPr dirty="0"/>
              <a:t> </a:t>
            </a:r>
            <a:r>
              <a:rPr dirty="0" err="1"/>
              <a:t>моделей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эталонных</a:t>
            </a:r>
            <a:r>
              <a:rPr dirty="0"/>
              <a:t> </a:t>
            </a:r>
            <a:r>
              <a:rPr dirty="0" err="1"/>
              <a:t>наборах</a:t>
            </a:r>
            <a:r>
              <a:rPr dirty="0"/>
              <a:t> M3, M4 и </a:t>
            </a:r>
            <a:r>
              <a:rPr dirty="0" err="1"/>
              <a:t>синтетических</a:t>
            </a:r>
            <a:r>
              <a:rPr dirty="0"/>
              <a:t> </a:t>
            </a:r>
            <a:r>
              <a:rPr dirty="0" err="1"/>
              <a:t>рядах</a:t>
            </a:r>
            <a:r>
              <a:rPr dirty="0"/>
              <a:t>. </a:t>
            </a:r>
            <a:r>
              <a:rPr dirty="0" err="1"/>
              <a:t>Третье</a:t>
            </a:r>
            <a:r>
              <a:rPr dirty="0"/>
              <a:t> —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дневной</a:t>
            </a:r>
            <a:r>
              <a:rPr dirty="0"/>
              <a:t> </a:t>
            </a:r>
            <a:r>
              <a:rPr dirty="0" err="1"/>
              <a:t>частоте</a:t>
            </a:r>
            <a:r>
              <a:rPr dirty="0"/>
              <a:t> M4 </a:t>
            </a:r>
            <a:r>
              <a:rPr dirty="0" err="1"/>
              <a:t>получен</a:t>
            </a:r>
            <a:r>
              <a:rPr dirty="0"/>
              <a:t> </a:t>
            </a:r>
            <a:r>
              <a:rPr dirty="0" err="1"/>
              <a:t>наибольший</a:t>
            </a:r>
            <a:r>
              <a:rPr dirty="0"/>
              <a:t> </a:t>
            </a:r>
            <a:r>
              <a:rPr dirty="0" err="1"/>
              <a:t>выигрыш</a:t>
            </a:r>
            <a:r>
              <a:rPr dirty="0"/>
              <a:t>: </a:t>
            </a:r>
            <a:r>
              <a:rPr dirty="0" err="1"/>
              <a:t>sMAPE</a:t>
            </a:r>
            <a:r>
              <a:rPr dirty="0"/>
              <a:t> 2.05 </a:t>
            </a:r>
            <a:r>
              <a:rPr dirty="0" err="1"/>
              <a:t>против</a:t>
            </a:r>
            <a:r>
              <a:rPr dirty="0"/>
              <a:t> 3.08 у </a:t>
            </a:r>
            <a:r>
              <a:rPr dirty="0" err="1"/>
              <a:t>лучшей</a:t>
            </a:r>
            <a:r>
              <a:rPr dirty="0"/>
              <a:t> </a:t>
            </a:r>
            <a:r>
              <a:rPr dirty="0" err="1"/>
              <a:t>классики</a:t>
            </a:r>
            <a:r>
              <a:rPr dirty="0"/>
              <a:t>, </a:t>
            </a:r>
            <a:r>
              <a:rPr dirty="0" err="1"/>
              <a:t>улучшение</a:t>
            </a:r>
            <a:r>
              <a:rPr dirty="0"/>
              <a:t> </a:t>
            </a:r>
            <a:r>
              <a:rPr dirty="0" err="1"/>
              <a:t>примерно</a:t>
            </a:r>
            <a:r>
              <a:rPr dirty="0"/>
              <a:t> в </a:t>
            </a:r>
            <a:r>
              <a:rPr dirty="0" err="1"/>
              <a:t>полтора</a:t>
            </a:r>
            <a:r>
              <a:rPr dirty="0"/>
              <a:t> </a:t>
            </a:r>
            <a:r>
              <a:rPr dirty="0" err="1"/>
              <a:t>раза</a:t>
            </a:r>
            <a:r>
              <a:rPr dirty="0"/>
              <a:t>. </a:t>
            </a:r>
            <a:r>
              <a:rPr dirty="0" err="1"/>
              <a:t>Четвёртое</a:t>
            </a:r>
            <a:r>
              <a:rPr dirty="0"/>
              <a:t> — </a:t>
            </a:r>
            <a:r>
              <a:rPr dirty="0" err="1"/>
              <a:t>главная</a:t>
            </a:r>
            <a:r>
              <a:rPr dirty="0"/>
              <a:t> </a:t>
            </a:r>
            <a:r>
              <a:rPr dirty="0" err="1"/>
              <a:t>гипотеза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подтверждена</a:t>
            </a:r>
            <a:r>
              <a:rPr dirty="0"/>
              <a:t>: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рядах</a:t>
            </a:r>
            <a:r>
              <a:rPr dirty="0"/>
              <a:t> </a:t>
            </a:r>
            <a:r>
              <a:rPr dirty="0" err="1"/>
              <a:t>со</a:t>
            </a:r>
            <a:r>
              <a:rPr dirty="0"/>
              <a:t> </a:t>
            </a:r>
            <a:r>
              <a:rPr dirty="0" err="1"/>
              <a:t>сложной</a:t>
            </a:r>
            <a:r>
              <a:rPr dirty="0"/>
              <a:t> </a:t>
            </a:r>
            <a:r>
              <a:rPr dirty="0" err="1"/>
              <a:t>сезонностью</a:t>
            </a:r>
            <a:r>
              <a:rPr dirty="0"/>
              <a:t> MODWT-</a:t>
            </a:r>
            <a:r>
              <a:rPr dirty="0" err="1"/>
              <a:t>гибриды</a:t>
            </a:r>
            <a:r>
              <a:rPr dirty="0"/>
              <a:t> </a:t>
            </a:r>
            <a:r>
              <a:rPr dirty="0" err="1"/>
              <a:t>стабильно</a:t>
            </a:r>
            <a:r>
              <a:rPr dirty="0"/>
              <a:t> </a:t>
            </a:r>
            <a:r>
              <a:rPr dirty="0" err="1"/>
              <a:t>опережают</a:t>
            </a:r>
            <a:r>
              <a:rPr dirty="0"/>
              <a:t> STL-</a:t>
            </a:r>
            <a:r>
              <a:rPr dirty="0" err="1"/>
              <a:t>аналоги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 основе экспериментов сформулированы практические рекомендации. Для дневных и недельных рядов с метрикой sMAPE — выбирайте MODWT-гибриды. Для месячных и годовых рядов — классику, она устойчивее на коротких выборках. При сложной многопериодной сезонности — обязательно MODWT, не STL. На шумном неоднозначном тренде без сезонности — ETS остаётся вне конкуренции. На часовой частоте в текущей постановке разложение даёт фазовые искажения и хуже работает — это потенциальное направление улучшения. Перспективы — автоматический выбор глубины разложения, адаптивные веса при реконструкции и работа с выбросами и структурными сдвигами.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Здесь</a:t>
            </a:r>
            <a:r>
              <a:rPr dirty="0"/>
              <a:t> </a:t>
            </a:r>
            <a:r>
              <a:rPr dirty="0" err="1"/>
              <a:t>представлена</a:t>
            </a:r>
            <a:r>
              <a:rPr dirty="0"/>
              <a:t> </a:t>
            </a:r>
            <a:r>
              <a:rPr dirty="0" err="1"/>
              <a:t>избранная</a:t>
            </a:r>
            <a:r>
              <a:rPr dirty="0"/>
              <a:t> </a:t>
            </a:r>
            <a:r>
              <a:rPr dirty="0" err="1"/>
              <a:t>литература</a:t>
            </a:r>
            <a:r>
              <a:rPr dirty="0"/>
              <a:t> — </a:t>
            </a:r>
            <a:r>
              <a:rPr dirty="0" err="1"/>
              <a:t>наиболее</a:t>
            </a:r>
            <a:r>
              <a:rPr dirty="0"/>
              <a:t> </a:t>
            </a:r>
            <a:r>
              <a:rPr dirty="0" err="1"/>
              <a:t>важные</a:t>
            </a:r>
            <a:r>
              <a:rPr dirty="0"/>
              <a:t> </a:t>
            </a:r>
            <a:r>
              <a:rPr dirty="0" err="1"/>
              <a:t>источники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43 </a:t>
            </a:r>
            <a:r>
              <a:rPr dirty="0" err="1"/>
              <a:t>ссылок</a:t>
            </a:r>
            <a:r>
              <a:rPr dirty="0"/>
              <a:t> </a:t>
            </a:r>
            <a:r>
              <a:rPr dirty="0" err="1"/>
              <a:t>основной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.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базовая</a:t>
            </a:r>
            <a:r>
              <a:rPr dirty="0"/>
              <a:t> </a:t>
            </a:r>
            <a:r>
              <a:rPr dirty="0" err="1"/>
              <a:t>литература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временным</a:t>
            </a:r>
            <a:r>
              <a:rPr dirty="0"/>
              <a:t> </a:t>
            </a:r>
            <a:r>
              <a:rPr dirty="0" err="1"/>
              <a:t>рядам</a:t>
            </a:r>
            <a:r>
              <a:rPr dirty="0"/>
              <a:t> и </a:t>
            </a:r>
            <a:r>
              <a:rPr dirty="0" err="1"/>
              <a:t>прогнозированию</a:t>
            </a:r>
            <a:r>
              <a:rPr dirty="0"/>
              <a:t>, </a:t>
            </a:r>
            <a:r>
              <a:rPr dirty="0" err="1"/>
              <a:t>теории</a:t>
            </a:r>
            <a:r>
              <a:rPr dirty="0"/>
              <a:t> </a:t>
            </a:r>
            <a:r>
              <a:rPr dirty="0" err="1"/>
              <a:t>вейвлетов</a:t>
            </a:r>
            <a:r>
              <a:rPr dirty="0"/>
              <a:t>, </a:t>
            </a:r>
            <a:r>
              <a:rPr dirty="0" err="1"/>
              <a:t>конкурсам</a:t>
            </a:r>
            <a:r>
              <a:rPr dirty="0"/>
              <a:t> M3 и M4, а </a:t>
            </a:r>
            <a:r>
              <a:rPr dirty="0" err="1"/>
              <a:t>также</a:t>
            </a:r>
            <a:r>
              <a:rPr dirty="0"/>
              <a:t> </a:t>
            </a:r>
            <a:r>
              <a:rPr dirty="0" err="1"/>
              <a:t>оригинальные</a:t>
            </a:r>
            <a:r>
              <a:rPr dirty="0"/>
              <a:t> </a:t>
            </a:r>
            <a:r>
              <a:rPr dirty="0" err="1"/>
              <a:t>публикации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архитектурам</a:t>
            </a:r>
            <a:r>
              <a:rPr dirty="0"/>
              <a:t> </a:t>
            </a:r>
            <a:r>
              <a:rPr dirty="0" err="1"/>
              <a:t>TimesNet</a:t>
            </a:r>
            <a:r>
              <a:rPr dirty="0"/>
              <a:t> и N-BEATS.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теме</a:t>
            </a:r>
            <a:r>
              <a:rPr dirty="0"/>
              <a:t> </a:t>
            </a:r>
            <a:r>
              <a:rPr dirty="0" err="1"/>
              <a:t>данной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подготовлена</a:t>
            </a:r>
            <a:r>
              <a:rPr dirty="0"/>
              <a:t> </a:t>
            </a:r>
            <a:r>
              <a:rPr dirty="0" err="1"/>
              <a:t>публикация</a:t>
            </a:r>
            <a:r>
              <a:rPr dirty="0"/>
              <a:t> в </a:t>
            </a:r>
            <a:r>
              <a:rPr dirty="0" err="1"/>
              <a:t>соавторстве</a:t>
            </a:r>
            <a:r>
              <a:rPr dirty="0"/>
              <a:t> с </a:t>
            </a:r>
            <a:r>
              <a:rPr dirty="0" err="1"/>
              <a:t>научным</a:t>
            </a:r>
            <a:r>
              <a:rPr dirty="0"/>
              <a:t> </a:t>
            </a:r>
            <a:r>
              <a:rPr dirty="0" err="1"/>
              <a:t>руководителем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Спасибо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внимание</a:t>
            </a:r>
            <a:r>
              <a:rPr dirty="0"/>
              <a:t>! </a:t>
            </a:r>
            <a:r>
              <a:rPr dirty="0" err="1"/>
              <a:t>Готов</a:t>
            </a:r>
            <a:r>
              <a:rPr dirty="0"/>
              <a:t> </a:t>
            </a:r>
            <a:r>
              <a:rPr dirty="0" err="1"/>
              <a:t>ответить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ваши</a:t>
            </a:r>
            <a:r>
              <a:rPr dirty="0"/>
              <a:t> </a:t>
            </a:r>
            <a:r>
              <a:rPr dirty="0" err="1"/>
              <a:t>вопросы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60.png"/><Relationship Id="rId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2743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0"/>
            <a:ext cx="12191695" cy="27432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МИРЭА — Российский технологический университет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 dirty="0" err="1">
                <a:solidFill>
                  <a:srgbClr val="CADCFC"/>
                </a:solidFill>
                <a:latin typeface="Calibri"/>
              </a:rPr>
              <a:t>Институт</a:t>
            </a:r>
            <a:r>
              <a:rPr sz="1200" b="0" i="1" dirty="0">
                <a:solidFill>
                  <a:srgbClr val="CADCFC"/>
                </a:solidFill>
                <a:latin typeface="Calibri"/>
              </a:rPr>
              <a:t> </a:t>
            </a:r>
            <a:r>
              <a:rPr lang="ru-RU" sz="1200" b="0" i="1" dirty="0">
                <a:solidFill>
                  <a:srgbClr val="CADCFC"/>
                </a:solidFill>
                <a:latin typeface="Calibri"/>
              </a:rPr>
              <a:t>искусственного интеллекта</a:t>
            </a:r>
            <a:endParaRPr sz="1200" b="0" i="1" dirty="0">
              <a:solidFill>
                <a:srgbClr val="CADCFC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 dirty="0" err="1">
                <a:solidFill>
                  <a:srgbClr val="E76F51"/>
                </a:solidFill>
                <a:latin typeface="Calibri"/>
              </a:rPr>
              <a:t>Выпускная</a:t>
            </a:r>
            <a:r>
              <a:rPr sz="1600" b="1" i="0" dirty="0">
                <a:solidFill>
                  <a:srgbClr val="E76F51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E76F51"/>
                </a:solidFill>
                <a:latin typeface="Calibri"/>
              </a:rPr>
              <a:t>квалификационная</a:t>
            </a:r>
            <a:r>
              <a:rPr sz="1600" b="1" i="0" dirty="0">
                <a:solidFill>
                  <a:srgbClr val="E76F51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E76F51"/>
                </a:solidFill>
                <a:latin typeface="Calibri"/>
              </a:rPr>
              <a:t>работа</a:t>
            </a:r>
            <a:endParaRPr sz="1600" b="1" i="0" dirty="0">
              <a:solidFill>
                <a:srgbClr val="E76F51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278985"/>
            <a:ext cx="11064240" cy="21945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200" b="1" i="0" dirty="0" err="1">
                <a:solidFill>
                  <a:srgbClr val="FFFFFF"/>
                </a:solidFill>
                <a:latin typeface="Calibri"/>
              </a:rPr>
              <a:t>Построение</a:t>
            </a:r>
            <a:r>
              <a:rPr sz="3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3200" b="1" i="0" dirty="0" err="1">
                <a:solidFill>
                  <a:srgbClr val="FFFFFF"/>
                </a:solidFill>
                <a:latin typeface="Calibri"/>
              </a:rPr>
              <a:t>комбинированных</a:t>
            </a:r>
            <a:r>
              <a:rPr sz="3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3200" b="1" i="0" dirty="0" err="1">
                <a:solidFill>
                  <a:srgbClr val="FFFFFF"/>
                </a:solidFill>
                <a:latin typeface="Calibri"/>
              </a:rPr>
              <a:t>моделей</a:t>
            </a:r>
            <a:endParaRPr sz="3200" b="1" i="0" dirty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3200" b="1" i="0" dirty="0" err="1">
                <a:solidFill>
                  <a:srgbClr val="FFFFFF"/>
                </a:solidFill>
                <a:latin typeface="Calibri"/>
              </a:rPr>
              <a:t>на</a:t>
            </a:r>
            <a:r>
              <a:rPr sz="3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3200" b="1" i="0" dirty="0" err="1">
                <a:solidFill>
                  <a:srgbClr val="FFFFFF"/>
                </a:solidFill>
                <a:latin typeface="Calibri"/>
              </a:rPr>
              <a:t>основе</a:t>
            </a:r>
            <a:r>
              <a:rPr sz="3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3200" b="1" i="0" dirty="0" err="1">
                <a:solidFill>
                  <a:srgbClr val="FFFFFF"/>
                </a:solidFill>
                <a:latin typeface="Calibri"/>
              </a:rPr>
              <a:t>алгоритма</a:t>
            </a:r>
            <a:r>
              <a:rPr sz="3200" b="1" i="0" dirty="0">
                <a:solidFill>
                  <a:srgbClr val="FFFFFF"/>
                </a:solidFill>
                <a:latin typeface="Calibri"/>
              </a:rPr>
              <a:t> MODWT</a:t>
            </a:r>
          </a:p>
          <a:p>
            <a:pPr algn="l"/>
            <a:r>
              <a:rPr sz="3200" b="1" i="0" dirty="0" err="1">
                <a:solidFill>
                  <a:srgbClr val="FFFFFF"/>
                </a:solidFill>
                <a:latin typeface="Calibri"/>
              </a:rPr>
              <a:t>при</a:t>
            </a:r>
            <a:r>
              <a:rPr sz="3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3200" b="1" i="0" dirty="0" err="1">
                <a:solidFill>
                  <a:srgbClr val="FFFFFF"/>
                </a:solidFill>
                <a:latin typeface="Calibri"/>
              </a:rPr>
              <a:t>обработке</a:t>
            </a:r>
            <a:r>
              <a:rPr sz="3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3200" b="1" i="0" dirty="0" err="1">
                <a:solidFill>
                  <a:srgbClr val="FFFFFF"/>
                </a:solidFill>
                <a:latin typeface="Calibri"/>
              </a:rPr>
              <a:t>временных</a:t>
            </a:r>
            <a:r>
              <a:rPr sz="3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3200" b="1" i="0" dirty="0" err="1">
                <a:solidFill>
                  <a:srgbClr val="FFFFFF"/>
                </a:solidFill>
                <a:latin typeface="Calibri"/>
              </a:rPr>
              <a:t>рядов</a:t>
            </a:r>
            <a:endParaRPr sz="3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4572000"/>
            <a:ext cx="2743200" cy="28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475488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Выполнил: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29200"/>
            <a:ext cx="5486400" cy="2677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 dirty="0" err="1">
                <a:solidFill>
                  <a:srgbClr val="FFFFFF"/>
                </a:solidFill>
                <a:latin typeface="Calibri"/>
              </a:rPr>
              <a:t>студент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i="0" dirty="0" err="1">
                <a:solidFill>
                  <a:srgbClr val="FFFFFF"/>
                </a:solidFill>
                <a:latin typeface="Calibri"/>
              </a:rPr>
              <a:t>группы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ru-RU" sz="1500" b="1" i="0" dirty="0">
                <a:solidFill>
                  <a:srgbClr val="FFFFFF"/>
                </a:solidFill>
                <a:latin typeface="Calibri"/>
              </a:rPr>
              <a:t>КМБО</a:t>
            </a:r>
            <a:r>
              <a:rPr lang="en-US" sz="1500" b="1" i="0" dirty="0">
                <a:solidFill>
                  <a:srgbClr val="FFFFFF"/>
                </a:solidFill>
                <a:latin typeface="Calibri"/>
              </a:rPr>
              <a:t>-03-22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— </a:t>
            </a:r>
            <a:r>
              <a:rPr sz="1500" b="1" i="0" dirty="0" err="1">
                <a:solidFill>
                  <a:srgbClr val="FFFFFF"/>
                </a:solidFill>
                <a:latin typeface="Calibri"/>
              </a:rPr>
              <a:t>Лыков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Д.С.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66928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Научный руководитель: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7315200" cy="2677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FFFFFF"/>
                </a:solidFill>
                <a:latin typeface="Calibri"/>
              </a:rPr>
              <a:t>к.ф.-</a:t>
            </a:r>
            <a:r>
              <a:rPr sz="1500" b="1" i="0" dirty="0" err="1">
                <a:solidFill>
                  <a:srgbClr val="FFFFFF"/>
                </a:solidFill>
                <a:latin typeface="Calibri"/>
              </a:rPr>
              <a:t>м.н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., </a:t>
            </a:r>
            <a:r>
              <a:rPr sz="1500" b="1" i="0" dirty="0" err="1">
                <a:solidFill>
                  <a:srgbClr val="FFFFFF"/>
                </a:solidFill>
                <a:latin typeface="Calibri"/>
              </a:rPr>
              <a:t>доцент</a:t>
            </a:r>
            <a:r>
              <a:rPr lang="ru-RU" sz="1500" b="1" i="0" dirty="0">
                <a:solidFill>
                  <a:srgbClr val="FFFFFF"/>
                </a:solidFill>
                <a:latin typeface="Calibri"/>
              </a:rPr>
              <a:t> кафедры ВМ —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i="0" dirty="0" err="1">
                <a:solidFill>
                  <a:srgbClr val="FFFFFF"/>
                </a:solidFill>
                <a:latin typeface="Calibri"/>
              </a:rPr>
              <a:t>Петрусевич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Д. 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 dirty="0" err="1">
                <a:solidFill>
                  <a:srgbClr val="CADCFC"/>
                </a:solidFill>
                <a:latin typeface="Calibri"/>
              </a:rPr>
              <a:t>Москва</a:t>
            </a:r>
            <a:r>
              <a:rPr sz="1100" b="0" i="0" dirty="0">
                <a:solidFill>
                  <a:srgbClr val="CADCFC"/>
                </a:solidFill>
                <a:latin typeface="Calibri"/>
              </a:rPr>
              <a:t>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Актуальность и место исследования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Раздел 1. Состояние дел в области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2 / 2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486400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 dirty="0" err="1">
                <a:solidFill>
                  <a:srgbClr val="065A82"/>
                </a:solidFill>
                <a:latin typeface="Calibri"/>
              </a:rPr>
              <a:t>Зачем</a:t>
            </a:r>
            <a:r>
              <a:rPr sz="1600" b="1" i="0" dirty="0">
                <a:solidFill>
                  <a:srgbClr val="065A82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065A82"/>
                </a:solidFill>
                <a:latin typeface="Calibri"/>
              </a:rPr>
              <a:t>нужно</a:t>
            </a:r>
            <a:r>
              <a:rPr sz="1600" b="1" i="0" dirty="0">
                <a:solidFill>
                  <a:srgbClr val="065A82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065A82"/>
                </a:solidFill>
                <a:latin typeface="Calibri"/>
              </a:rPr>
              <a:t>прогнозирование</a:t>
            </a:r>
            <a:r>
              <a:rPr sz="1600" b="1" i="0" dirty="0">
                <a:solidFill>
                  <a:srgbClr val="065A82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065A82"/>
                </a:solidFill>
                <a:latin typeface="Calibri"/>
              </a:rPr>
              <a:t>рядов</a:t>
            </a:r>
            <a:r>
              <a:rPr lang="ru-RU" sz="1600" b="1" i="0" dirty="0">
                <a:solidFill>
                  <a:srgbClr val="065A82"/>
                </a:solidFill>
                <a:latin typeface="Calibri"/>
              </a:rPr>
              <a:t>?</a:t>
            </a:r>
            <a:endParaRPr sz="1600" b="1" i="0" dirty="0">
              <a:solidFill>
                <a:srgbClr val="065A82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580158"/>
            <a:ext cx="548640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76F51"/>
                </a:solidFill>
                <a:latin typeface="Calibri"/>
              </a:rPr>
              <a:t>▪  </a:t>
            </a:r>
            <a:r>
              <a:rPr sz="1400">
                <a:solidFill>
                  <a:srgbClr val="21295C"/>
                </a:solidFill>
                <a:latin typeface="Calibri"/>
              </a:rPr>
              <a:t>продажи, трафик, потребление ресурсов, цены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E76F51"/>
                </a:solidFill>
                <a:latin typeface="Calibri"/>
              </a:rPr>
              <a:t>▪  </a:t>
            </a:r>
            <a:r>
              <a:rPr sz="1400">
                <a:solidFill>
                  <a:srgbClr val="21295C"/>
                </a:solidFill>
                <a:latin typeface="Calibri"/>
              </a:rPr>
              <a:t>ограниченная история наблюдений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E76F51"/>
                </a:solidFill>
                <a:latin typeface="Calibri"/>
              </a:rPr>
              <a:t>▪  </a:t>
            </a:r>
            <a:r>
              <a:rPr sz="1400">
                <a:solidFill>
                  <a:srgbClr val="21295C"/>
                </a:solidFill>
                <a:latin typeface="Calibri"/>
              </a:rPr>
              <a:t>наличие шума, сезонности, структурных сдвигов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E76F51"/>
                </a:solidFill>
                <a:latin typeface="Calibri"/>
              </a:rPr>
              <a:t>▪  </a:t>
            </a:r>
            <a:r>
              <a:rPr sz="1400">
                <a:solidFill>
                  <a:srgbClr val="21295C"/>
                </a:solidFill>
                <a:latin typeface="Calibri"/>
              </a:rPr>
              <a:t>разнородность поведения рядов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88720"/>
            <a:ext cx="5349240" cy="50292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188720"/>
            <a:ext cx="534924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234440"/>
            <a:ext cx="5120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Место настоящего исследования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783080"/>
            <a:ext cx="5074920" cy="17491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универсальной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модели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не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существует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(M3, M4)</a:t>
            </a:r>
          </a:p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статистика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стабильна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на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коротких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рядах</a:t>
            </a:r>
            <a:endParaRPr sz="1300" dirty="0">
              <a:solidFill>
                <a:srgbClr val="21295C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нейросети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—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на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длинных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и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сложных</a:t>
            </a:r>
            <a:endParaRPr sz="1300" dirty="0">
              <a:solidFill>
                <a:srgbClr val="21295C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идея</a:t>
            </a:r>
            <a:r>
              <a:rPr sz="1300" dirty="0">
                <a:solidFill>
                  <a:srgbClr val="21295C"/>
                </a:solidFill>
                <a:latin typeface="Calibri"/>
              </a:rPr>
              <a:t>: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гибрид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через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декомпозицию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ряда</a:t>
            </a:r>
            <a:endParaRPr sz="1300" dirty="0">
              <a:solidFill>
                <a:srgbClr val="21295C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новизна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—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конвейер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HybridPlus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на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базе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MODWT</a:t>
            </a:r>
            <a:r>
              <a:rPr lang="ru-RU" sz="1300" dirty="0">
                <a:solidFill>
                  <a:srgbClr val="21295C"/>
                </a:solidFill>
                <a:latin typeface="Calibri"/>
              </a:rPr>
              <a:t> и </a:t>
            </a:r>
            <a:r>
              <a:rPr lang="en-US" sz="1300" dirty="0">
                <a:solidFill>
                  <a:srgbClr val="21295C"/>
                </a:solidFill>
                <a:latin typeface="Calibri"/>
              </a:rPr>
              <a:t>STL</a:t>
            </a:r>
            <a:endParaRPr sz="1300" dirty="0">
              <a:solidFill>
                <a:srgbClr val="21295C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сравнение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многошкального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(MODWT) и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структурного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(STL)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разложения</a:t>
            </a:r>
            <a:endParaRPr sz="1300" dirty="0">
              <a:solidFill>
                <a:srgbClr val="21295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Современные подходы к прогнозированию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Обзор: классические vs нейросетевые vs гибридные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3 / 2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749039" cy="49377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3749039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252728"/>
            <a:ext cx="356615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Классические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3566159" cy="169277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200" dirty="0">
                <a:solidFill>
                  <a:srgbClr val="21295C"/>
                </a:solidFill>
                <a:latin typeface="Calibri"/>
              </a:rPr>
              <a:t>ARIMA / ARIMA(auto)</a:t>
            </a: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200" dirty="0">
                <a:solidFill>
                  <a:srgbClr val="21295C"/>
                </a:solidFill>
                <a:latin typeface="Calibri"/>
              </a:rPr>
              <a:t>ETS (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экспоненциальное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сглаживание</a:t>
            </a:r>
            <a:r>
              <a:rPr sz="1200" dirty="0">
                <a:solidFill>
                  <a:srgbClr val="21295C"/>
                </a:solidFill>
                <a:latin typeface="Calibri"/>
              </a:rPr>
              <a:t>)</a:t>
            </a: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200" dirty="0">
                <a:solidFill>
                  <a:srgbClr val="21295C"/>
                </a:solidFill>
                <a:latin typeface="Calibri"/>
              </a:rPr>
              <a:t>Prophet (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аддитивная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регрессия</a:t>
            </a:r>
            <a:r>
              <a:rPr sz="1200" dirty="0">
                <a:solidFill>
                  <a:srgbClr val="21295C"/>
                </a:solidFill>
                <a:latin typeface="Calibri"/>
              </a:rPr>
              <a:t>)</a:t>
            </a: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200" dirty="0">
                <a:solidFill>
                  <a:srgbClr val="21295C"/>
                </a:solidFill>
                <a:latin typeface="Calibri"/>
              </a:rPr>
              <a:t>+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интерпретируемость</a:t>
            </a:r>
            <a:endParaRPr sz="1200" dirty="0">
              <a:solidFill>
                <a:srgbClr val="21295C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200" dirty="0">
                <a:solidFill>
                  <a:srgbClr val="21295C"/>
                </a:solidFill>
                <a:latin typeface="Calibri"/>
              </a:rPr>
              <a:t>+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доверительные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интервалы</a:t>
            </a:r>
            <a:endParaRPr sz="1200" dirty="0">
              <a:solidFill>
                <a:srgbClr val="21295C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200" dirty="0">
                <a:solidFill>
                  <a:srgbClr val="21295C"/>
                </a:solidFill>
                <a:latin typeface="Calibri"/>
              </a:rPr>
              <a:t>−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линейность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и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стационарность</a:t>
            </a:r>
            <a:endParaRPr sz="1200" dirty="0">
              <a:solidFill>
                <a:srgbClr val="21295C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200" dirty="0">
                <a:solidFill>
                  <a:srgbClr val="21295C"/>
                </a:solidFill>
                <a:latin typeface="Calibri"/>
              </a:rPr>
              <a:t>−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проблемы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при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сложной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структуре</a:t>
            </a:r>
            <a:endParaRPr sz="1200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434839" y="1188720"/>
            <a:ext cx="3749039" cy="49377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39" y="1188720"/>
            <a:ext cx="3749039" cy="5029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1999" y="1252728"/>
            <a:ext cx="356615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Нейросетевые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1828800"/>
            <a:ext cx="3566159" cy="145680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TimesNet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— 2D-представление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периодов</a:t>
            </a:r>
            <a:endParaRPr sz="1200" dirty="0">
              <a:solidFill>
                <a:srgbClr val="21295C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200" dirty="0">
                <a:solidFill>
                  <a:srgbClr val="21295C"/>
                </a:solidFill>
                <a:latin typeface="Calibri"/>
              </a:rPr>
              <a:t>N-BEATS —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стек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базисных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блоков</a:t>
            </a:r>
            <a:endParaRPr sz="1200" dirty="0">
              <a:solidFill>
                <a:srgbClr val="21295C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200" dirty="0">
                <a:solidFill>
                  <a:srgbClr val="21295C"/>
                </a:solidFill>
                <a:latin typeface="Calibri"/>
              </a:rPr>
              <a:t>+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нелинейные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зависимости</a:t>
            </a:r>
            <a:endParaRPr sz="1200" dirty="0">
              <a:solidFill>
                <a:srgbClr val="21295C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200" dirty="0">
                <a:solidFill>
                  <a:srgbClr val="21295C"/>
                </a:solidFill>
                <a:latin typeface="Calibri"/>
              </a:rPr>
              <a:t>+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автоматический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поиск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признаков</a:t>
            </a:r>
            <a:endParaRPr sz="1200" dirty="0">
              <a:solidFill>
                <a:srgbClr val="21295C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200" dirty="0">
                <a:solidFill>
                  <a:srgbClr val="21295C"/>
                </a:solidFill>
                <a:latin typeface="Calibri"/>
              </a:rPr>
              <a:t>−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чувствительность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к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шуму</a:t>
            </a:r>
            <a:endParaRPr sz="1200" dirty="0">
              <a:solidFill>
                <a:srgbClr val="21295C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200" dirty="0">
                <a:solidFill>
                  <a:srgbClr val="21295C"/>
                </a:solidFill>
                <a:latin typeface="Calibri"/>
              </a:rPr>
              <a:t>−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требуют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длинной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истории</a:t>
            </a:r>
            <a:endParaRPr sz="1200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412478" y="1188720"/>
            <a:ext cx="3749039" cy="4937760"/>
          </a:xfrm>
          <a:prstGeom prst="rect">
            <a:avLst/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12478" y="1188720"/>
            <a:ext cx="3749039" cy="5029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49638" y="1252728"/>
            <a:ext cx="356615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Гибридные (в работе)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38" y="1828800"/>
            <a:ext cx="3566159" cy="206210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декомпозиционные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(STL, MODWT, EWT, VMD)</a:t>
            </a: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остаточные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(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модели</a:t>
            </a:r>
            <a:r>
              <a:rPr sz="1200" dirty="0">
                <a:solidFill>
                  <a:srgbClr val="21295C"/>
                </a:solidFill>
                <a:latin typeface="Calibri"/>
              </a:rPr>
              <a:t>-«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вверху</a:t>
            </a:r>
            <a:r>
              <a:rPr sz="1200" dirty="0">
                <a:solidFill>
                  <a:srgbClr val="21295C"/>
                </a:solidFill>
                <a:latin typeface="Calibri"/>
              </a:rPr>
              <a:t>»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правят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остатки</a:t>
            </a:r>
            <a:r>
              <a:rPr sz="1200" dirty="0">
                <a:solidFill>
                  <a:srgbClr val="21295C"/>
                </a:solidFill>
                <a:latin typeface="Calibri"/>
              </a:rPr>
              <a:t>)</a:t>
            </a: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ансамблевые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(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усреднение</a:t>
            </a:r>
            <a:r>
              <a:rPr sz="1200" dirty="0">
                <a:solidFill>
                  <a:srgbClr val="21295C"/>
                </a:solidFill>
                <a:latin typeface="Calibri"/>
              </a:rPr>
              <a:t>,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стекинг</a:t>
            </a:r>
            <a:r>
              <a:rPr sz="1200" dirty="0">
                <a:solidFill>
                  <a:srgbClr val="21295C"/>
                </a:solidFill>
                <a:latin typeface="Calibri"/>
              </a:rPr>
              <a:t>)</a:t>
            </a: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разные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модели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разные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компоненты</a:t>
            </a:r>
            <a:endParaRPr sz="1200" dirty="0">
              <a:solidFill>
                <a:srgbClr val="21295C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статистика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lang="ru-RU" sz="1200" dirty="0">
                <a:solidFill>
                  <a:schemeClr val="accent1">
                    <a:lumMod val="50000"/>
                  </a:schemeClr>
                </a:solidFill>
              </a:rPr>
              <a:t>на деталях/шуме</a:t>
            </a: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нейросеть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—</a:t>
            </a:r>
            <a:r>
              <a:rPr lang="ru-RU" sz="1200" dirty="0">
                <a:solidFill>
                  <a:schemeClr val="accent1">
                    <a:lumMod val="50000"/>
                  </a:schemeClr>
                </a:solidFill>
              </a:rPr>
              <a:t>на низкочастотной/сложной динамике</a:t>
            </a: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HybridPlus</a:t>
            </a:r>
            <a:r>
              <a:rPr sz="1200" dirty="0">
                <a:solidFill>
                  <a:srgbClr val="21295C"/>
                </a:solidFill>
                <a:latin typeface="Calibri"/>
              </a:rPr>
              <a:t>: MODWT</a:t>
            </a:r>
            <a:r>
              <a:rPr lang="en-US" sz="1200" dirty="0">
                <a:solidFill>
                  <a:srgbClr val="21295C"/>
                </a:solidFill>
                <a:latin typeface="Calibri"/>
              </a:rPr>
              <a:t>-(STL-)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+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TimesNet</a:t>
            </a:r>
            <a:r>
              <a:rPr sz="1200" dirty="0">
                <a:solidFill>
                  <a:srgbClr val="21295C"/>
                </a:solidFill>
                <a:latin typeface="Calibri"/>
              </a:rPr>
              <a:t>/N-BEATS + ARIMA/ETS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Декомпозиция временных рядов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 dirty="0" err="1">
                <a:solidFill>
                  <a:srgbClr val="1C7293"/>
                </a:solidFill>
                <a:latin typeface="Calibri"/>
              </a:rPr>
              <a:t>Структурный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(STL) vs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многошкальный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(MODWT/DWT/EWT)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4 / 2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5778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  <a:latin typeface="Calibri"/>
              </a:rPr>
              <a:t>Структурная: STL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577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ряд = тренд + сезонность + остаток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548640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76F51"/>
                </a:solidFill>
                <a:latin typeface="Calibri"/>
              </a:rPr>
              <a:t>▪  </a:t>
            </a:r>
            <a:r>
              <a:rPr sz="1300">
                <a:solidFill>
                  <a:srgbClr val="21295C"/>
                </a:solidFill>
                <a:latin typeface="Calibri"/>
              </a:rPr>
              <a:t>явные интерпретируемые компоненты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76F51"/>
                </a:solidFill>
                <a:latin typeface="Calibri"/>
              </a:rPr>
              <a:t>▪  </a:t>
            </a:r>
            <a:r>
              <a:rPr sz="1300">
                <a:solidFill>
                  <a:srgbClr val="21295C"/>
                </a:solidFill>
                <a:latin typeface="Calibri"/>
              </a:rPr>
              <a:t>LOESS-сглаживание для тренда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76F51"/>
                </a:solidFill>
                <a:latin typeface="Calibri"/>
              </a:rPr>
              <a:t>▪  </a:t>
            </a:r>
            <a:r>
              <a:rPr sz="1300">
                <a:solidFill>
                  <a:srgbClr val="21295C"/>
                </a:solidFill>
                <a:latin typeface="Calibri"/>
              </a:rPr>
              <a:t>детерминированная сезонность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76F51"/>
                </a:solidFill>
                <a:latin typeface="Calibri"/>
              </a:rPr>
              <a:t>▪  </a:t>
            </a:r>
            <a:r>
              <a:rPr sz="1300">
                <a:solidFill>
                  <a:srgbClr val="21295C"/>
                </a:solidFill>
                <a:latin typeface="Calibri"/>
              </a:rPr>
              <a:t>плохо при многопериодной структуре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76F51"/>
                </a:solidFill>
                <a:latin typeface="Calibri"/>
              </a:rPr>
              <a:t>▪  </a:t>
            </a:r>
            <a:r>
              <a:rPr sz="1300">
                <a:solidFill>
                  <a:srgbClr val="21295C"/>
                </a:solidFill>
                <a:latin typeface="Calibri"/>
              </a:rPr>
              <a:t>одна фиксированная сезонная шкала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E76F51"/>
                </a:solidFill>
                <a:latin typeface="Calibri"/>
              </a:rPr>
              <a:t>Многошкальная: MODWT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ряд = низкочастотная часть + детали по уровням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548640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76F51"/>
                </a:solidFill>
                <a:latin typeface="Calibri"/>
              </a:rPr>
              <a:t>▪  </a:t>
            </a:r>
            <a:r>
              <a:rPr sz="1300">
                <a:solidFill>
                  <a:srgbClr val="21295C"/>
                </a:solidFill>
                <a:latin typeface="Calibri"/>
              </a:rPr>
              <a:t>локализация по времени и частоте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76F51"/>
                </a:solidFill>
                <a:latin typeface="Calibri"/>
              </a:rPr>
              <a:t>▪  </a:t>
            </a:r>
            <a:r>
              <a:rPr sz="1300">
                <a:solidFill>
                  <a:srgbClr val="21295C"/>
                </a:solidFill>
                <a:latin typeface="Calibri"/>
              </a:rPr>
              <a:t>несколько частотных шкал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76F51"/>
                </a:solidFill>
                <a:latin typeface="Calibri"/>
              </a:rPr>
              <a:t>▪  </a:t>
            </a:r>
            <a:r>
              <a:rPr sz="1300">
                <a:solidFill>
                  <a:srgbClr val="21295C"/>
                </a:solidFill>
                <a:latin typeface="Calibri"/>
              </a:rPr>
              <a:t>устойчивость к сдвигу (vs DWT)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76F51"/>
                </a:solidFill>
                <a:latin typeface="Calibri"/>
              </a:rPr>
              <a:t>▪  </a:t>
            </a:r>
            <a:r>
              <a:rPr sz="1300">
                <a:solidFill>
                  <a:srgbClr val="21295C"/>
                </a:solidFill>
                <a:latin typeface="Calibri"/>
              </a:rPr>
              <a:t>длина рядов компонент = длине ряда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76F51"/>
                </a:solidFill>
                <a:latin typeface="Calibri"/>
              </a:rPr>
              <a:t>▪  </a:t>
            </a:r>
            <a:r>
              <a:rPr sz="1300">
                <a:solidFill>
                  <a:srgbClr val="21295C"/>
                </a:solidFill>
                <a:latin typeface="Calibri"/>
              </a:rPr>
              <a:t>пара фильтров: НЧ + ВЧ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212080"/>
            <a:ext cx="11247120" cy="10515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530352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Гипотеза работы: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62356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1">
                <a:solidFill>
                  <a:srgbClr val="21295C"/>
                </a:solidFill>
                <a:latin typeface="Calibri"/>
              </a:rPr>
              <a:t>многошкальное разложение MODWT даёт дополнительные преимущества по сравнению</a:t>
            </a:r>
          </a:p>
          <a:p>
            <a:pPr algn="l"/>
            <a:r>
              <a:rPr sz="1300" b="0" i="1">
                <a:solidFill>
                  <a:srgbClr val="21295C"/>
                </a:solidFill>
                <a:latin typeface="Calibri"/>
              </a:rPr>
              <a:t>со структурным STL при построении гибридного прогноза, особенно на рядах со сложной сезонностью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Цели и задачи работы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Раздел 1. Окончание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5 / 2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E76F51"/>
                </a:solidFill>
                <a:latin typeface="Calibri"/>
              </a:rPr>
              <a:t>ЦЕЛЬ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88136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Разработать и исследовать гибридный подход к краткосрочному прогнозированию</a:t>
            </a:r>
          </a:p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унивариативных рядов на основе многошкальной MODWT-декомпозиции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libri"/>
              </a:rPr>
              <a:t>Задачи: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926080"/>
            <a:ext cx="411480" cy="41148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2608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 i="0">
                <a:solidFill>
                  <a:srgbClr val="21295C"/>
                </a:solidFill>
                <a:latin typeface="Calibri"/>
              </a:rPr>
              <a:t>Формализация постановки задачи и метрик качества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93008"/>
            <a:ext cx="411480" cy="41148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493008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 i="0">
                <a:solidFill>
                  <a:srgbClr val="21295C"/>
                </a:solidFill>
                <a:latin typeface="Calibri"/>
              </a:rPr>
              <a:t>Реализация базовых моделей: ARIMA / ETS / Prophet, TimesNet, N-BEATS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059936"/>
            <a:ext cx="411480" cy="41148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59936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 i="0">
                <a:solidFill>
                  <a:srgbClr val="21295C"/>
                </a:solidFill>
                <a:latin typeface="Calibri"/>
              </a:rPr>
              <a:t>Обоснование MODWT как основного инструмента гибридизации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626864"/>
            <a:ext cx="411480" cy="41148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626864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 i="0">
                <a:solidFill>
                  <a:srgbClr val="21295C"/>
                </a:solidFill>
                <a:latin typeface="Calibri"/>
              </a:rPr>
              <a:t>Построение гибридной архитектуры с раздельным моделированием компонент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5193792"/>
            <a:ext cx="411480" cy="41148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193792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 i="0">
                <a:solidFill>
                  <a:srgbClr val="21295C"/>
                </a:solidFill>
                <a:latin typeface="Calibri"/>
              </a:rPr>
              <a:t>Сопоставимая STL-гибридная схема для сравнительного анализа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5760720"/>
            <a:ext cx="411480" cy="41148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76072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 i="0">
                <a:solidFill>
                  <a:srgbClr val="21295C"/>
                </a:solidFill>
                <a:latin typeface="Calibri"/>
              </a:rPr>
              <a:t>Экспериментальная оценка на синтетических данных, M3 и M4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Постановка задачи. Метрики качества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Раздел 2. Описание используемых алгоритмов — начало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6 / 2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Постановка задачи прогноза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57200" y="1691640"/>
                <a:ext cx="5486400" cy="252377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l"/>
                <a:r>
                  <a:rPr lang="ru-RU" sz="1400" b="0" i="0" dirty="0">
                    <a:solidFill>
                      <a:srgbClr val="21295C"/>
                    </a:solidFill>
                    <a:latin typeface="Consolas"/>
                  </a:rPr>
                  <a:t>Дано:  </a:t>
                </a:r>
                <a14:m>
                  <m:oMath xmlns:m="http://schemas.openxmlformats.org/officeDocument/2006/math">
                    <m:r>
                      <a:rPr lang="ru-RU" sz="1400" b="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14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1400" b="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1400" b="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ru-RU" sz="1400" b="0" i="1" dirty="0" err="1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400" b="0" i="1" dirty="0" err="1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1400" b="0" i="1" dirty="0" err="1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ru-RU" sz="1400" b="0" i="1" dirty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ru-RU" sz="1400" b="0" i="0" dirty="0">
                    <a:solidFill>
                      <a:srgbClr val="21295C"/>
                    </a:solidFill>
                    <a:latin typeface="Consolas"/>
                  </a:rPr>
                  <a:t>— </a:t>
                </a:r>
                <a:r>
                  <a:rPr lang="ru-RU" sz="1400" b="0" i="0" dirty="0" err="1">
                    <a:solidFill>
                      <a:srgbClr val="21295C"/>
                    </a:solidFill>
                    <a:latin typeface="Consolas"/>
                  </a:rPr>
                  <a:t>наблюдения</a:t>
                </a:r>
                <a:endParaRPr sz="1400" b="0" i="0" dirty="0">
                  <a:solidFill>
                    <a:srgbClr val="21295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91640"/>
                <a:ext cx="5486400" cy="252377"/>
              </a:xfrm>
              <a:prstGeom prst="rect">
                <a:avLst/>
              </a:prstGeom>
              <a:blipFill>
                <a:blip r:embed="rId3"/>
                <a:stretch>
                  <a:fillRect l="-1111" t="-17073" b="-3414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57200" y="2103120"/>
                <a:ext cx="5486400" cy="252377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l"/>
                <a:r>
                  <a:rPr lang="ru-RU" sz="1400" b="0" i="0" dirty="0">
                    <a:solidFill>
                      <a:srgbClr val="21295C"/>
                    </a:solidFill>
                    <a:latin typeface="Consolas"/>
                  </a:rPr>
                  <a:t>Найти: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cy-GB" sz="14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y-GB" sz="14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ŷ</m:t>
                        </m:r>
                      </m:e>
                      <m:sub>
                        <m:r>
                          <a:rPr lang="en-US" sz="14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4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4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cy-GB" sz="1400" b="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cy-GB" sz="14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y-GB" sz="14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ŷ</m:t>
                        </m:r>
                      </m:e>
                      <m:sub>
                        <m:r>
                          <a:rPr lang="en-US" sz="14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4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4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endParaRPr sz="1400" b="0" i="0" dirty="0">
                  <a:solidFill>
                    <a:srgbClr val="21295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103120"/>
                <a:ext cx="5486400" cy="252377"/>
              </a:xfrm>
              <a:prstGeom prst="rect">
                <a:avLst/>
              </a:prstGeom>
              <a:blipFill>
                <a:blip r:embed="rId4"/>
                <a:stretch>
                  <a:fillRect l="-1111" t="-14634" b="-365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457200" y="260604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Унивариативный краткосрочный прогноз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5486400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76F51"/>
                </a:solidFill>
                <a:latin typeface="Calibri"/>
              </a:rPr>
              <a:t>▪  </a:t>
            </a:r>
            <a:r>
              <a:rPr sz="1300">
                <a:solidFill>
                  <a:srgbClr val="21295C"/>
                </a:solidFill>
                <a:latin typeface="Calibri"/>
              </a:rPr>
              <a:t>шаг дискретизации фиксирован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76F51"/>
                </a:solidFill>
                <a:latin typeface="Calibri"/>
              </a:rPr>
              <a:t>▪  </a:t>
            </a:r>
            <a:r>
              <a:rPr sz="1300">
                <a:solidFill>
                  <a:srgbClr val="21295C"/>
                </a:solidFill>
                <a:latin typeface="Calibri"/>
              </a:rPr>
              <a:t>минимум допущений о структуре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76F51"/>
                </a:solidFill>
                <a:latin typeface="Calibri"/>
              </a:rPr>
              <a:t>▪  </a:t>
            </a:r>
            <a:r>
              <a:rPr sz="1300">
                <a:solidFill>
                  <a:srgbClr val="21295C"/>
                </a:solidFill>
                <a:latin typeface="Calibri"/>
              </a:rPr>
              <a:t>горизонт H ≪ длины обучающей выборки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76F51"/>
                </a:solidFill>
                <a:latin typeface="Calibri"/>
              </a:rPr>
              <a:t>▪  </a:t>
            </a:r>
            <a:r>
              <a:rPr sz="1300">
                <a:solidFill>
                  <a:srgbClr val="21295C"/>
                </a:solidFill>
                <a:latin typeface="Calibri"/>
              </a:rPr>
              <a:t>тестирование — out-of-sample (rollout)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E76F51"/>
                </a:solidFill>
                <a:latin typeface="Calibri"/>
              </a:rPr>
              <a:t>Метрики качества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691640"/>
            <a:ext cx="5303520" cy="12801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1691640"/>
            <a:ext cx="73152" cy="1280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1755396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065A82"/>
                </a:solidFill>
                <a:latin typeface="Calibri"/>
              </a:rPr>
              <a:t>RMSE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629400" y="1989118"/>
                <a:ext cx="5029200" cy="695447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cy-GB" sz="11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1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1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sz="11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1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1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1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1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l-GR" sz="1100" i="1" dirty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l-GR" sz="1100" i="1" dirty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cy-GB" sz="1100" i="1" dirty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ᵢ − ŷᵢ)</m:t>
                              </m:r>
                              <m:r>
                                <a:rPr lang="cy-GB" sz="1100" i="1" dirty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²</m:t>
                              </m:r>
                            </m:e>
                          </m:nary>
                        </m:e>
                      </m:rad>
                    </m:oMath>
                  </m:oMathPara>
                </a14:m>
                <a:endParaRPr sz="1200" b="0" i="0" dirty="0">
                  <a:solidFill>
                    <a:srgbClr val="21295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1989118"/>
                <a:ext cx="5029200" cy="6954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6574536" y="2717897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 dirty="0" err="1">
                <a:solidFill>
                  <a:srgbClr val="6B7280"/>
                </a:solidFill>
                <a:latin typeface="Calibri"/>
              </a:rPr>
              <a:t>абсолютная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, </a:t>
            </a:r>
            <a:r>
              <a:rPr sz="1100" b="0" i="1" dirty="0" err="1">
                <a:solidFill>
                  <a:srgbClr val="6B7280"/>
                </a:solidFill>
                <a:latin typeface="Calibri"/>
              </a:rPr>
              <a:t>тот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6B7280"/>
                </a:solidFill>
                <a:latin typeface="Calibri"/>
              </a:rPr>
              <a:t>же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6B7280"/>
                </a:solidFill>
                <a:latin typeface="Calibri"/>
              </a:rPr>
              <a:t>масштаб</a:t>
            </a:r>
            <a:endParaRPr sz="1100" b="0" i="1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400800" y="3108960"/>
            <a:ext cx="5303520" cy="12801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3108960"/>
            <a:ext cx="73152" cy="12801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3169715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1C7293"/>
                </a:solidFill>
                <a:latin typeface="Calibri"/>
              </a:rPr>
              <a:t>MAPE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124325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 dirty="0" err="1">
                <a:solidFill>
                  <a:srgbClr val="6B7280"/>
                </a:solidFill>
                <a:latin typeface="Calibri"/>
              </a:rPr>
              <a:t>относительная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, %, </a:t>
            </a:r>
            <a:r>
              <a:rPr sz="1100" b="0" i="1" dirty="0" err="1">
                <a:solidFill>
                  <a:srgbClr val="6B7280"/>
                </a:solidFill>
                <a:latin typeface="Calibri"/>
              </a:rPr>
              <a:t>плохо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6B7280"/>
                </a:solidFill>
                <a:latin typeface="Calibri"/>
              </a:rPr>
              <a:t>при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 yᵢ ≈ 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526280"/>
            <a:ext cx="5303520" cy="12801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0" y="4526280"/>
            <a:ext cx="73152" cy="12801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459486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 dirty="0" err="1">
                <a:solidFill>
                  <a:srgbClr val="E76F51"/>
                </a:solidFill>
                <a:latin typeface="Calibri"/>
              </a:rPr>
              <a:t>sMAPE</a:t>
            </a:r>
            <a:endParaRPr sz="1500" b="1" i="0" dirty="0">
              <a:solidFill>
                <a:srgbClr val="E76F51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83680" y="555498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 dirty="0" err="1">
                <a:solidFill>
                  <a:srgbClr val="6B7280"/>
                </a:solidFill>
                <a:latin typeface="Calibri"/>
              </a:rPr>
              <a:t>симметричная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, </a:t>
            </a:r>
            <a:r>
              <a:rPr sz="1100" b="0" i="1" dirty="0" err="1">
                <a:solidFill>
                  <a:srgbClr val="6B7280"/>
                </a:solidFill>
                <a:latin typeface="Calibri"/>
              </a:rPr>
              <a:t>протоколы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 M3/M4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EB03C51-5D29-42A5-B4EF-F6C081AC25FF}"/>
                  </a:ext>
                </a:extLst>
              </p:cNvPr>
              <p:cNvSpPr txBox="1"/>
              <p:nvPr/>
            </p:nvSpPr>
            <p:spPr>
              <a:xfrm>
                <a:off x="6629400" y="3428939"/>
                <a:ext cx="5029200" cy="544765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10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1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00</m:t>
                          </m:r>
                          <m:r>
                            <a:rPr lang="en-US" sz="11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%</m:t>
                          </m:r>
                        </m:num>
                        <m:den>
                          <m:r>
                            <a:rPr lang="en-US" sz="11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2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2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2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200" i="1" dirty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200" i="1" dirty="0">
                                      <a:solidFill>
                                        <a:srgbClr val="21295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l-GR" sz="1200" i="1" dirty="0">
                                      <a:solidFill>
                                        <a:srgbClr val="21295C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cy-GB" sz="1200" i="1" dirty="0">
                                      <a:solidFill>
                                        <a:srgbClr val="21295C"/>
                                      </a:solidFill>
                                      <a:latin typeface="Cambria Math" panose="02040503050406030204" pitchFamily="18" charset="0"/>
                                    </a:rPr>
                                    <m:t>ᵢ − ŷᵢ</m:t>
                                  </m:r>
                                </m:num>
                                <m:den>
                                  <m:r>
                                    <a:rPr lang="el-GR" sz="1200" i="1" dirty="0">
                                      <a:solidFill>
                                        <a:srgbClr val="21295C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cy-GB" sz="1200" i="1" dirty="0">
                                      <a:solidFill>
                                        <a:srgbClr val="21295C"/>
                                      </a:solidFill>
                                      <a:latin typeface="Cambria Math" panose="02040503050406030204" pitchFamily="18" charset="0"/>
                                    </a:rPr>
                                    <m:t>ᵢ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sz="1200" b="0" i="0" dirty="0">
                  <a:solidFill>
                    <a:srgbClr val="21295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EB03C51-5D29-42A5-B4EF-F6C081AC2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3428939"/>
                <a:ext cx="5029200" cy="5447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D2F8F23-94B3-43EE-9082-52C0B6F2EF3F}"/>
                  </a:ext>
                </a:extLst>
              </p:cNvPr>
              <p:cNvSpPr txBox="1"/>
              <p:nvPr/>
            </p:nvSpPr>
            <p:spPr>
              <a:xfrm>
                <a:off x="6675120" y="4893977"/>
                <a:ext cx="5029200" cy="530723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10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1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00</m:t>
                          </m:r>
                          <m:r>
                            <a:rPr lang="en-US" sz="11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%</m:t>
                          </m:r>
                        </m:num>
                        <m:den>
                          <m:r>
                            <a:rPr lang="en-US" sz="11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10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1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1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1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1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sz="1100" i="1" dirty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100" i="1" dirty="0">
                                      <a:solidFill>
                                        <a:srgbClr val="21295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l-GR" sz="1100" i="1" dirty="0">
                                      <a:solidFill>
                                        <a:srgbClr val="21295C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cy-GB" sz="1100" i="1" dirty="0">
                                      <a:solidFill>
                                        <a:srgbClr val="21295C"/>
                                      </a:solidFill>
                                      <a:latin typeface="Cambria Math" panose="02040503050406030204" pitchFamily="18" charset="0"/>
                                    </a:rPr>
                                    <m:t>ᵢ − ŷᵢ</m:t>
                                  </m:r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cy-GB" sz="1100" i="1" dirty="0" smtClean="0">
                                      <a:solidFill>
                                        <a:srgbClr val="21295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100" b="0" i="1" dirty="0" smtClean="0">
                                          <a:solidFill>
                                            <a:srgbClr val="21295C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100" b="0" i="1" dirty="0" smtClean="0">
                                          <a:solidFill>
                                            <a:srgbClr val="21295C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100" b="0" i="1" dirty="0" smtClean="0">
                                          <a:solidFill>
                                            <a:srgbClr val="21295C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1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cy-GB" sz="1100" i="1" dirty="0">
                                      <a:solidFill>
                                        <a:srgbClr val="21295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cy-GB" sz="1100" i="1" dirty="0">
                                      <a:solidFill>
                                        <a:srgbClr val="21295C"/>
                                      </a:solidFill>
                                      <a:latin typeface="Cambria Math" panose="02040503050406030204" pitchFamily="18" charset="0"/>
                                    </a:rPr>
                                    <m:t>ŷᵢ</m:t>
                                  </m:r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sz="1200" b="0" i="0" dirty="0">
                  <a:solidFill>
                    <a:srgbClr val="21295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D2F8F23-94B3-43EE-9082-52C0B6F2E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5120" y="4893977"/>
                <a:ext cx="5029200" cy="530723"/>
              </a:xfrm>
              <a:prstGeom prst="rect">
                <a:avLst/>
              </a:prstGeom>
              <a:blipFill>
                <a:blip r:embed="rId7"/>
                <a:stretch>
                  <a:fillRect t="-102299" b="-15287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Преобразование MODWT — идея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Раздел 2. Алгоритмы — продолжение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7 / 2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1600" b="1" i="0" dirty="0">
                <a:solidFill>
                  <a:srgbClr val="065A82"/>
                </a:solidFill>
                <a:latin typeface="Calibri"/>
              </a:rPr>
              <a:t>От преобразования Фурье к вейвлет-анализу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5486400" cy="18288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6B7280"/>
                </a:solidFill>
                <a:latin typeface="Calibri"/>
              </a:rPr>
              <a:t>Фурье-анализ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5212080" cy="77559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 dirty="0" err="1">
                <a:solidFill>
                  <a:srgbClr val="21295C"/>
                </a:solidFill>
                <a:latin typeface="Calibri"/>
              </a:rPr>
              <a:t>разложение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по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синусоидам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, </a:t>
            </a:r>
            <a:r>
              <a:rPr lang="ru-RU" sz="1200" b="0" i="0" dirty="0">
                <a:solidFill>
                  <a:srgbClr val="21295C"/>
                </a:solidFill>
                <a:latin typeface="Calibri"/>
              </a:rPr>
              <a:t>заданным на всем временном интервале</a:t>
            </a:r>
          </a:p>
          <a:p>
            <a:pPr algn="l"/>
            <a:endParaRPr sz="1200" b="0" i="0" dirty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1200" b="0" i="0" dirty="0">
                <a:solidFill>
                  <a:srgbClr val="21295C"/>
                </a:solidFill>
                <a:latin typeface="Calibri"/>
              </a:rPr>
              <a:t>—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хорошо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видны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частоты</a:t>
            </a:r>
            <a:endParaRPr sz="1200" b="0" i="0" dirty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1200" b="0" i="0" dirty="0">
                <a:solidFill>
                  <a:srgbClr val="21295C"/>
                </a:solidFill>
                <a:latin typeface="Calibri"/>
              </a:rPr>
              <a:t>—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плохо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локализованы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во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времени</a:t>
            </a:r>
            <a:endParaRPr sz="1200" b="0" i="0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5486400" cy="1828800"/>
          </a:xfrm>
          <a:prstGeom prst="rect">
            <a:avLst/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E76F51"/>
                </a:solidFill>
                <a:latin typeface="Calibri"/>
              </a:rPr>
              <a:t>Вейвлет-анализ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5212080" cy="77559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 dirty="0" err="1">
                <a:solidFill>
                  <a:srgbClr val="21295C"/>
                </a:solidFill>
                <a:latin typeface="Calibri"/>
              </a:rPr>
              <a:t>базисные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функции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локализованы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и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во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времени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, и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по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частоте</a:t>
            </a:r>
            <a:endParaRPr lang="ru-RU" sz="1200" b="0" i="0" dirty="0">
              <a:solidFill>
                <a:srgbClr val="21295C"/>
              </a:solidFill>
              <a:latin typeface="Calibri"/>
            </a:endParaRPr>
          </a:p>
          <a:p>
            <a:pPr algn="l"/>
            <a:endParaRPr sz="1200" b="0" i="0" dirty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1200" b="0" i="0" dirty="0">
                <a:solidFill>
                  <a:srgbClr val="21295C"/>
                </a:solidFill>
                <a:latin typeface="Calibri"/>
              </a:rPr>
              <a:t>—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разные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масштабы</a:t>
            </a:r>
            <a:endParaRPr sz="1200" b="0" i="0" dirty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1200" b="0" i="0" dirty="0">
                <a:solidFill>
                  <a:srgbClr val="21295C"/>
                </a:solidFill>
                <a:latin typeface="Calibri"/>
              </a:rPr>
              <a:t>— </a:t>
            </a:r>
            <a:r>
              <a:rPr lang="ru-RU" sz="1200" b="0" i="0" dirty="0">
                <a:solidFill>
                  <a:srgbClr val="21295C"/>
                </a:solidFill>
                <a:latin typeface="Calibri"/>
              </a:rPr>
              <a:t>показывает, когда и на каких масштабах проявляются колебания</a:t>
            </a:r>
            <a:endParaRPr sz="1200" b="0" i="0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3749039"/>
            <a:ext cx="11247120" cy="9144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88917" y="4064662"/>
            <a:ext cx="2234643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 dirty="0" err="1">
                <a:solidFill>
                  <a:srgbClr val="FFFFFF"/>
                </a:solidFill>
                <a:latin typeface="Calibri"/>
              </a:rPr>
              <a:t>Семейство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Calibri"/>
              </a:rPr>
              <a:t>вейвлетов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209998" y="3894199"/>
                <a:ext cx="4937760" cy="624082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6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𝝍</m:t>
                          </m:r>
                        </m:e>
                        <m:sub>
                          <m:r>
                            <a:rPr lang="en-US" sz="16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16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  <m:r>
                        <a:rPr lang="ru-RU" sz="1600" b="1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1600" b="1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ru-RU" sz="1600" b="1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f>
                        <m:fPr>
                          <m:ctrlPr>
                            <a:rPr lang="ru-RU" sz="16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ru-RU" sz="1600" b="1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600" b="1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600" b="1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sz="1600" b="1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</m:rad>
                        </m:den>
                      </m:f>
                      <m:r>
                        <a:rPr lang="ru-RU" sz="1600" b="1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· </m:t>
                      </m:r>
                      <m:r>
                        <a:rPr lang="ru-RU" sz="1600" b="1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𝝍</m:t>
                      </m:r>
                      <m:r>
                        <a:rPr lang="ru-RU" sz="1600" b="1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ru-RU" sz="16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6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num>
                        <m:den>
                          <m:r>
                            <a:rPr lang="en-US" sz="16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ru-RU" sz="1600" b="1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1600" b="1" i="0" dirty="0">
                  <a:solidFill>
                    <a:srgbClr val="FFFFFF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9998" y="3894199"/>
                <a:ext cx="4937760" cy="6240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443207" y="5193792"/>
            <a:ext cx="11247120" cy="5437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3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en-US" sz="1300" i="1" dirty="0">
                <a:solidFill>
                  <a:srgbClr val="21295C"/>
                </a:solidFill>
                <a:latin typeface="Calibri"/>
              </a:rPr>
              <a:t>a</a:t>
            </a:r>
            <a:r>
              <a:rPr lang="en-US" sz="1300" dirty="0">
                <a:solidFill>
                  <a:srgbClr val="21295C"/>
                </a:solidFill>
                <a:latin typeface="Calibri"/>
              </a:rPr>
              <a:t> — </a:t>
            </a:r>
            <a:r>
              <a:rPr lang="ru-RU" sz="1300" dirty="0" err="1">
                <a:solidFill>
                  <a:srgbClr val="21295C"/>
                </a:solidFill>
                <a:latin typeface="Calibri"/>
              </a:rPr>
              <a:t>масштаб</a:t>
            </a:r>
            <a:r>
              <a:rPr lang="ru-RU" sz="1300" dirty="0">
                <a:solidFill>
                  <a:srgbClr val="21295C"/>
                </a:solidFill>
                <a:latin typeface="Calibri"/>
              </a:rPr>
              <a:t>: </a:t>
            </a:r>
            <a:r>
              <a:rPr lang="ru-RU" sz="1300" dirty="0" err="1">
                <a:solidFill>
                  <a:srgbClr val="21295C"/>
                </a:solidFill>
                <a:latin typeface="Calibri"/>
              </a:rPr>
              <a:t>большой</a:t>
            </a:r>
            <a:r>
              <a:rPr lang="ru-RU" sz="1300" dirty="0">
                <a:solidFill>
                  <a:srgbClr val="21295C"/>
                </a:solidFill>
                <a:latin typeface="Calibri"/>
              </a:rPr>
              <a:t> </a:t>
            </a:r>
            <a:r>
              <a:rPr lang="en-US" sz="1300" i="1" dirty="0">
                <a:solidFill>
                  <a:srgbClr val="21295C"/>
                </a:solidFill>
                <a:latin typeface="Calibri"/>
              </a:rPr>
              <a:t>a</a:t>
            </a:r>
            <a:r>
              <a:rPr lang="en-US" sz="1300" dirty="0">
                <a:solidFill>
                  <a:srgbClr val="21295C"/>
                </a:solidFill>
                <a:latin typeface="Calibri"/>
              </a:rPr>
              <a:t> — </a:t>
            </a:r>
            <a:r>
              <a:rPr lang="ru-RU" sz="1300" dirty="0" err="1">
                <a:solidFill>
                  <a:srgbClr val="21295C"/>
                </a:solidFill>
                <a:latin typeface="Calibri"/>
              </a:rPr>
              <a:t>низкие</a:t>
            </a:r>
            <a:r>
              <a:rPr lang="ru-RU" sz="1300" dirty="0">
                <a:solidFill>
                  <a:srgbClr val="21295C"/>
                </a:solidFill>
                <a:latin typeface="Calibri"/>
              </a:rPr>
              <a:t> </a:t>
            </a:r>
            <a:r>
              <a:rPr lang="ru-RU" sz="1300" dirty="0" err="1">
                <a:solidFill>
                  <a:srgbClr val="21295C"/>
                </a:solidFill>
                <a:latin typeface="Calibri"/>
              </a:rPr>
              <a:t>частоты</a:t>
            </a:r>
            <a:r>
              <a:rPr lang="ru-RU" sz="1300" dirty="0">
                <a:solidFill>
                  <a:srgbClr val="21295C"/>
                </a:solidFill>
                <a:latin typeface="Calibri"/>
              </a:rPr>
              <a:t>; </a:t>
            </a:r>
            <a:r>
              <a:rPr lang="ru-RU" sz="1300" dirty="0" err="1">
                <a:solidFill>
                  <a:srgbClr val="21295C"/>
                </a:solidFill>
                <a:latin typeface="Calibri"/>
              </a:rPr>
              <a:t>малый</a:t>
            </a:r>
            <a:r>
              <a:rPr lang="ru-RU" sz="1300" dirty="0">
                <a:solidFill>
                  <a:srgbClr val="21295C"/>
                </a:solidFill>
                <a:latin typeface="Calibri"/>
              </a:rPr>
              <a:t> </a:t>
            </a:r>
            <a:r>
              <a:rPr lang="en-US" sz="1300" i="1" dirty="0">
                <a:solidFill>
                  <a:srgbClr val="21295C"/>
                </a:solidFill>
                <a:latin typeface="Calibri"/>
              </a:rPr>
              <a:t>a</a:t>
            </a:r>
            <a:r>
              <a:rPr lang="en-US" sz="1300" dirty="0">
                <a:solidFill>
                  <a:srgbClr val="21295C"/>
                </a:solidFill>
                <a:latin typeface="Calibri"/>
              </a:rPr>
              <a:t> — </a:t>
            </a:r>
            <a:r>
              <a:rPr lang="ru-RU" sz="1300" dirty="0" err="1">
                <a:solidFill>
                  <a:srgbClr val="21295C"/>
                </a:solidFill>
                <a:latin typeface="Calibri"/>
              </a:rPr>
              <a:t>высокие</a:t>
            </a:r>
            <a:endParaRPr lang="ru-RU" sz="1300" dirty="0">
              <a:solidFill>
                <a:srgbClr val="21295C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lang="ru-RU" sz="13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en-US" sz="1300" i="1" dirty="0">
                <a:solidFill>
                  <a:srgbClr val="21295C"/>
                </a:solidFill>
                <a:latin typeface="Calibri"/>
              </a:rPr>
              <a:t>b</a:t>
            </a:r>
            <a:r>
              <a:rPr lang="en-US" sz="1300" dirty="0">
                <a:solidFill>
                  <a:srgbClr val="21295C"/>
                </a:solidFill>
                <a:latin typeface="Calibri"/>
              </a:rPr>
              <a:t> — </a:t>
            </a:r>
            <a:r>
              <a:rPr lang="ru-RU" sz="1300" dirty="0">
                <a:solidFill>
                  <a:srgbClr val="21295C"/>
                </a:solidFill>
                <a:latin typeface="Calibri"/>
              </a:rPr>
              <a:t>сдвиг: положение «окна» во времени</a:t>
            </a:r>
          </a:p>
        </p:txBody>
      </p:sp>
      <p:sp>
        <p:nvSpPr>
          <p:cNvPr id="18" name="Rectangle 61">
            <a:extLst>
              <a:ext uri="{FF2B5EF4-FFF2-40B4-BE49-F238E27FC236}">
                <a16:creationId xmlns:a16="http://schemas.microsoft.com/office/drawing/2014/main" id="{7C759554-4E83-4F84-A413-CC81BE36FFF8}"/>
              </a:ext>
            </a:extLst>
          </p:cNvPr>
          <p:cNvSpPr/>
          <p:nvPr/>
        </p:nvSpPr>
        <p:spPr>
          <a:xfrm>
            <a:off x="443208" y="6064222"/>
            <a:ext cx="11247119" cy="320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D3BF1A-1A07-4C17-82BE-9226F107D5CF}"/>
              </a:ext>
            </a:extLst>
          </p:cNvPr>
          <p:cNvSpPr txBox="1"/>
          <p:nvPr/>
        </p:nvSpPr>
        <p:spPr>
          <a:xfrm>
            <a:off x="404378" y="6121137"/>
            <a:ext cx="11247120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ru-RU" sz="1100" b="0" i="1" dirty="0">
                <a:solidFill>
                  <a:srgbClr val="21295C"/>
                </a:solidFill>
                <a:latin typeface="Calibri"/>
              </a:rPr>
              <a:t>Идея для прогнозирования:</a:t>
            </a:r>
            <a:r>
              <a:rPr lang="en-US" sz="11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lang="ru-RU" sz="1100" b="0" i="1" dirty="0">
                <a:solidFill>
                  <a:srgbClr val="21295C"/>
                </a:solidFill>
                <a:latin typeface="Calibri"/>
              </a:rPr>
              <a:t>MODWT позволяет представить один ряд как набор компонент разных масштабов,</a:t>
            </a:r>
            <a:r>
              <a:rPr lang="en-US" sz="11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lang="ru-RU" sz="1100" b="0" i="1" dirty="0">
                <a:solidFill>
                  <a:srgbClr val="21295C"/>
                </a:solidFill>
                <a:latin typeface="Calibri"/>
              </a:rPr>
              <a:t>которые затем можно прогнозировать разными моделями.</a:t>
            </a:r>
            <a:endParaRPr sz="1100" b="0" i="1" dirty="0">
              <a:solidFill>
                <a:srgbClr val="21295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Преобразование MODWT — формулы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1400" b="0" i="1" dirty="0">
                <a:solidFill>
                  <a:srgbClr val="1C7293"/>
                </a:solidFill>
                <a:latin typeface="Calibri"/>
              </a:rPr>
              <a:t>Дискретные фильтры, фильтрация без прореживания и реконструкция компонент</a:t>
            </a:r>
            <a:endParaRPr sz="1400" b="0" i="1" dirty="0">
              <a:solidFill>
                <a:srgbClr val="1C729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8 / 2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59680"/>
            <a:ext cx="10972800" cy="2677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 dirty="0" err="1">
                <a:solidFill>
                  <a:srgbClr val="065A82"/>
                </a:solidFill>
                <a:latin typeface="Calibri"/>
              </a:rPr>
              <a:t>Цифровые</a:t>
            </a:r>
            <a:r>
              <a:rPr sz="1500" b="1" i="0" dirty="0">
                <a:solidFill>
                  <a:srgbClr val="065A82"/>
                </a:solidFill>
                <a:latin typeface="Calibri"/>
              </a:rPr>
              <a:t> </a:t>
            </a:r>
            <a:r>
              <a:rPr sz="1500" b="1" i="0" dirty="0" err="1">
                <a:solidFill>
                  <a:srgbClr val="065A82"/>
                </a:solidFill>
                <a:latin typeface="Calibri"/>
              </a:rPr>
              <a:t>фильтры</a:t>
            </a:r>
            <a:r>
              <a:rPr sz="1500" b="1" i="0" dirty="0">
                <a:solidFill>
                  <a:srgbClr val="065A82"/>
                </a:solidFill>
                <a:latin typeface="Calibri"/>
              </a:rPr>
              <a:t> с </a:t>
            </a:r>
            <a:r>
              <a:rPr sz="1500" b="1" i="0" dirty="0" err="1">
                <a:solidFill>
                  <a:srgbClr val="065A82"/>
                </a:solidFill>
                <a:latin typeface="Calibri"/>
              </a:rPr>
              <a:t>конечным</a:t>
            </a:r>
            <a:r>
              <a:rPr sz="1500" b="1" i="0" dirty="0">
                <a:solidFill>
                  <a:srgbClr val="065A82"/>
                </a:solidFill>
                <a:latin typeface="Calibri"/>
              </a:rPr>
              <a:t> </a:t>
            </a:r>
            <a:r>
              <a:rPr sz="1500" b="1" i="0" dirty="0" err="1">
                <a:solidFill>
                  <a:srgbClr val="065A82"/>
                </a:solidFill>
                <a:latin typeface="Calibri"/>
              </a:rPr>
              <a:t>откликом</a:t>
            </a:r>
            <a:endParaRPr sz="1500" b="1" i="0" dirty="0">
              <a:solidFill>
                <a:srgbClr val="065A82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421379"/>
            <a:ext cx="5430033" cy="1331345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40080" y="1512820"/>
                <a:ext cx="5247153" cy="198516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l"/>
                <a:r>
                  <a:rPr lang="ru-RU" sz="1050" b="0" i="0" dirty="0">
                    <a:solidFill>
                      <a:srgbClr val="21295C"/>
                    </a:solidFill>
                    <a:latin typeface="Calibri"/>
                  </a:rPr>
                  <a:t>Свёртка </a:t>
                </a:r>
                <a:r>
                  <a:rPr lang="ru-RU" sz="1050" b="0" i="0" dirty="0" err="1">
                    <a:solidFill>
                      <a:srgbClr val="21295C"/>
                    </a:solidFill>
                    <a:latin typeface="Calibri"/>
                  </a:rPr>
                  <a:t>входа</a:t>
                </a:r>
                <a:r>
                  <a:rPr lang="ru-RU" sz="105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ru-RU" sz="1050" b="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1050" b="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1050" b="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sz="1050" b="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ru-RU" sz="1050" b="0" i="0" dirty="0">
                    <a:solidFill>
                      <a:srgbClr val="21295C"/>
                    </a:solidFill>
                    <a:latin typeface="Calibri"/>
                  </a:rPr>
                  <a:t>с коэффициентами</a:t>
                </a:r>
                <a:r>
                  <a:rPr lang="en-US" sz="105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lang="ru-RU" sz="1050" b="0" i="0" dirty="0">
                    <a:solidFill>
                      <a:srgbClr val="21295C"/>
                    </a:solidFill>
                    <a:latin typeface="Calibri"/>
                  </a:rPr>
                  <a:t>фильтра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05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1050" b="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… </m:t>
                    </m:r>
                    <m:sSub>
                      <m:sSubPr>
                        <m:ctrlPr>
                          <a:rPr lang="ar-AE" sz="105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05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05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105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05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050" b="0" i="0" dirty="0">
                    <a:solidFill>
                      <a:srgbClr val="21295C"/>
                    </a:solidFill>
                    <a:latin typeface="Calibri"/>
                  </a:rPr>
                  <a:t> (</a:t>
                </a:r>
                <a:r>
                  <a:rPr lang="en-US" sz="1050" b="0" i="1" dirty="0">
                    <a:solidFill>
                      <a:srgbClr val="21295C"/>
                    </a:solidFill>
                    <a:latin typeface="Calibri"/>
                  </a:rPr>
                  <a:t>M</a:t>
                </a:r>
                <a:r>
                  <a:rPr lang="en-US" sz="1050" b="0" i="0" dirty="0">
                    <a:solidFill>
                      <a:srgbClr val="21295C"/>
                    </a:solidFill>
                    <a:latin typeface="Calibri"/>
                  </a:rPr>
                  <a:t> – </a:t>
                </a:r>
                <a:r>
                  <a:rPr lang="ru-RU" sz="1050" b="0" i="0" dirty="0">
                    <a:solidFill>
                      <a:srgbClr val="21295C"/>
                    </a:solidFill>
                    <a:latin typeface="Calibri"/>
                  </a:rPr>
                  <a:t>длина памяти фильтра)</a:t>
                </a:r>
                <a:r>
                  <a:rPr lang="en-US" sz="1050" b="0" i="0" dirty="0">
                    <a:solidFill>
                      <a:srgbClr val="21295C"/>
                    </a:solidFill>
                    <a:latin typeface="Calibri"/>
                  </a:rPr>
                  <a:t>:</a:t>
                </a:r>
                <a:endParaRPr sz="1050" b="0" i="0" dirty="0">
                  <a:solidFill>
                    <a:srgbClr val="21295C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512820"/>
                <a:ext cx="5247153" cy="198516"/>
              </a:xfrm>
              <a:prstGeom prst="rect">
                <a:avLst/>
              </a:prstGeom>
              <a:blipFill>
                <a:blip r:embed="rId3"/>
                <a:stretch>
                  <a:fillRect l="-697" t="-9091" b="-3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40080" y="1875738"/>
                <a:ext cx="5052999" cy="302840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b="1" i="1" dirty="0" smtClean="0">
                          <a:solidFill>
                            <a:srgbClr val="065A82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ru-RU" sz="1600" b="1" i="1" dirty="0" smtClean="0">
                          <a:solidFill>
                            <a:srgbClr val="065A8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1600" b="1" i="1" dirty="0" smtClean="0">
                          <a:solidFill>
                            <a:srgbClr val="065A82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ru-RU" sz="1600" b="1" i="1" dirty="0" smtClean="0">
                          <a:solidFill>
                            <a:srgbClr val="065A82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sSubSup>
                        <m:sSubSupPr>
                          <m:ctrlPr>
                            <a:rPr lang="ru-RU" sz="1600" b="1" i="1" dirty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sz="1600" b="1" i="0" dirty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𝚺</m:t>
                          </m:r>
                        </m:e>
                        <m:sub>
                          <m: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  <m: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ru-RU" sz="1600" b="1" i="1" dirty="0">
                          <a:solidFill>
                            <a:srgbClr val="065A82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ru-RU" sz="1600" b="1" i="1" dirty="0" err="1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600" b="1" i="1" dirty="0" err="1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ru-RU" sz="1600" b="1" i="1" dirty="0" err="1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ru-RU" sz="1600" b="1" i="1" dirty="0">
                          <a:solidFill>
                            <a:srgbClr val="065A82"/>
                          </a:solidFill>
                          <a:latin typeface="Cambria Math" panose="02040503050406030204" pitchFamily="18" charset="0"/>
                        </a:rPr>
                        <m:t> · </m:t>
                      </m:r>
                      <m:sSub>
                        <m:sSubPr>
                          <m:ctrlP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600" b="1" i="1" dirty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</m:oMath>
                  </m:oMathPara>
                </a14:m>
                <a:endParaRPr sz="1600" b="1" i="0" dirty="0">
                  <a:solidFill>
                    <a:srgbClr val="065A82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875738"/>
                <a:ext cx="5052999" cy="302840"/>
              </a:xfrm>
              <a:prstGeom prst="rect">
                <a:avLst/>
              </a:prstGeom>
              <a:blipFill>
                <a:blip r:embed="rId4"/>
                <a:stretch>
                  <a:fillRect b="-224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457200" y="2857279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Сравнение DWT и MODWT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011964"/>
              </p:ext>
            </p:extLst>
          </p:nvPr>
        </p:nvGraphicFramePr>
        <p:xfrm>
          <a:off x="457200" y="324612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Свойство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DWT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MODWT (применяется в работе)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Прореживание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каждый 2-й коэффициент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не отбрасывается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Длина компонент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сокращается вдвое на уровне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= длине исходного ряда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Чувствительность к сдвигу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высокая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коэффициенты сдвигаются вместе с рядом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Избыточность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критическая (минимум)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избыточное (плата за устойчивость)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Растяжение фильтра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rgbClr val="21295C"/>
                          </a:solidFill>
                          <a:latin typeface="Calibri"/>
                        </a:rPr>
                        <a:t>фиксированные</a:t>
                      </a:r>
                      <a:endParaRPr sz="11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растягиваются по уровням</a:t>
                      </a:r>
                      <a:endParaRPr lang="ru-RU" sz="1100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589788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E76F51"/>
                </a:solidFill>
                <a:latin typeface="Calibri"/>
              </a:rPr>
              <a:t>→ MODWT устойчив к сдвигу и сохраняет одну длину для всех компонент — это критично при построении гибридной модели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082039-B5C2-4172-B420-0E1FB0782DB3}"/>
                  </a:ext>
                </a:extLst>
              </p:cNvPr>
              <p:cNvSpPr txBox="1"/>
              <p:nvPr/>
            </p:nvSpPr>
            <p:spPr>
              <a:xfrm>
                <a:off x="640079" y="2337879"/>
                <a:ext cx="5247153" cy="360099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r>
                  <a:rPr lang="ru-RU" sz="1050" dirty="0">
                    <a:solidFill>
                      <a:srgbClr val="21295C"/>
                    </a:solidFill>
                  </a:rPr>
                  <a:t>Свёртка — взвешенная сумма текущего и предыдущих значений ряда.</a:t>
                </a:r>
              </a:p>
              <a:p>
                <a:r>
                  <a:rPr lang="ru-RU" sz="1050" dirty="0">
                    <a:solidFill>
                      <a:srgbClr val="21295C"/>
                    </a:solidFill>
                  </a:rPr>
                  <a:t>В MODWT она применяется через низкочастотный</a:t>
                </a:r>
                <a:r>
                  <a:rPr lang="en-US" sz="1050" dirty="0">
                    <a:solidFill>
                      <a:srgbClr val="21295C"/>
                    </a:solidFill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05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1050" dirty="0">
                    <a:solidFill>
                      <a:srgbClr val="21295C"/>
                    </a:solidFill>
                  </a:rPr>
                  <a:t>)</a:t>
                </a:r>
                <a:r>
                  <a:rPr lang="ru-RU" sz="1050" dirty="0">
                    <a:solidFill>
                      <a:srgbClr val="21295C"/>
                    </a:solidFill>
                  </a:rPr>
                  <a:t> и высокочастотный</a:t>
                </a:r>
                <a:r>
                  <a:rPr lang="en-US" sz="1050" dirty="0">
                    <a:solidFill>
                      <a:srgbClr val="21295C"/>
                    </a:solidFill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05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1050" dirty="0">
                    <a:solidFill>
                      <a:srgbClr val="21295C"/>
                    </a:solidFill>
                  </a:rPr>
                  <a:t>)</a:t>
                </a:r>
                <a:r>
                  <a:rPr lang="ru-RU" sz="1050" dirty="0">
                    <a:solidFill>
                      <a:srgbClr val="21295C"/>
                    </a:solidFill>
                  </a:rPr>
                  <a:t> фильтры.</a:t>
                </a:r>
                <a:endParaRPr sz="1050" b="0" i="0" dirty="0">
                  <a:solidFill>
                    <a:srgbClr val="21295C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082039-B5C2-4172-B420-0E1FB0782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79" y="2337879"/>
                <a:ext cx="5247153" cy="360099"/>
              </a:xfrm>
              <a:prstGeom prst="rect">
                <a:avLst/>
              </a:prstGeom>
              <a:blipFill>
                <a:blip r:embed="rId5"/>
                <a:stretch>
                  <a:fillRect l="-697" t="-6780" b="-169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7">
            <a:extLst>
              <a:ext uri="{FF2B5EF4-FFF2-40B4-BE49-F238E27FC236}">
                <a16:creationId xmlns:a16="http://schemas.microsoft.com/office/drawing/2014/main" id="{393846FB-7893-4B67-BAD6-DE86F405127D}"/>
              </a:ext>
            </a:extLst>
          </p:cNvPr>
          <p:cNvSpPr/>
          <p:nvPr/>
        </p:nvSpPr>
        <p:spPr>
          <a:xfrm>
            <a:off x="6177419" y="1425440"/>
            <a:ext cx="5526901" cy="1331345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F75782-4B20-4525-8895-556B38CE7B1F}"/>
              </a:ext>
            </a:extLst>
          </p:cNvPr>
          <p:cNvSpPr txBox="1"/>
          <p:nvPr/>
        </p:nvSpPr>
        <p:spPr>
          <a:xfrm>
            <a:off x="6360299" y="1516881"/>
            <a:ext cx="5247153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lang="ru-RU" sz="1050" dirty="0">
                <a:solidFill>
                  <a:srgbClr val="21295C"/>
                </a:solidFill>
              </a:rPr>
              <a:t>После многоуровневой фильтрации исходного ряда и обратной реконструкции получаем:</a:t>
            </a:r>
            <a:endParaRPr sz="1050" b="0" i="0" dirty="0">
              <a:solidFill>
                <a:srgbClr val="21295C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D59F1A1-713A-4D4C-852D-E9B66193F5F5}"/>
                  </a:ext>
                </a:extLst>
              </p:cNvPr>
              <p:cNvSpPr txBox="1"/>
              <p:nvPr/>
            </p:nvSpPr>
            <p:spPr>
              <a:xfrm>
                <a:off x="6360299" y="1848162"/>
                <a:ext cx="5052999" cy="367729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065A82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d>
                        <m:dPr>
                          <m:ctrlPr>
                            <a:rPr lang="ru-RU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ru-RU" sz="1600" b="1" i="1" dirty="0" smtClean="0">
                          <a:solidFill>
                            <a:srgbClr val="065A8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sub>
                      </m:sSub>
                      <m:r>
                        <a:rPr lang="en-US" sz="1600" b="1" i="1" dirty="0" smtClean="0">
                          <a:solidFill>
                            <a:srgbClr val="065A8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 i="1" dirty="0" smtClean="0">
                          <a:solidFill>
                            <a:srgbClr val="065A82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1600" b="1" i="1" dirty="0" smtClean="0">
                          <a:solidFill>
                            <a:srgbClr val="065A82"/>
                          </a:solidFill>
                          <a:latin typeface="Cambria Math" panose="02040503050406030204" pitchFamily="18" charset="0"/>
                        </a:rPr>
                        <m:t>)+ </m:t>
                      </m:r>
                      <m:sSubSup>
                        <m:sSubSupPr>
                          <m:ctrlPr>
                            <a:rPr lang="ru-RU" sz="1600" b="1" i="1" dirty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sz="1600" b="1" i="0" dirty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𝚺</m:t>
                          </m:r>
                        </m:e>
                        <m:sub>
                          <m: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sup>
                      </m:sSubSup>
                      <m:r>
                        <a:rPr lang="ru-RU" sz="1600" b="1" i="1" dirty="0">
                          <a:solidFill>
                            <a:srgbClr val="065A82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ru-RU" sz="1600" b="1" i="1" dirty="0" err="1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1600" b="1" i="1" dirty="0" smtClean="0">
                              <a:solidFill>
                                <a:srgbClr val="065A82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US" sz="1600" b="1" i="1" dirty="0" smtClean="0">
                          <a:solidFill>
                            <a:srgbClr val="065A8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 i="1" dirty="0" smtClean="0">
                          <a:solidFill>
                            <a:srgbClr val="065A82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1600" b="1" i="1" dirty="0" smtClean="0">
                          <a:solidFill>
                            <a:srgbClr val="065A8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1600" b="1" i="0" dirty="0">
                  <a:solidFill>
                    <a:srgbClr val="065A82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D59F1A1-713A-4D4C-852D-E9B66193F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0299" y="1848162"/>
                <a:ext cx="5052999" cy="367729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463D18A-155C-4CAF-A718-E13A53C7D252}"/>
                  </a:ext>
                </a:extLst>
              </p:cNvPr>
              <p:cNvSpPr txBox="1"/>
              <p:nvPr/>
            </p:nvSpPr>
            <p:spPr>
              <a:xfrm>
                <a:off x="6360298" y="2331574"/>
                <a:ext cx="5247153" cy="384401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105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05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ru-RU" sz="105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sub>
                    </m:sSub>
                    <m:d>
                      <m:dPr>
                        <m:ctrlPr>
                          <a:rPr lang="ru-RU" sz="105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05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u-RU" sz="105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050" dirty="0">
                    <a:solidFill>
                      <a:srgbClr val="21295C"/>
                    </a:solidFill>
                  </a:rPr>
                  <a:t>— низкочастотная компонента;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105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05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ru-RU" sz="105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ru-RU" sz="105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105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sz="105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ru-RU" sz="1050" dirty="0">
                    <a:solidFill>
                      <a:srgbClr val="21295C"/>
                    </a:solidFill>
                  </a:rPr>
                  <a:t>— детали </a:t>
                </a:r>
                <a:r>
                  <a:rPr lang="en-US" sz="1050" i="1" dirty="0">
                    <a:solidFill>
                      <a:srgbClr val="21295C"/>
                    </a:solidFill>
                  </a:rPr>
                  <a:t>j</a:t>
                </a:r>
                <a:r>
                  <a:rPr lang="en-US" sz="1050" dirty="0">
                    <a:solidFill>
                      <a:srgbClr val="21295C"/>
                    </a:solidFill>
                  </a:rPr>
                  <a:t>-</a:t>
                </a:r>
                <a:r>
                  <a:rPr lang="ru-RU" sz="1050" dirty="0">
                    <a:solidFill>
                      <a:srgbClr val="21295C"/>
                    </a:solidFill>
                  </a:rPr>
                  <a:t>го масштаба.</a:t>
                </a:r>
                <a:endParaRPr sz="1050" b="0" i="0" dirty="0">
                  <a:solidFill>
                    <a:srgbClr val="21295C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463D18A-155C-4CAF-A718-E13A53C7D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0298" y="2331574"/>
                <a:ext cx="5247153" cy="384401"/>
              </a:xfrm>
              <a:prstGeom prst="rect">
                <a:avLst/>
              </a:prstGeom>
              <a:blipFill>
                <a:blip r:embed="rId7"/>
                <a:stretch>
                  <a:fillRect t="-4688" b="-12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STL-декомпозиция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Альтернативный подход — структурное разложение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9 / 2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 i="0">
                <a:solidFill>
                  <a:srgbClr val="065A82"/>
                </a:solidFill>
                <a:latin typeface="Calibri"/>
              </a:rPr>
              <a:t>ряд = тренд + сезонность + остаток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2468880" cy="10058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2468880" cy="10058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Исходный ряд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011680"/>
            <a:ext cx="2468880" cy="10058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0" y="2011680"/>
            <a:ext cx="2468880" cy="5486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210312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1C7293"/>
                </a:solidFill>
                <a:latin typeface="Calibri"/>
              </a:rPr>
              <a:t>Тренд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657600" y="2423160"/>
                <a:ext cx="2468880" cy="252377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1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400" b="1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ru-RU" sz="1400" b="1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sz="1400" b="1" i="0" dirty="0">
                  <a:solidFill>
                    <a:srgbClr val="21295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2423160"/>
                <a:ext cx="2468880" cy="252377"/>
              </a:xfrm>
              <a:prstGeom prst="rect">
                <a:avLst/>
              </a:prstGeom>
              <a:blipFill>
                <a:blip r:embed="rId3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657600" y="2724912"/>
            <a:ext cx="2468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медленная составляющая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011680"/>
            <a:ext cx="2468880" cy="10058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2011680"/>
            <a:ext cx="2468880" cy="54864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210312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E76F51"/>
                </a:solidFill>
                <a:latin typeface="Calibri"/>
              </a:rPr>
              <a:t>Сезонность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309360" y="2423160"/>
                <a:ext cx="2468880" cy="252377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1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400" b="1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ru-RU" sz="1400" b="1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sz="1400" b="1" i="0" dirty="0">
                  <a:solidFill>
                    <a:srgbClr val="21295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60" y="2423160"/>
                <a:ext cx="2468880" cy="252377"/>
              </a:xfrm>
              <a:prstGeom prst="rect">
                <a:avLst/>
              </a:prstGeom>
              <a:blipFill>
                <a:blip r:embed="rId4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6309360" y="2724912"/>
            <a:ext cx="2468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периодическая часть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2011680"/>
            <a:ext cx="2468880" cy="10058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61120" y="2011680"/>
            <a:ext cx="2468880" cy="54864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0" y="210312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21295C"/>
                </a:solidFill>
                <a:latin typeface="Calibri"/>
              </a:rPr>
              <a:t>Остаток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8961120" y="2423160"/>
                <a:ext cx="2468880" cy="252377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1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400" b="1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ru-RU" sz="1400" b="1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sz="1400" b="1" i="0" dirty="0">
                  <a:solidFill>
                    <a:srgbClr val="21295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1120" y="2423160"/>
                <a:ext cx="2468880" cy="252377"/>
              </a:xfrm>
              <a:prstGeom prst="rect">
                <a:avLst/>
              </a:prstGeom>
              <a:blipFill>
                <a:blip r:embed="rId5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8961120" y="2724912"/>
            <a:ext cx="2468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нерегулярная часть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3010" y="3566538"/>
            <a:ext cx="4114800" cy="2369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 dirty="0" err="1">
                <a:solidFill>
                  <a:srgbClr val="2A9D8F"/>
                </a:solidFill>
                <a:latin typeface="Calibri"/>
              </a:rPr>
              <a:t>Плюсы</a:t>
            </a:r>
            <a:endParaRPr sz="1300" b="1" i="0" dirty="0">
              <a:solidFill>
                <a:srgbClr val="2A9D8F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63010" y="3813426"/>
            <a:ext cx="4196219" cy="74892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200" b="1" dirty="0">
                <a:solidFill>
                  <a:srgbClr val="2A9D8F"/>
                </a:solidFill>
                <a:latin typeface="Calibri"/>
              </a:rPr>
              <a:t>▪ 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интерпретируемое разложение: тренд, сезонность, остаток;</a:t>
            </a:r>
          </a:p>
          <a:p>
            <a:pPr algn="l">
              <a:spcAft>
                <a:spcPts val="400"/>
              </a:spcAft>
            </a:pPr>
            <a:r>
              <a:rPr lang="ru-RU" sz="1200" b="1" dirty="0">
                <a:solidFill>
                  <a:srgbClr val="2A9D8F"/>
                </a:solidFill>
                <a:latin typeface="Calibri"/>
              </a:rPr>
              <a:t>▪ 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LOESS позволяет гибко выделять нелинейный тренд;</a:t>
            </a:r>
          </a:p>
          <a:p>
            <a:pPr algn="l">
              <a:spcAft>
                <a:spcPts val="400"/>
              </a:spcAft>
            </a:pPr>
            <a:r>
              <a:rPr lang="ru-RU" sz="1200" b="1" dirty="0">
                <a:solidFill>
                  <a:srgbClr val="2A9D8F"/>
                </a:solidFill>
                <a:latin typeface="Calibri"/>
              </a:rPr>
              <a:t>▪ 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устойчивость к выбросам при </a:t>
            </a:r>
            <a:r>
              <a:rPr lang="ru-RU" sz="1200" dirty="0" err="1">
                <a:solidFill>
                  <a:srgbClr val="21295C"/>
                </a:solidFill>
                <a:latin typeface="Calibri"/>
              </a:rPr>
              <a:t>robust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-режиме;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63010" y="5026897"/>
            <a:ext cx="2761989" cy="2369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 dirty="0" err="1">
                <a:solidFill>
                  <a:srgbClr val="E76F51"/>
                </a:solidFill>
                <a:latin typeface="Calibri"/>
              </a:rPr>
              <a:t>Минусы</a:t>
            </a:r>
            <a:endParaRPr sz="1300" b="1" i="0" dirty="0">
              <a:solidFill>
                <a:srgbClr val="E76F51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63010" y="5249098"/>
            <a:ext cx="4196219" cy="74892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200" dirty="0">
                <a:solidFill>
                  <a:schemeClr val="tx2">
                    <a:lumMod val="75000"/>
                  </a:schemeClr>
                </a:solidFill>
              </a:rPr>
              <a:t>требуется заранее заданный сезонный период;</a:t>
            </a: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200" dirty="0">
                <a:solidFill>
                  <a:schemeClr val="tx2">
                    <a:lumMod val="75000"/>
                  </a:schemeClr>
                </a:solidFill>
              </a:rPr>
              <a:t>базовая STL плохо описывает многопериодную структуру;</a:t>
            </a: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200" dirty="0">
                <a:solidFill>
                  <a:schemeClr val="tx2">
                    <a:lumMod val="75000"/>
                  </a:schemeClr>
                </a:solidFill>
              </a:rPr>
              <a:t>хуже учитывает быстро меняющуюся форму сезонности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;</a:t>
            </a:r>
            <a:endParaRPr sz="1200" dirty="0">
              <a:solidFill>
                <a:schemeClr val="tx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36" name="Rectangle 12">
            <a:extLst>
              <a:ext uri="{FF2B5EF4-FFF2-40B4-BE49-F238E27FC236}">
                <a16:creationId xmlns:a16="http://schemas.microsoft.com/office/drawing/2014/main" id="{163DE8EB-8EF3-4474-BFF4-A70BA10F4FDA}"/>
              </a:ext>
            </a:extLst>
          </p:cNvPr>
          <p:cNvSpPr/>
          <p:nvPr/>
        </p:nvSpPr>
        <p:spPr>
          <a:xfrm>
            <a:off x="640080" y="3570422"/>
            <a:ext cx="5486400" cy="257434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13">
            <a:extLst>
              <a:ext uri="{FF2B5EF4-FFF2-40B4-BE49-F238E27FC236}">
                <a16:creationId xmlns:a16="http://schemas.microsoft.com/office/drawing/2014/main" id="{60ACF084-819C-4E6B-B08D-1B4F18261218}"/>
              </a:ext>
            </a:extLst>
          </p:cNvPr>
          <p:cNvSpPr/>
          <p:nvPr/>
        </p:nvSpPr>
        <p:spPr>
          <a:xfrm>
            <a:off x="640080" y="3570421"/>
            <a:ext cx="73152" cy="2574345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BAB0031-E018-4B40-9F51-31D8A09AD7AB}"/>
              </a:ext>
            </a:extLst>
          </p:cNvPr>
          <p:cNvSpPr txBox="1"/>
          <p:nvPr/>
        </p:nvSpPr>
        <p:spPr>
          <a:xfrm>
            <a:off x="822960" y="3661862"/>
            <a:ext cx="1828800" cy="2677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lang="ru-RU" sz="1500" b="1" dirty="0">
                <a:solidFill>
                  <a:srgbClr val="065A82"/>
                </a:solidFill>
                <a:latin typeface="Calibri"/>
              </a:rPr>
              <a:t>Особенности </a:t>
            </a:r>
            <a:r>
              <a:rPr lang="en-US" sz="1500" b="1" dirty="0">
                <a:solidFill>
                  <a:srgbClr val="065A82"/>
                </a:solidFill>
                <a:latin typeface="Calibri"/>
              </a:rPr>
              <a:t>STL</a:t>
            </a:r>
            <a:endParaRPr lang="en-US" sz="1500" b="1" i="0" dirty="0">
              <a:solidFill>
                <a:srgbClr val="065A82"/>
              </a:solidFill>
              <a:latin typeface="Calibri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80AA157-F6D5-47F2-BC9D-ED34D7886993}"/>
              </a:ext>
            </a:extLst>
          </p:cNvPr>
          <p:cNvSpPr txBox="1"/>
          <p:nvPr/>
        </p:nvSpPr>
        <p:spPr>
          <a:xfrm>
            <a:off x="822960" y="4027622"/>
            <a:ext cx="502920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endParaRPr lang="cy-GB" sz="1200" b="0" i="0" dirty="0">
              <a:solidFill>
                <a:srgbClr val="21295C"/>
              </a:solidFill>
              <a:latin typeface="Consola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7DC8E8-3670-4807-9E9C-AD139CF24414}"/>
              </a:ext>
            </a:extLst>
          </p:cNvPr>
          <p:cNvSpPr txBox="1"/>
          <p:nvPr/>
        </p:nvSpPr>
        <p:spPr>
          <a:xfrm>
            <a:off x="822960" y="4035316"/>
            <a:ext cx="2961654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1100" b="0" i="0" dirty="0">
                <a:solidFill>
                  <a:srgbClr val="21295C"/>
                </a:solidFill>
                <a:latin typeface="Calibri"/>
              </a:rPr>
              <a:t>Каждая компонента оценивается итерационно</a:t>
            </a:r>
            <a:r>
              <a:rPr lang="en-US" sz="1100" b="0" i="0" dirty="0">
                <a:solidFill>
                  <a:srgbClr val="21295C"/>
                </a:solidFill>
                <a:latin typeface="Calibri"/>
              </a:rPr>
              <a:t>:</a:t>
            </a:r>
            <a:endParaRPr sz="1100" b="0" i="1" dirty="0">
              <a:solidFill>
                <a:srgbClr val="6B7280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1BA77FD-AEA3-4440-8E28-69FB82BBDF1A}"/>
                  </a:ext>
                </a:extLst>
              </p:cNvPr>
              <p:cNvSpPr txBox="1"/>
              <p:nvPr/>
            </p:nvSpPr>
            <p:spPr>
              <a:xfrm>
                <a:off x="1984624" y="4535175"/>
                <a:ext cx="2961654" cy="590931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ar-AE" sz="1200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1200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ar-AE" sz="1200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ar-AE" sz="1200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𝐿𝑂𝐸𝑆𝑆</m:t>
                      </m:r>
                      <m:d>
                        <m:dPr>
                          <m:ctrlPr>
                            <a:rPr lang="ar-AE" sz="1200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 dirty="0" err="1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 dirty="0" err="1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sz="1200" i="1" dirty="0" err="1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 sz="1200" i="1" dirty="0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sub>
                          </m:sSub>
                          <m:r>
                            <a:rPr lang="ar-AE" sz="1200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1200" i="1" dirty="0" err="1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 dirty="0" err="1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sz="1200" i="1" dirty="0" err="1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 sz="1200" i="1" dirty="0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1200" b="0" i="1" dirty="0">
                  <a:solidFill>
                    <a:schemeClr val="tx2">
                      <a:lumMod val="75000"/>
                    </a:schemeClr>
                  </a:solidFill>
                  <a:latin typeface="Calibri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 b="0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 sz="1200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1200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ar-AE" sz="1200" i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ar-AE" sz="1200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𝐿𝑂𝐸𝑆𝑆</m:t>
                      </m:r>
                      <m:d>
                        <m:dPr>
                          <m:ctrlPr>
                            <a:rPr lang="ar-AE" sz="1200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 dirty="0" err="1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 dirty="0" err="1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sz="1200" i="1" dirty="0" err="1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 sz="1200" i="1" dirty="0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sub>
                          </m:sSub>
                          <m:r>
                            <a:rPr lang="ar-AE" sz="1200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1200" i="1" dirty="0" err="1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b="0" i="1" dirty="0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ar-AE" sz="1200" i="1" dirty="0" err="1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 sz="1200" i="1" dirty="0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1200" b="0" i="1" dirty="0">
                  <a:solidFill>
                    <a:schemeClr val="tx2">
                      <a:lumMod val="75000"/>
                    </a:schemeClr>
                  </a:solidFill>
                  <a:latin typeface="Calibri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 b="0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sz="1200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1200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​=</m:t>
                      </m:r>
                      <m:sSub>
                        <m:sSubPr>
                          <m:ctrlPr>
                            <a:rPr lang="ar-AE" sz="1200" i="1" dirty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 i="1" dirty="0" err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sz="1200" i="1" dirty="0" err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1200" i="1" dirty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sub>
                      </m:sSub>
                      <m:r>
                        <a:rPr lang="ar-AE" sz="1200" i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sz="1200" b="0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 b="0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ar-AE" sz="1200" b="0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1200" b="0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sz="1200" i="1" dirty="0" err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 i="1" dirty="0" err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 sz="1200" i="1" dirty="0" err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1200" i="1" dirty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sub>
                      </m:sSub>
                    </m:oMath>
                  </m:oMathPara>
                </a14:m>
                <a:endParaRPr lang="ar-AE" sz="1200" b="0" i="1" dirty="0">
                  <a:solidFill>
                    <a:schemeClr val="tx2">
                      <a:lumMod val="75000"/>
                    </a:schemeClr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1BA77FD-AEA3-4440-8E28-69FB82BBD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4624" y="4535175"/>
                <a:ext cx="2961654" cy="590931"/>
              </a:xfrm>
              <a:prstGeom prst="rect">
                <a:avLst/>
              </a:prstGeom>
              <a:blipFill>
                <a:blip r:embed="rId6"/>
                <a:stretch>
                  <a:fillRect b="-41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A4F592BA-DB27-4862-9CAE-4BD125C8342F}"/>
              </a:ext>
            </a:extLst>
          </p:cNvPr>
          <p:cNvSpPr txBox="1"/>
          <p:nvPr/>
        </p:nvSpPr>
        <p:spPr>
          <a:xfrm>
            <a:off x="822961" y="5412061"/>
            <a:ext cx="5029199" cy="37548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1100" b="0" i="0" dirty="0">
                <a:solidFill>
                  <a:srgbClr val="21295C"/>
                </a:solidFill>
                <a:latin typeface="Calibri"/>
              </a:rPr>
              <a:t>LOESS – </a:t>
            </a:r>
            <a:r>
              <a:rPr lang="ru-RU" sz="1100" b="0" i="0" dirty="0">
                <a:solidFill>
                  <a:srgbClr val="21295C"/>
                </a:solidFill>
                <a:latin typeface="Calibri"/>
              </a:rPr>
              <a:t>локальная регрессия</a:t>
            </a:r>
            <a:r>
              <a:rPr lang="en-US" sz="1100" b="0" i="0" dirty="0">
                <a:solidFill>
                  <a:srgbClr val="21295C"/>
                </a:solidFill>
                <a:latin typeface="Calibri"/>
              </a:rPr>
              <a:t>: </a:t>
            </a:r>
            <a:r>
              <a:rPr lang="ru-RU" sz="1100" b="0" i="0" dirty="0">
                <a:solidFill>
                  <a:srgbClr val="21295C"/>
                </a:solidFill>
                <a:latin typeface="Calibri"/>
              </a:rPr>
              <a:t>для каждой точки строится сглаженная оценка по соседним наблюдениям с большими весами у ближайших точек</a:t>
            </a:r>
            <a:endParaRPr sz="1100" b="0" i="1" dirty="0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Классические модели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ARIMA, ETS, Prophet — базовые модели сравнения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1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0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749039" cy="5212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3749039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356615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ARIMA(p,d,q)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783080"/>
            <a:ext cx="3474719" cy="894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32251" y="2137866"/>
                <a:ext cx="3383279" cy="474425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nary>
                        <m:naryPr>
                          <m:chr m:val="∑"/>
                          <m:ctrlP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10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1000" i="1" dirty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0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000" i="1" dirty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0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0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0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l-GR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sz="1000" i="1" dirty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1000" i="1" dirty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0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000" i="1" dirty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1000" i="1" dirty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1000" i="1" dirty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000" i="1" dirty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0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000" b="0" i="0" dirty="0">
                  <a:solidFill>
                    <a:srgbClr val="21295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51" y="2137866"/>
                <a:ext cx="3383279" cy="474425"/>
              </a:xfrm>
              <a:prstGeom prst="rect">
                <a:avLst/>
              </a:prstGeom>
              <a:blipFill>
                <a:blip r:embed="rId3"/>
                <a:stretch>
                  <a:fillRect t="-105128" b="-1551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48639" y="2781400"/>
                <a:ext cx="3566159" cy="2949910"/>
              </a:xfrm>
              <a:prstGeom prst="rect">
                <a:avLst/>
              </a:prstGeom>
              <a:noFill/>
            </p:spPr>
            <p:txBody>
              <a:bodyPr wrap="square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lang="en-US" sz="1100" b="1" dirty="0">
                    <a:solidFill>
                      <a:schemeClr val="accent1">
                        <a:lumMod val="50000"/>
                      </a:schemeClr>
                    </a:solidFill>
                  </a:rPr>
                  <a:t>ARIMA = AR + I + MA</a:t>
                </a:r>
              </a:p>
              <a:p>
                <a:pPr>
                  <a:spcAft>
                    <a:spcPts val="400"/>
                  </a:spcAft>
                </a:pPr>
                <a:endParaRPr lang="en-US" sz="110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171450" indent="-171450">
                  <a:spcAft>
                    <a:spcPts val="400"/>
                  </a:spcAft>
                  <a:buFont typeface="Arial" panose="020B0604020202020204" pitchFamily="34" charset="0"/>
                  <a:buChar char="•"/>
                </a:pPr>
                <a:r>
                  <a:rPr lang="en-US" sz="1100" dirty="0">
                    <a:solidFill>
                      <a:schemeClr val="accent1">
                        <a:lumMod val="50000"/>
                      </a:schemeClr>
                    </a:solidFill>
                  </a:rPr>
                  <a:t>AR — </a:t>
                </a: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</a:rPr>
                  <a:t>зависимость от прошлых значений:</a:t>
                </a:r>
                <a:r>
                  <a:rPr lang="en-US" sz="110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1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ru-RU" sz="1100" b="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10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ru-RU" sz="1100" b="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1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10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11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sz="1100" b="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171450" indent="-171450">
                  <a:spcAft>
                    <a:spcPts val="400"/>
                  </a:spcAft>
                  <a:buFont typeface="Arial" panose="020B0604020202020204" pitchFamily="34" charset="0"/>
                  <a:buChar char="•"/>
                </a:pPr>
                <a:r>
                  <a:rPr lang="en-US" sz="1100" dirty="0">
                    <a:solidFill>
                      <a:schemeClr val="accent1">
                        <a:lumMod val="50000"/>
                      </a:schemeClr>
                    </a:solidFill>
                  </a:rPr>
                  <a:t>I — </a:t>
                </a: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</a:rPr>
                  <a:t>дифференцирование</a:t>
                </a:r>
                <a:r>
                  <a:rPr lang="en-US" sz="1100" dirty="0">
                    <a:solidFill>
                      <a:schemeClr val="accent1">
                        <a:lumMod val="50000"/>
                      </a:schemeClr>
                    </a:solidFill>
                  </a:rPr>
                  <a:t> (</a:t>
                </a: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</a:rPr>
                  <a:t>помогает убрать нестационарность):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10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10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11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1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10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sSub>
                      <m:sSubPr>
                        <m:ctrlPr>
                          <a:rPr lang="en-US" sz="11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10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171450" indent="-171450">
                  <a:spcAft>
                    <a:spcPts val="400"/>
                  </a:spcAft>
                  <a:buFont typeface="Arial" panose="020B0604020202020204" pitchFamily="34" charset="0"/>
                  <a:buChar char="•"/>
                </a:pPr>
                <a:r>
                  <a:rPr lang="en-US" sz="1100" dirty="0">
                    <a:solidFill>
                      <a:schemeClr val="accent1">
                        <a:lumMod val="50000"/>
                      </a:schemeClr>
                    </a:solidFill>
                  </a:rPr>
                  <a:t>MA — </a:t>
                </a: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</a:rPr>
                  <a:t>учёт прошлых ошибок:</a:t>
                </a:r>
                <a:r>
                  <a:rPr lang="en-US" sz="110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1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1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10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…, </m:t>
                    </m:r>
                    <m:sSub>
                      <m:sSubPr>
                        <m:ctrlPr>
                          <a:rPr lang="el-GR" sz="11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1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sz="1100" b="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>
                  <a:spcAft>
                    <a:spcPts val="400"/>
                  </a:spcAft>
                </a:pPr>
                <a:endParaRPr lang="en-US" sz="110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>
                  <a:spcAft>
                    <a:spcPts val="400"/>
                  </a:spcAft>
                </a:pPr>
                <a:r>
                  <a:rPr lang="ru-RU" sz="1100" b="1" dirty="0">
                    <a:solidFill>
                      <a:schemeClr val="accent1">
                        <a:lumMod val="50000"/>
                      </a:schemeClr>
                    </a:solidFill>
                  </a:rPr>
                  <a:t>В работе:</a:t>
                </a:r>
                <a:endParaRPr lang="en-US" sz="1100" b="1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>
                  <a:spcAft>
                    <a:spcPts val="400"/>
                  </a:spcAft>
                </a:pPr>
                <a:b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</a:rPr>
                </a:br>
                <a:r>
                  <a:rPr lang="ru-RU" sz="1100" b="1" dirty="0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▪  </a:t>
                </a: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ARIMA(</a:t>
                </a:r>
                <a:r>
                  <a:rPr lang="ru-RU" sz="1100" dirty="0" err="1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auto</a:t>
                </a: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): подбор по ACF/PACF (порядки ≤ 3)</a:t>
                </a:r>
              </a:p>
              <a:p>
                <a:pPr>
                  <a:spcAft>
                    <a:spcPts val="400"/>
                  </a:spcAft>
                </a:pPr>
                <a:r>
                  <a:rPr lang="ru-RU" sz="1100" b="1" dirty="0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▪  </a:t>
                </a: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защита от вырожденного прогноза</a:t>
                </a:r>
              </a:p>
              <a:p>
                <a:pPr>
                  <a:spcAft>
                    <a:spcPts val="400"/>
                  </a:spcAft>
                </a:pPr>
                <a:r>
                  <a:rPr lang="ru-RU" sz="1100" b="1" dirty="0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▪  </a:t>
                </a: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</a:rPr>
                  <a:t>резервный набор порядков:</a:t>
                </a:r>
                <a:b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</a:rPr>
                </a:b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</a:rPr>
                  <a:t>(0,1,1), (1,1,0), (0,1,0), (1,0,1)</a:t>
                </a:r>
                <a:endParaRPr lang="ru-RU" sz="1100" dirty="0">
                  <a:solidFill>
                    <a:schemeClr val="accent1">
                      <a:lumMod val="50000"/>
                    </a:schemeClr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39" y="2781400"/>
                <a:ext cx="3566159" cy="2949910"/>
              </a:xfrm>
              <a:prstGeom prst="rect">
                <a:avLst/>
              </a:prstGeom>
              <a:blipFill>
                <a:blip r:embed="rId4"/>
                <a:stretch>
                  <a:fillRect l="-1197" t="-207" b="-4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4297679" y="1188720"/>
            <a:ext cx="3749039" cy="5212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79" y="1188720"/>
            <a:ext cx="3749039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39" y="1234440"/>
            <a:ext cx="356615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39" y="1783080"/>
            <a:ext cx="3474719" cy="894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434838" y="2781400"/>
                <a:ext cx="3566159" cy="2123658"/>
              </a:xfrm>
              <a:prstGeom prst="rect">
                <a:avLst/>
              </a:prstGeom>
              <a:noFill/>
            </p:spPr>
            <p:txBody>
              <a:bodyPr wrap="square" lIns="45720" rIns="45720">
                <a:spAutoFit/>
              </a:bodyPr>
              <a:lstStyle/>
              <a:p>
                <a:r>
                  <a:rPr lang="ru-RU" sz="1100" b="1" dirty="0">
                    <a:solidFill>
                      <a:schemeClr val="accent1">
                        <a:lumMod val="50000"/>
                      </a:schemeClr>
                    </a:solidFill>
                  </a:rPr>
                  <a:t>ETS = Error + Trend + Seasonality</a:t>
                </a:r>
                <a:endParaRPr lang="en-US" sz="1100" b="1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endParaRPr lang="ru-RU" sz="110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ru-RU" sz="1100" b="1" dirty="0">
                    <a:solidFill>
                      <a:schemeClr val="accent1">
                        <a:lumMod val="50000"/>
                      </a:schemeClr>
                    </a:solidFill>
                  </a:rPr>
                  <a:t>уровень</a:t>
                </a: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</a:rPr>
                  <a:t>​</a:t>
                </a:r>
                <a:r>
                  <a:rPr lang="en-US" sz="1100" dirty="0">
                    <a:solidFill>
                      <a:srgbClr val="21295C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11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</a:rPr>
                  <a:t> — текущий базовый уровень ряда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ru-RU" sz="1100" b="1" dirty="0">
                    <a:solidFill>
                      <a:schemeClr val="accent1">
                        <a:lumMod val="50000"/>
                      </a:schemeClr>
                    </a:solidFill>
                  </a:rPr>
                  <a:t>тренд</a:t>
                </a: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1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100" b="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</a:rPr>
                  <a:t>​ — направление изменения ряда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ru-RU" sz="1100" b="1" dirty="0">
                    <a:solidFill>
                      <a:schemeClr val="accent1">
                        <a:lumMod val="50000"/>
                      </a:schemeClr>
                    </a:solidFill>
                  </a:rPr>
                  <a:t>сезонность</a:t>
                </a:r>
                <a:r>
                  <a:rPr lang="en-US" sz="1100" dirty="0">
                    <a:solidFill>
                      <a:srgbClr val="21295C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1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100" b="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</a:rPr>
                  <a:t>​— повторяющиеся колебания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ru-RU" sz="1100" b="1" dirty="0">
                    <a:solidFill>
                      <a:schemeClr val="accent1">
                        <a:lumMod val="50000"/>
                      </a:schemeClr>
                    </a:solidFill>
                  </a:rPr>
                  <a:t>экспоненциальное сглаживание </a:t>
                </a: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</a:rPr>
                  <a:t>— обновление состояний с весами </a:t>
                </a:r>
                <a14:m>
                  <m:oMath xmlns:m="http://schemas.openxmlformats.org/officeDocument/2006/math">
                    <m:r>
                      <a:rPr lang="ru-RU" sz="110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sz="110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sz="110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ru-RU" sz="110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sz="110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endParaRPr lang="en-US" sz="110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ru-RU" sz="110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r>
                  <a:rPr lang="ru-RU" sz="1100" b="1" dirty="0">
                    <a:solidFill>
                      <a:schemeClr val="accent1">
                        <a:lumMod val="50000"/>
                      </a:schemeClr>
                    </a:solidFill>
                  </a:rPr>
                  <a:t>В работе:</a:t>
                </a:r>
                <a:endParaRPr lang="en-US" sz="1100" b="1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ru-RU" sz="110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</a:rPr>
                  <a:t>хорошо работает на коротких рядах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</a:rPr>
                  <a:t>устойчива для плавной динамики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838" y="2781400"/>
                <a:ext cx="3566159" cy="2123658"/>
              </a:xfrm>
              <a:prstGeom prst="rect">
                <a:avLst/>
              </a:prstGeom>
              <a:blipFill>
                <a:blip r:embed="rId5"/>
                <a:stretch>
                  <a:fillRect l="-1026" t="-287" b="-8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8138158" y="1188720"/>
            <a:ext cx="3749039" cy="5212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38158" y="1188720"/>
            <a:ext cx="3749039" cy="4572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18" y="1234440"/>
            <a:ext cx="356615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Prophet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18" y="1783080"/>
            <a:ext cx="3474719" cy="894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8321037" y="2137866"/>
                <a:ext cx="3383279" cy="190821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ru-RU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ru-RU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ru-RU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ru-RU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ru-RU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ru-RU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ru-RU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) + </m:t>
                      </m:r>
                      <m:sSub>
                        <m:sSubPr>
                          <m:ctrlPr>
                            <a:rPr lang="ru-RU" sz="1000" b="0" i="1" dirty="0" err="1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000" b="0" i="1" dirty="0" err="1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ru-RU" sz="1000" b="0" i="1" dirty="0" err="1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1000" b="0" i="0" dirty="0">
                  <a:solidFill>
                    <a:srgbClr val="21295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1037" y="2137866"/>
                <a:ext cx="3383279" cy="190821"/>
              </a:xfrm>
              <a:prstGeom prst="rect">
                <a:avLst/>
              </a:prstGeom>
              <a:blipFill>
                <a:blip r:embed="rId6"/>
                <a:stretch>
                  <a:fillRect b="-225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8275318" y="2781400"/>
                <a:ext cx="3566159" cy="2246769"/>
              </a:xfrm>
              <a:prstGeom prst="rect">
                <a:avLst/>
              </a:prstGeom>
              <a:noFill/>
            </p:spPr>
            <p:txBody>
              <a:bodyPr wrap="square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lang="en-US" sz="1100" b="1" dirty="0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Prophet = Trend + Seasonality + Holidays + Error</a:t>
                </a:r>
              </a:p>
              <a:p>
                <a:pPr algn="l">
                  <a:spcAft>
                    <a:spcPts val="400"/>
                  </a:spcAft>
                </a:pPr>
                <a:endParaRPr lang="en-US" sz="1100" b="1" dirty="0">
                  <a:solidFill>
                    <a:schemeClr val="accent1">
                      <a:lumMod val="50000"/>
                    </a:schemeClr>
                  </a:solidFill>
                  <a:latin typeface="Calibri"/>
                </a:endParaRPr>
              </a:p>
              <a:p>
                <a:pPr marL="171450" indent="-171450" algn="l">
                  <a:spcAft>
                    <a:spcPts val="4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100" b="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100" b="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100" b="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100" b="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100" dirty="0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— </a:t>
                </a: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кусочно-линейный тренд</a:t>
                </a:r>
              </a:p>
              <a:p>
                <a:pPr marL="171450" indent="-171450" algn="l">
                  <a:spcAft>
                    <a:spcPts val="4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100" b="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100" b="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100" b="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100" b="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100" dirty="0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— </a:t>
                </a: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сезонность через ряд Фурье</a:t>
                </a:r>
              </a:p>
              <a:p>
                <a:pPr marL="171450" indent="-171450" algn="l">
                  <a:spcAft>
                    <a:spcPts val="4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100" b="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100" b="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100" b="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100" b="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100" dirty="0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— </a:t>
                </a: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календарные события</a:t>
                </a:r>
              </a:p>
              <a:p>
                <a:pPr marL="171450" indent="-171450" algn="l">
                  <a:spcAft>
                    <a:spcPts val="4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l-GR" sz="11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11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100" b="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— </a:t>
                </a: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ошибка</a:t>
                </a:r>
              </a:p>
              <a:p>
                <a:pPr algn="l">
                  <a:spcAft>
                    <a:spcPts val="400"/>
                  </a:spcAft>
                </a:pPr>
                <a:endParaRPr lang="ru-RU" sz="1100" b="1" dirty="0">
                  <a:solidFill>
                    <a:schemeClr val="accent1">
                      <a:lumMod val="50000"/>
                    </a:schemeClr>
                  </a:solidFill>
                  <a:latin typeface="Calibri"/>
                </a:endParaRPr>
              </a:p>
              <a:p>
                <a:pPr algn="l">
                  <a:spcAft>
                    <a:spcPts val="400"/>
                  </a:spcAft>
                </a:pPr>
                <a:r>
                  <a:rPr lang="ru-RU" sz="1100" b="1" dirty="0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В работе:</a:t>
                </a:r>
              </a:p>
              <a:p>
                <a:pPr marL="171450" indent="-171450" algn="l">
                  <a:spcAft>
                    <a:spcPts val="400"/>
                  </a:spcAft>
                  <a:buFont typeface="Arial" panose="020B0604020202020204" pitchFamily="34" charset="0"/>
                  <a:buChar char="•"/>
                </a:pP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аддитивная модель</a:t>
                </a:r>
              </a:p>
              <a:p>
                <a:pPr marL="171450" indent="-171450" algn="l">
                  <a:spcAft>
                    <a:spcPts val="400"/>
                  </a:spcAft>
                  <a:buFont typeface="Arial" panose="020B0604020202020204" pitchFamily="34" charset="0"/>
                  <a:buChar char="•"/>
                </a:pPr>
                <a:r>
                  <a:rPr lang="ru-RU" sz="1100" dirty="0">
                    <a:solidFill>
                      <a:schemeClr val="accent1">
                        <a:lumMod val="50000"/>
                      </a:schemeClr>
                    </a:solidFill>
                    <a:latin typeface="Calibri"/>
                  </a:rPr>
                  <a:t>без встроенных календарных сезонностей</a:t>
                </a: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318" y="2781400"/>
                <a:ext cx="3566159" cy="2246769"/>
              </a:xfrm>
              <a:prstGeom prst="rect">
                <a:avLst/>
              </a:prstGeom>
              <a:blipFill>
                <a:blip r:embed="rId7"/>
                <a:stretch>
                  <a:fillRect l="-1026" t="-271" b="-8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B349532-1564-4EA0-9FF3-48B5780235EB}"/>
                  </a:ext>
                </a:extLst>
              </p:cNvPr>
              <p:cNvSpPr txBox="1"/>
              <p:nvPr/>
            </p:nvSpPr>
            <p:spPr>
              <a:xfrm>
                <a:off x="685801" y="1898631"/>
                <a:ext cx="3329730" cy="193515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00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e>
                        <m:sup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sSub>
                        <m:sSubPr>
                          <m:ctrlP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𝐴𝑅𝑀𝐴</m:t>
                      </m:r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b="0" i="0" dirty="0">
                  <a:solidFill>
                    <a:srgbClr val="21295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B349532-1564-4EA0-9FF3-48B578023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1" y="1898631"/>
                <a:ext cx="3329730" cy="193515"/>
              </a:xfrm>
              <a:prstGeom prst="rect">
                <a:avLst/>
              </a:prstGeom>
              <a:blipFill>
                <a:blip r:embed="rId8"/>
                <a:stretch>
                  <a:fillRect b="-218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12337C9-1E69-41B6-BAA1-CB3B3D9457F0}"/>
                  </a:ext>
                </a:extLst>
              </p:cNvPr>
              <p:cNvSpPr txBox="1"/>
              <p:nvPr/>
            </p:nvSpPr>
            <p:spPr>
              <a:xfrm>
                <a:off x="4507333" y="2381344"/>
                <a:ext cx="3329730" cy="193515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00" b="0" i="1" dirty="0" smtClean="0">
                                  <a:solidFill>
                                    <a:srgbClr val="21295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sSub>
                        <m:sSubPr>
                          <m:ctrlP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US" sz="1000" b="0" i="0" dirty="0">
                  <a:solidFill>
                    <a:srgbClr val="21295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12337C9-1E69-41B6-BAA1-CB3B3D945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7333" y="2381344"/>
                <a:ext cx="3329730" cy="193515"/>
              </a:xfrm>
              <a:prstGeom prst="rect">
                <a:avLst/>
              </a:prstGeom>
              <a:blipFill>
                <a:blip r:embed="rId9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F5218E-24EE-4E26-8C8F-A939B9C3BEF2}"/>
                  </a:ext>
                </a:extLst>
              </p:cNvPr>
              <p:cNvSpPr txBox="1"/>
              <p:nvPr/>
            </p:nvSpPr>
            <p:spPr>
              <a:xfrm>
                <a:off x="4513596" y="1888697"/>
                <a:ext cx="3329730" cy="667299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000" i="1" dirty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1000" b="0" i="0" dirty="0">
                  <a:solidFill>
                    <a:srgbClr val="21295C"/>
                  </a:solidFill>
                  <a:latin typeface="Consolas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1000" i="1" dirty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00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sSub>
                        <m:sSubPr>
                          <m:ctrlP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1000" b="0" i="0" dirty="0">
                  <a:solidFill>
                    <a:srgbClr val="21295C"/>
                  </a:solidFill>
                  <a:latin typeface="Consolas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ru-RU" sz="1000" i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sz="1000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000" b="0" i="1" dirty="0" smtClean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1000" i="1" dirty="0">
                          <a:solidFill>
                            <a:srgbClr val="21295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00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ru-RU" sz="1000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  <m:sSub>
                        <m:sSubPr>
                          <m:ctrlP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000" b="0" i="1" dirty="0" smtClean="0">
                              <a:solidFill>
                                <a:srgbClr val="21295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sz="1000" b="0" i="0" dirty="0">
                  <a:solidFill>
                    <a:srgbClr val="21295C"/>
                  </a:solidFill>
                  <a:latin typeface="Consolas"/>
                </a:endParaRPr>
              </a:p>
              <a:p>
                <a:endParaRPr lang="en-US" sz="1000" b="0" i="0" dirty="0">
                  <a:solidFill>
                    <a:srgbClr val="21295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F5218E-24EE-4E26-8C8F-A939B9C3B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3596" y="1888697"/>
                <a:ext cx="3329730" cy="6672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Архитектура TimesNet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4590789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 dirty="0" err="1">
                <a:solidFill>
                  <a:srgbClr val="1C7293"/>
                </a:solidFill>
                <a:latin typeface="Calibri"/>
              </a:rPr>
              <a:t>Превращение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1D-ряда в 2D-представления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по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периодам</a:t>
            </a:r>
            <a:endParaRPr sz="1400" b="0" i="1" dirty="0">
              <a:solidFill>
                <a:srgbClr val="1C729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1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1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6444641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 dirty="0" err="1">
                <a:solidFill>
                  <a:srgbClr val="21295C"/>
                </a:solidFill>
                <a:latin typeface="Calibri"/>
              </a:rPr>
              <a:t>Идея</a:t>
            </a:r>
            <a:r>
              <a:rPr sz="1400" b="0" i="1" dirty="0">
                <a:solidFill>
                  <a:srgbClr val="21295C"/>
                </a:solidFill>
                <a:latin typeface="Calibri"/>
              </a:rPr>
              <a:t>: </a:t>
            </a:r>
            <a:r>
              <a:rPr lang="ru-RU" sz="1400" b="0" i="1" dirty="0">
                <a:solidFill>
                  <a:srgbClr val="21295C"/>
                </a:solidFill>
                <a:latin typeface="Calibri"/>
              </a:rPr>
              <a:t>одномерный ряд → набор 2D-«изображений» по доминирующим периодам</a:t>
            </a:r>
            <a:endParaRPr sz="1400" b="0" i="1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2194560" cy="8229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2083760"/>
            <a:ext cx="2194560" cy="22159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Входной ряд</a:t>
            </a:r>
            <a:endParaRPr sz="12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560321" y="2057400"/>
            <a:ext cx="91439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06040" y="1783080"/>
            <a:ext cx="2194560" cy="8229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06040" y="1899094"/>
            <a:ext cx="2194560" cy="59093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FFT</a:t>
            </a:r>
            <a:r>
              <a:rPr lang="ru-RU" sz="1200" dirty="0">
                <a:solidFill>
                  <a:schemeClr val="bg1"/>
                </a:solidFill>
              </a:rPr>
              <a:t> (быстрое дискретное преобразование Фурье)</a:t>
            </a:r>
            <a:r>
              <a:rPr lang="en-US" sz="1200" dirty="0">
                <a:solidFill>
                  <a:schemeClr val="bg1"/>
                </a:solidFill>
              </a:rPr>
              <a:t>: </a:t>
            </a:r>
            <a:r>
              <a:rPr lang="ru-RU" sz="1200" dirty="0">
                <a:solidFill>
                  <a:schemeClr val="bg1"/>
                </a:solidFill>
              </a:rPr>
              <a:t>поиск доминирующих периодов</a:t>
            </a:r>
            <a:endParaRPr sz="12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4800601" y="2057400"/>
            <a:ext cx="91439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846320" y="1783080"/>
            <a:ext cx="2194560" cy="8229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46320" y="1991427"/>
            <a:ext cx="2194560" cy="4062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ru-RU" sz="1200" dirty="0" err="1">
                <a:solidFill>
                  <a:schemeClr val="bg1"/>
                </a:solidFill>
              </a:rPr>
              <a:t>Reshape</a:t>
            </a:r>
            <a:r>
              <a:rPr lang="ru-RU" sz="1200" dirty="0">
                <a:solidFill>
                  <a:schemeClr val="bg1"/>
                </a:solidFill>
              </a:rPr>
              <a:t>: 1D → 2D по каждому периоду</a:t>
            </a:r>
            <a:endParaRPr sz="12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7040881" y="2057400"/>
            <a:ext cx="91439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086600" y="1783080"/>
            <a:ext cx="2194560" cy="8229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86600" y="1991427"/>
            <a:ext cx="2194560" cy="4062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2D-</a:t>
            </a:r>
            <a:r>
              <a:rPr lang="ru-RU" sz="1200" dirty="0">
                <a:solidFill>
                  <a:schemeClr val="bg1"/>
                </a:solidFill>
              </a:rPr>
              <a:t>свёртки: обработка </a:t>
            </a:r>
            <a:r>
              <a:rPr lang="en-US" sz="1200" dirty="0">
                <a:solidFill>
                  <a:schemeClr val="bg1"/>
                </a:solidFill>
              </a:rPr>
              <a:t>intra + inter-period variation</a:t>
            </a:r>
            <a:endParaRPr sz="12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9281161" y="2057400"/>
            <a:ext cx="91439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326880" y="1783080"/>
            <a:ext cx="2194560" cy="8229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0" y="1991427"/>
            <a:ext cx="2194560" cy="4062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</a:rPr>
              <a:t>Softmax</a:t>
            </a:r>
            <a:r>
              <a:rPr lang="en-US" sz="1200" dirty="0">
                <a:solidFill>
                  <a:schemeClr val="bg1"/>
                </a:solidFill>
              </a:rPr>
              <a:t>-</a:t>
            </a:r>
            <a:r>
              <a:rPr lang="ru-RU" sz="1200" dirty="0">
                <a:solidFill>
                  <a:schemeClr val="bg1"/>
                </a:solidFill>
              </a:rPr>
              <a:t>агрегация по амплитудам</a:t>
            </a:r>
            <a:endParaRPr sz="12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003171" y="2958309"/>
            <a:ext cx="4434841" cy="867253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86051" y="3049749"/>
            <a:ext cx="1490598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1200" b="1" dirty="0">
                <a:solidFill>
                  <a:srgbClr val="21295C"/>
                </a:solidFill>
                <a:latin typeface="Calibri"/>
              </a:rPr>
              <a:t>Ключевая формула</a:t>
            </a:r>
            <a:r>
              <a:rPr lang="en-US" sz="1200" b="1" dirty="0">
                <a:solidFill>
                  <a:srgbClr val="21295C"/>
                </a:solidFill>
                <a:latin typeface="Calibri"/>
              </a:rPr>
              <a:t>:</a:t>
            </a:r>
            <a:endParaRPr sz="1200" b="1" i="0" dirty="0">
              <a:solidFill>
                <a:srgbClr val="21295C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7520700" y="3031685"/>
                <a:ext cx="2917311" cy="267509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3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3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3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3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3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bSup>
                      <m:r>
                        <a:rPr lang="en-US" sz="1300" b="0" i="1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300" b="0" i="1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𝑅𝑒𝑠</m:t>
                      </m:r>
                      <m:r>
                        <a:rPr lang="en-US" sz="1300" b="0" i="1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300" b="0" i="1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𝑎𝑝</m:t>
                      </m:r>
                      <m:sSub>
                        <m:sSubPr>
                          <m:ctrlPr>
                            <a:rPr lang="en-US" sz="1300" b="0" i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b="0" i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b>
                            <m:sSubPr>
                              <m:ctrlPr>
                                <a:rPr lang="en-US" sz="1300" b="0" i="1" dirty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0" i="1" dirty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300" b="0" i="1" dirty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3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300" b="0" i="1" dirty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0" i="1" dirty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300" b="0" i="1" dirty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sz="1300" b="0" i="1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3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𝑃𝑎𝑑𝑑𝑖𝑛𝑔</m:t>
                      </m:r>
                      <m:r>
                        <a:rPr lang="en-US" sz="13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3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3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13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3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p>
                      <m:r>
                        <a:rPr lang="en-US" sz="13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300" b="0" i="1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1300" b="0" i="0" dirty="0">
                  <a:solidFill>
                    <a:srgbClr val="065A82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0700" y="3031685"/>
                <a:ext cx="2917311" cy="267509"/>
              </a:xfrm>
              <a:prstGeom prst="rect">
                <a:avLst/>
              </a:prstGeom>
              <a:blipFill>
                <a:blip r:embed="rId3"/>
                <a:stretch>
                  <a:fillRect b="-113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457200" y="5237548"/>
            <a:ext cx="219456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 dirty="0" err="1">
                <a:solidFill>
                  <a:srgbClr val="E76F51"/>
                </a:solidFill>
                <a:latin typeface="Calibri"/>
              </a:rPr>
              <a:t>Реализация</a:t>
            </a:r>
            <a:r>
              <a:rPr sz="1400" b="1" i="0" dirty="0">
                <a:solidFill>
                  <a:srgbClr val="E76F51"/>
                </a:solidFill>
                <a:latin typeface="Calibri"/>
              </a:rPr>
              <a:t> (TimesNetV2):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601631"/>
            <a:ext cx="3886200" cy="51296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d_model</a:t>
            </a:r>
            <a:r>
              <a:rPr sz="1200" dirty="0">
                <a:solidFill>
                  <a:srgbClr val="21295C"/>
                </a:solidFill>
                <a:latin typeface="Calibri"/>
              </a:rPr>
              <a:t>=64, layers=4, top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_</a:t>
            </a:r>
            <a:r>
              <a:rPr sz="1200" dirty="0">
                <a:solidFill>
                  <a:srgbClr val="21295C"/>
                </a:solidFill>
                <a:latin typeface="Calibri"/>
              </a:rPr>
              <a:t>k=3, dropout=0.1</a:t>
            </a: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MSUnit</a:t>
            </a:r>
            <a:r>
              <a:rPr sz="1200" dirty="0">
                <a:solidFill>
                  <a:srgbClr val="21295C"/>
                </a:solidFill>
                <a:latin typeface="Calibri"/>
              </a:rPr>
              <a:t>: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ветки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1×1, 3×3, 7×7 +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avgpool</a:t>
            </a:r>
            <a:endParaRPr sz="1200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31" name="Rectangle 21">
            <a:extLst>
              <a:ext uri="{FF2B5EF4-FFF2-40B4-BE49-F238E27FC236}">
                <a16:creationId xmlns:a16="http://schemas.microsoft.com/office/drawing/2014/main" id="{350CF4FC-1717-410A-AB92-80146C56BB95}"/>
              </a:ext>
            </a:extLst>
          </p:cNvPr>
          <p:cNvSpPr/>
          <p:nvPr/>
        </p:nvSpPr>
        <p:spPr>
          <a:xfrm>
            <a:off x="1385448" y="2953205"/>
            <a:ext cx="4434841" cy="867253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0FE255-9768-4CD7-8B13-3E9DC0B2EF67}"/>
              </a:ext>
            </a:extLst>
          </p:cNvPr>
          <p:cNvSpPr txBox="1"/>
          <p:nvPr/>
        </p:nvSpPr>
        <p:spPr>
          <a:xfrm>
            <a:off x="1637220" y="3083068"/>
            <a:ext cx="1490598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1200" b="1" i="0" dirty="0">
                <a:solidFill>
                  <a:srgbClr val="21295C"/>
                </a:solidFill>
                <a:latin typeface="Calibri"/>
              </a:rPr>
              <a:t>FFT / DFT</a:t>
            </a:r>
            <a:r>
              <a:rPr sz="1200" b="1" i="0" dirty="0">
                <a:solidFill>
                  <a:srgbClr val="21295C"/>
                </a:solidFill>
                <a:latin typeface="Calibri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A7B759B-72F6-425F-8469-E484178A9BA4}"/>
                  </a:ext>
                </a:extLst>
              </p:cNvPr>
              <p:cNvSpPr txBox="1"/>
              <p:nvPr/>
            </p:nvSpPr>
            <p:spPr>
              <a:xfrm>
                <a:off x="2382519" y="2964123"/>
                <a:ext cx="3370580" cy="340671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30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3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ru-RU" sz="1400" i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ru-RU" sz="1400" b="0" i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14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b="0" i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4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14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sSub>
                        <m:sSubPr>
                          <m:ctrlPr>
                            <a:rPr lang="en-US" sz="1300" i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1300" i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300" i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300" i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300" i="1" dirty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300" i="1" dirty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300" i="1" dirty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300" i="1" dirty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1300" i="1" dirty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𝑘𝑡</m:t>
                              </m:r>
                            </m:num>
                            <m:den>
                              <m:r>
                                <a:rPr lang="en-US" sz="1300" i="1" dirty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sup>
                      </m:sSup>
                      <m:r>
                        <a:rPr lang="en-US" sz="13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13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3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3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3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…, </m:t>
                      </m:r>
                      <m:r>
                        <a:rPr lang="en-US" sz="13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3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3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sz="1300" b="0" i="0" dirty="0">
                  <a:solidFill>
                    <a:srgbClr val="065A82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A7B759B-72F6-425F-8469-E484178A9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519" y="2964123"/>
                <a:ext cx="3370580" cy="340671"/>
              </a:xfrm>
              <a:prstGeom prst="rect">
                <a:avLst/>
              </a:prstGeom>
              <a:blipFill>
                <a:blip r:embed="rId4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F724B77-A794-4B23-92D1-0072C41224C2}"/>
                  </a:ext>
                </a:extLst>
              </p:cNvPr>
              <p:cNvSpPr txBox="1"/>
              <p:nvPr/>
            </p:nvSpPr>
            <p:spPr>
              <a:xfrm>
                <a:off x="1568330" y="3357081"/>
                <a:ext cx="4251959" cy="412357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l"/>
                <a:r>
                  <a:rPr lang="ru-RU" sz="1000" b="1" dirty="0">
                    <a:solidFill>
                      <a:schemeClr val="tx2">
                        <a:lumMod val="75000"/>
                      </a:schemeClr>
                    </a:solidFill>
                  </a:rPr>
                  <a:t>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000" b="1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000" b="1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ru-RU" sz="1000" b="1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ru-RU" sz="1000" b="1" dirty="0">
                    <a:solidFill>
                      <a:schemeClr val="tx2">
                        <a:lumMod val="75000"/>
                      </a:schemeClr>
                    </a:solidFill>
                  </a:rPr>
                  <a:t>| </a:t>
                </a:r>
                <a:r>
                  <a:rPr lang="ru-RU" sz="1000" dirty="0">
                    <a:solidFill>
                      <a:schemeClr val="tx2">
                        <a:lumMod val="75000"/>
                      </a:schemeClr>
                    </a:solidFill>
                  </a:rPr>
                  <a:t>— </a:t>
                </a:r>
                <a:r>
                  <a:rPr lang="ru-RU" sz="1000" i="1" dirty="0">
                    <a:solidFill>
                      <a:schemeClr val="tx2">
                        <a:lumMod val="75000"/>
                      </a:schemeClr>
                    </a:solidFill>
                  </a:rPr>
                  <a:t>амплитуда частоты k</a:t>
                </a:r>
                <a:r>
                  <a:rPr lang="ru-RU" sz="1000" dirty="0">
                    <a:solidFill>
                      <a:schemeClr val="tx2">
                        <a:lumMod val="75000"/>
                      </a:schemeClr>
                    </a:solidFill>
                  </a:rPr>
                  <a:t>,</a:t>
                </a:r>
                <a:r>
                  <a:rPr lang="en-US" sz="1000" dirty="0">
                    <a:solidFill>
                      <a:schemeClr val="tx2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000" b="1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000" b="1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ru-RU" sz="1000" b="1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ru-RU" sz="1000" b="1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000" b="1" dirty="0">
                    <a:solidFill>
                      <a:schemeClr val="tx2">
                        <a:lumMod val="75000"/>
                      </a:schemeClr>
                    </a:solidFill>
                  </a:rPr>
                  <a:t>≈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1000" b="1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1000" b="1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num>
                      <m:den>
                        <m:r>
                          <a:rPr lang="en-US" sz="1000" b="1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den>
                    </m:f>
                    <m:r>
                      <a:rPr lang="en-US" sz="1000" b="0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1000" b="1" i="0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000" b="1" i="0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sz="1000" b="1" i="0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000" b="1" i="0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ru-RU" sz="1000" dirty="0">
                    <a:solidFill>
                      <a:schemeClr val="tx2">
                        <a:lumMod val="75000"/>
                      </a:schemeClr>
                    </a:solidFill>
                  </a:rPr>
                  <a:t>— </a:t>
                </a:r>
                <a:r>
                  <a:rPr lang="ru-RU" sz="1000" i="1" dirty="0">
                    <a:solidFill>
                      <a:schemeClr val="tx2">
                        <a:lumMod val="75000"/>
                      </a:schemeClr>
                    </a:solidFill>
                  </a:rPr>
                  <a:t>соответствующий период</a:t>
                </a:r>
                <a:r>
                  <a:rPr lang="en-US" sz="1000" i="1" dirty="0">
                    <a:solidFill>
                      <a:schemeClr val="tx2">
                        <a:lumMod val="75000"/>
                      </a:schemeClr>
                    </a:solidFill>
                  </a:rPr>
                  <a:t> </a:t>
                </a:r>
                <a:r>
                  <a:rPr lang="en-US" sz="1000" b="0" i="1" dirty="0">
                    <a:solidFill>
                      <a:schemeClr val="tx2">
                        <a:lumMod val="75000"/>
                      </a:schemeClr>
                    </a:solidFill>
                    <a:latin typeface="Calibri"/>
                  </a:rPr>
                  <a:t>(</a:t>
                </a:r>
                <a:r>
                  <a:rPr lang="ru-RU" sz="1000" i="1" dirty="0">
                    <a:solidFill>
                      <a:schemeClr val="tx2">
                        <a:lumMod val="75000"/>
                      </a:schemeClr>
                    </a:solidFill>
                  </a:rPr>
                  <a:t>большие амплитуды показывают доминирующие частоты</a:t>
                </a:r>
                <a:r>
                  <a:rPr lang="en-US" sz="1000" b="0" i="1" dirty="0">
                    <a:solidFill>
                      <a:schemeClr val="tx2">
                        <a:lumMod val="75000"/>
                      </a:schemeClr>
                    </a:solidFill>
                    <a:latin typeface="Calibri"/>
                  </a:rPr>
                  <a:t>)</a:t>
                </a:r>
                <a:endParaRPr lang="ru-RU" sz="1000" b="0" i="1" dirty="0">
                  <a:solidFill>
                    <a:schemeClr val="tx2">
                      <a:lumMod val="75000"/>
                    </a:schemeClr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F724B77-A794-4B23-92D1-0072C41224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8330" y="3357081"/>
                <a:ext cx="4251959" cy="412357"/>
              </a:xfrm>
              <a:prstGeom prst="rect">
                <a:avLst/>
              </a:prstGeom>
              <a:blipFill>
                <a:blip r:embed="rId5"/>
                <a:stretch>
                  <a:fillRect l="-716" b="-149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21">
            <a:extLst>
              <a:ext uri="{FF2B5EF4-FFF2-40B4-BE49-F238E27FC236}">
                <a16:creationId xmlns:a16="http://schemas.microsoft.com/office/drawing/2014/main" id="{C440BBDD-53DF-450B-B4EF-6D2FCE408D32}"/>
              </a:ext>
            </a:extLst>
          </p:cNvPr>
          <p:cNvSpPr/>
          <p:nvPr/>
        </p:nvSpPr>
        <p:spPr>
          <a:xfrm>
            <a:off x="3878579" y="3988280"/>
            <a:ext cx="4434841" cy="867253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001121-39D3-43AD-83F1-7BA9CB43B13E}"/>
              </a:ext>
            </a:extLst>
          </p:cNvPr>
          <p:cNvSpPr txBox="1"/>
          <p:nvPr/>
        </p:nvSpPr>
        <p:spPr>
          <a:xfrm>
            <a:off x="4328465" y="4118143"/>
            <a:ext cx="849472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1200" b="1" i="0" dirty="0" err="1">
                <a:solidFill>
                  <a:srgbClr val="21295C"/>
                </a:solidFill>
                <a:latin typeface="Calibri"/>
              </a:rPr>
              <a:t>Softmax</a:t>
            </a:r>
            <a:r>
              <a:rPr sz="1200" b="1" i="0" dirty="0">
                <a:solidFill>
                  <a:srgbClr val="21295C"/>
                </a:solidFill>
                <a:latin typeface="Calibri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E1ACEB7-791E-48C2-9164-D04A28904F41}"/>
                  </a:ext>
                </a:extLst>
              </p:cNvPr>
              <p:cNvSpPr txBox="1"/>
              <p:nvPr/>
            </p:nvSpPr>
            <p:spPr>
              <a:xfrm>
                <a:off x="4893462" y="3999198"/>
                <a:ext cx="2854961" cy="462050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ar-AE" sz="12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12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2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sz="1200" i="1" dirty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200" i="1" dirty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ar-AE" sz="1200" b="0" i="1" dirty="0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200" b="0" i="1" dirty="0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ar-AE" sz="1200" b="0" i="1" dirty="0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ar-AE" sz="1200" i="1" dirty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sz="1200" i="1" dirty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ar-AE" sz="1200" b="0" i="1" dirty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ar-AE" sz="1200" i="1" dirty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 sz="1200" b="0" i="1" dirty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ar-AE" sz="1200" b="0" i="1" dirty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ar-AE" sz="1200" i="1" dirty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200" i="1" dirty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ar-AE" sz="1200" b="0" i="1" dirty="0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200" b="0" i="1" dirty="0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ar-AE" sz="1200" b="0" i="1" dirty="0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  <m:r>
                        <a:rPr lang="ar-AE" sz="12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ar-AE" sz="12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ar-AE" sz="12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2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12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…, </m:t>
                      </m:r>
                      <m:r>
                        <a:rPr lang="ar-AE" sz="12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ar-AE" sz="1200" b="0" i="0" dirty="0">
                  <a:solidFill>
                    <a:schemeClr val="tx2">
                      <a:lumMod val="50000"/>
                    </a:schemeClr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E1ACEB7-791E-48C2-9164-D04A28904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3462" y="3999198"/>
                <a:ext cx="2854961" cy="462050"/>
              </a:xfrm>
              <a:prstGeom prst="rect">
                <a:avLst/>
              </a:prstGeom>
              <a:blipFill>
                <a:blip r:embed="rId6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7F6FB6E7-99B8-4BC6-90EF-28F4D8758AE1}"/>
              </a:ext>
            </a:extLst>
          </p:cNvPr>
          <p:cNvSpPr txBox="1"/>
          <p:nvPr/>
        </p:nvSpPr>
        <p:spPr>
          <a:xfrm>
            <a:off x="6186053" y="3393438"/>
            <a:ext cx="4251959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1000" b="0" i="1" dirty="0">
                <a:solidFill>
                  <a:srgbClr val="21295C"/>
                </a:solidFill>
                <a:latin typeface="Calibri"/>
              </a:rPr>
              <a:t>столбцы —</a:t>
            </a:r>
            <a:r>
              <a:rPr lang="en-US" sz="10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lang="ru-RU" sz="1000" b="0" i="1" dirty="0">
                <a:solidFill>
                  <a:srgbClr val="21295C"/>
                </a:solidFill>
                <a:latin typeface="Calibri"/>
              </a:rPr>
              <a:t>изменения внутри одного периода</a:t>
            </a:r>
            <a:r>
              <a:rPr lang="en-US" sz="1000" b="0" i="1" dirty="0">
                <a:solidFill>
                  <a:srgbClr val="21295C"/>
                </a:solidFill>
                <a:latin typeface="Calibri"/>
              </a:rPr>
              <a:t> (</a:t>
            </a:r>
            <a:r>
              <a:rPr lang="ru-RU" sz="1000" b="1" i="1" dirty="0" err="1">
                <a:solidFill>
                  <a:srgbClr val="21295C"/>
                </a:solidFill>
                <a:latin typeface="Calibri"/>
              </a:rPr>
              <a:t>intra-period</a:t>
            </a:r>
            <a:r>
              <a:rPr lang="ru-RU" sz="1000" b="1" i="1" dirty="0">
                <a:solidFill>
                  <a:srgbClr val="21295C"/>
                </a:solidFill>
                <a:latin typeface="Calibri"/>
              </a:rPr>
              <a:t> </a:t>
            </a:r>
            <a:r>
              <a:rPr lang="ru-RU" sz="1000" b="1" i="1" dirty="0" err="1">
                <a:solidFill>
                  <a:srgbClr val="21295C"/>
                </a:solidFill>
                <a:latin typeface="Calibri"/>
              </a:rPr>
              <a:t>variation</a:t>
            </a:r>
            <a:r>
              <a:rPr lang="en-US" sz="1000" b="0" i="1" dirty="0">
                <a:solidFill>
                  <a:srgbClr val="21295C"/>
                </a:solidFill>
                <a:latin typeface="Calibri"/>
              </a:rPr>
              <a:t>)</a:t>
            </a:r>
            <a:r>
              <a:rPr lang="ru-RU" sz="1000" b="0" i="1" dirty="0">
                <a:solidFill>
                  <a:srgbClr val="21295C"/>
                </a:solidFill>
                <a:latin typeface="Calibri"/>
              </a:rPr>
              <a:t>;</a:t>
            </a:r>
          </a:p>
          <a:p>
            <a:pPr algn="l"/>
            <a:r>
              <a:rPr lang="ru-RU" sz="1000" b="0" i="1" dirty="0">
                <a:solidFill>
                  <a:srgbClr val="21295C"/>
                </a:solidFill>
                <a:latin typeface="Calibri"/>
              </a:rPr>
              <a:t>строки — изменения между соседними периодами</a:t>
            </a:r>
            <a:r>
              <a:rPr lang="en-US" sz="1000" b="0" i="1" dirty="0">
                <a:solidFill>
                  <a:srgbClr val="21295C"/>
                </a:solidFill>
                <a:latin typeface="Calibri"/>
              </a:rPr>
              <a:t> (</a:t>
            </a:r>
            <a:r>
              <a:rPr lang="ru-RU" sz="1000" b="1" i="1" dirty="0" err="1">
                <a:solidFill>
                  <a:srgbClr val="21295C"/>
                </a:solidFill>
                <a:latin typeface="Calibri"/>
              </a:rPr>
              <a:t>inter-period</a:t>
            </a:r>
            <a:r>
              <a:rPr lang="ru-RU" sz="1000" b="1" i="1" dirty="0">
                <a:solidFill>
                  <a:srgbClr val="21295C"/>
                </a:solidFill>
                <a:latin typeface="Calibri"/>
              </a:rPr>
              <a:t> </a:t>
            </a:r>
            <a:r>
              <a:rPr lang="ru-RU" sz="1000" b="1" i="1" dirty="0" err="1">
                <a:solidFill>
                  <a:srgbClr val="21295C"/>
                </a:solidFill>
                <a:latin typeface="Calibri"/>
              </a:rPr>
              <a:t>variation</a:t>
            </a:r>
            <a:r>
              <a:rPr lang="ru-RU" sz="1000" b="0" i="1" dirty="0">
                <a:solidFill>
                  <a:srgbClr val="21295C"/>
                </a:solidFill>
                <a:latin typeface="Calibri"/>
              </a:rPr>
              <a:t>);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569768A-0F38-4F96-AFA7-5BD246448C08}"/>
                  </a:ext>
                </a:extLst>
              </p:cNvPr>
              <p:cNvSpPr txBox="1"/>
              <p:nvPr/>
            </p:nvSpPr>
            <p:spPr>
              <a:xfrm>
                <a:off x="4061461" y="4474905"/>
                <a:ext cx="4251959" cy="344710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000" b="1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1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ru-RU" sz="1000" b="1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ru-RU" sz="1000" i="1" dirty="0">
                    <a:solidFill>
                      <a:schemeClr val="tx2">
                        <a:lumMod val="75000"/>
                      </a:schemeClr>
                    </a:solidFill>
                  </a:rPr>
                  <a:t>​ — амплитуда или оценка значимости i-го периода</a:t>
                </a:r>
                <a:r>
                  <a:rPr lang="en-US" sz="1000" i="1" dirty="0">
                    <a:solidFill>
                      <a:schemeClr val="tx2">
                        <a:lumMod val="75000"/>
                      </a:schemeClr>
                    </a:solidFill>
                  </a:rPr>
                  <a:t>;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000" b="1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1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sz="1000" b="1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000" b="1" i="1" dirty="0">
                    <a:solidFill>
                      <a:schemeClr val="tx2">
                        <a:lumMod val="75000"/>
                      </a:schemeClr>
                    </a:solidFill>
                  </a:rPr>
                  <a:t> </a:t>
                </a:r>
                <a:r>
                  <a:rPr lang="ru-RU" sz="1000" i="1" dirty="0">
                    <a:solidFill>
                      <a:schemeClr val="tx2">
                        <a:lumMod val="75000"/>
                      </a:schemeClr>
                    </a:solidFill>
                  </a:rPr>
                  <a:t>— его нормированный вес</a:t>
                </a:r>
                <a:r>
                  <a:rPr lang="en-US" sz="1000" i="1" dirty="0">
                    <a:solidFill>
                      <a:schemeClr val="tx2">
                        <a:lumMod val="75000"/>
                      </a:schemeClr>
                    </a:solidFill>
                  </a:rPr>
                  <a:t>;</a:t>
                </a:r>
                <a:endParaRPr lang="ru-RU" sz="1000" b="0" i="1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569768A-0F38-4F96-AFA7-5BD246448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1461" y="4474905"/>
                <a:ext cx="4251959" cy="344710"/>
              </a:xfrm>
              <a:prstGeom prst="rect">
                <a:avLst/>
              </a:prstGeom>
              <a:blipFill>
                <a:blip r:embed="rId7"/>
                <a:stretch>
                  <a:fillRect t="-5263" b="-175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0CD7A283-6F16-44B9-A7F0-A3FAB3FFA601}"/>
              </a:ext>
            </a:extLst>
          </p:cNvPr>
          <p:cNvSpPr txBox="1"/>
          <p:nvPr/>
        </p:nvSpPr>
        <p:spPr>
          <a:xfrm>
            <a:off x="4538880" y="5601632"/>
            <a:ext cx="7165440" cy="51296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200" dirty="0">
                <a:solidFill>
                  <a:srgbClr val="21295C"/>
                </a:solidFill>
                <a:latin typeface="Calibri"/>
              </a:rPr>
              <a:t>Padding —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повторением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последнего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значения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(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не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нулями –</a:t>
            </a:r>
            <a:r>
              <a:rPr lang="en-US"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без </a:t>
            </a:r>
            <a:r>
              <a:rPr lang="ru-RU" sz="1200" dirty="0">
                <a:solidFill>
                  <a:schemeClr val="tx2">
                    <a:lumMod val="75000"/>
                  </a:schemeClr>
                </a:solidFill>
              </a:rPr>
              <a:t>искусственного скачка на границе окна</a:t>
            </a:r>
            <a:r>
              <a:rPr sz="1200" dirty="0">
                <a:solidFill>
                  <a:srgbClr val="21295C"/>
                </a:solidFill>
                <a:latin typeface="Calibri"/>
              </a:rPr>
              <a:t>)</a:t>
            </a: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опция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якоря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— </a:t>
            </a:r>
            <a:r>
              <a:rPr lang="ru-RU" sz="1200" dirty="0">
                <a:solidFill>
                  <a:schemeClr val="tx2">
                    <a:lumMod val="75000"/>
                  </a:schemeClr>
                </a:solidFill>
              </a:rPr>
              <a:t>прогнозируется приращение относительно последнего наблюдения</a:t>
            </a:r>
            <a:endParaRPr sz="1200" dirty="0">
              <a:solidFill>
                <a:schemeClr val="tx2">
                  <a:lumMod val="75000"/>
                </a:schemeClr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9">
            <a:extLst>
              <a:ext uri="{FF2B5EF4-FFF2-40B4-BE49-F238E27FC236}">
                <a16:creationId xmlns:a16="http://schemas.microsoft.com/office/drawing/2014/main" id="{73ED30BF-AFC7-4BB3-A8D2-3169B1AA7A08}"/>
              </a:ext>
            </a:extLst>
          </p:cNvPr>
          <p:cNvSpPr/>
          <p:nvPr/>
        </p:nvSpPr>
        <p:spPr>
          <a:xfrm>
            <a:off x="469951" y="1654701"/>
            <a:ext cx="3669901" cy="1502615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10">
            <a:extLst>
              <a:ext uri="{FF2B5EF4-FFF2-40B4-BE49-F238E27FC236}">
                <a16:creationId xmlns:a16="http://schemas.microsoft.com/office/drawing/2014/main" id="{18D98935-965C-40C1-A870-61640F4C67F3}"/>
              </a:ext>
            </a:extLst>
          </p:cNvPr>
          <p:cNvSpPr/>
          <p:nvPr/>
        </p:nvSpPr>
        <p:spPr>
          <a:xfrm>
            <a:off x="469951" y="1654701"/>
            <a:ext cx="3669901" cy="86457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96004BD-F72D-4DA3-AFA8-BDD810909CFB}"/>
              </a:ext>
            </a:extLst>
          </p:cNvPr>
          <p:cNvSpPr txBox="1"/>
          <p:nvPr/>
        </p:nvSpPr>
        <p:spPr>
          <a:xfrm>
            <a:off x="469951" y="1746142"/>
            <a:ext cx="3724269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ru-RU" sz="1400" b="1" dirty="0">
                <a:solidFill>
                  <a:schemeClr val="accent1">
                    <a:lumMod val="75000"/>
                  </a:schemeClr>
                </a:solidFill>
              </a:rPr>
              <a:t>Трендовый стек</a:t>
            </a:r>
            <a:r>
              <a:rPr lang="ru-RU" sz="1400" dirty="0">
                <a:solidFill>
                  <a:schemeClr val="accent1">
                    <a:lumMod val="75000"/>
                  </a:schemeClr>
                </a:solidFill>
              </a:rPr>
              <a:t> — полиномиальный базис</a:t>
            </a:r>
            <a:endParaRPr sz="1300" b="1" i="0" dirty="0">
              <a:solidFill>
                <a:schemeClr val="accent1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939419" cy="4370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Архитектура N-BEATS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7095995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1400" b="0" i="1" dirty="0">
                <a:solidFill>
                  <a:srgbClr val="1C7293"/>
                </a:solidFill>
                <a:latin typeface="Calibri"/>
              </a:rPr>
              <a:t>Стек блоков, остаточное обновление входа и базисное разложение прогноза</a:t>
            </a:r>
            <a:endParaRPr sz="1400" b="0" i="1" dirty="0">
              <a:solidFill>
                <a:srgbClr val="1C729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1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2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7164888" cy="2369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1" dirty="0" err="1">
                <a:solidFill>
                  <a:srgbClr val="21295C"/>
                </a:solidFill>
                <a:latin typeface="Calibri"/>
              </a:rPr>
              <a:t>Прогноз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 = 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сумма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вкладов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блоков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. 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Каждый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блок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 «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объясняет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» 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часть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истории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 и 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уточняет</a:t>
            </a:r>
            <a:r>
              <a:rPr sz="13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21295C"/>
                </a:solidFill>
                <a:latin typeface="Calibri"/>
              </a:rPr>
              <a:t>прогноз</a:t>
            </a:r>
            <a:endParaRPr sz="1300" b="0" i="1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7366" y="2069369"/>
            <a:ext cx="1704823" cy="10058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7366" y="2160809"/>
            <a:ext cx="1704823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Block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366" y="2480849"/>
            <a:ext cx="1704823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 dirty="0">
                <a:solidFill>
                  <a:srgbClr val="FFFFFF"/>
                </a:solidFill>
                <a:latin typeface="Consolas"/>
              </a:rPr>
              <a:t>FC + </a:t>
            </a:r>
            <a:r>
              <a:rPr sz="1000" b="0" i="0" dirty="0" err="1">
                <a:solidFill>
                  <a:srgbClr val="FFFFFF"/>
                </a:solidFill>
                <a:latin typeface="Consolas"/>
              </a:rPr>
              <a:t>ReLU</a:t>
            </a:r>
            <a:r>
              <a:rPr sz="1000" b="0" i="0" dirty="0">
                <a:solidFill>
                  <a:srgbClr val="FFFFFF"/>
                </a:solidFill>
                <a:latin typeface="Consolas"/>
              </a:rPr>
              <a:t> ×4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69706" y="2735152"/>
                <a:ext cx="1704823" cy="190821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00" b="0" i="1" smtClean="0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00" b="0" i="1" smtClean="0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1000" b="0" i="1" smtClean="0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𝑏𝑎𝑐𝑘𝑐𝑎𝑠𝑡</m:t>
                      </m:r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sz="1000" i="1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00" i="1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00" b="0" i="1" smtClean="0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000" i="1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00" i="1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𝑓𝑜𝑟𝑒</m:t>
                      </m:r>
                      <m:r>
                        <a:rPr lang="en-US" sz="1000" i="1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𝑐𝑎𝑠𝑡</m:t>
                      </m:r>
                    </m:oMath>
                  </m:oMathPara>
                </a14:m>
                <a:endParaRPr sz="1000" b="0" i="0" dirty="0">
                  <a:solidFill>
                    <a:srgbClr val="CADCF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706" y="2735152"/>
                <a:ext cx="1704823" cy="190821"/>
              </a:xfrm>
              <a:prstGeom prst="rect">
                <a:avLst/>
              </a:prstGeom>
              <a:blipFill>
                <a:blip r:embed="rId3"/>
                <a:stretch>
                  <a:fillRect l="-357" b="-193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2389413" y="2071580"/>
            <a:ext cx="1704823" cy="10058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89413" y="2163020"/>
            <a:ext cx="1704823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Block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9413" y="2483060"/>
            <a:ext cx="1704823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onsolas"/>
              </a:rPr>
              <a:t>FC + ReLU ×4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951" y="4457550"/>
            <a:ext cx="207848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 dirty="0" err="1">
                <a:solidFill>
                  <a:srgbClr val="E76F51"/>
                </a:solidFill>
                <a:latin typeface="Calibri"/>
              </a:rPr>
              <a:t>Реализация</a:t>
            </a:r>
            <a:r>
              <a:rPr sz="1400" b="1" i="0" dirty="0">
                <a:solidFill>
                  <a:srgbClr val="E76F51"/>
                </a:solidFill>
                <a:latin typeface="Calibri"/>
              </a:rPr>
              <a:t> (NBEATSV2)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30963" y="4853797"/>
            <a:ext cx="3308873" cy="51296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200" dirty="0" err="1">
                <a:solidFill>
                  <a:srgbClr val="21295C"/>
                </a:solidFill>
                <a:latin typeface="Calibri"/>
              </a:rPr>
              <a:t>автовыбор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числа гармоник Фурье</a:t>
            </a:r>
            <a:endParaRPr sz="1200" dirty="0">
              <a:solidFill>
                <a:srgbClr val="21295C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200" dirty="0">
                <a:solidFill>
                  <a:schemeClr val="accent1">
                    <a:lumMod val="50000"/>
                  </a:schemeClr>
                </a:solidFill>
              </a:rPr>
              <a:t>стабилизация первого шага прогноза</a:t>
            </a:r>
            <a:endParaRPr sz="1200" dirty="0">
              <a:solidFill>
                <a:schemeClr val="accent1">
                  <a:lumMod val="50000"/>
                </a:schemeClr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071A3CC-CE60-40A6-8BCB-1F7424CA532A}"/>
                  </a:ext>
                </a:extLst>
              </p:cNvPr>
              <p:cNvSpPr txBox="1"/>
              <p:nvPr/>
            </p:nvSpPr>
            <p:spPr>
              <a:xfrm>
                <a:off x="2425114" y="2728631"/>
                <a:ext cx="1704823" cy="190821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00" b="0" i="1" smtClean="0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00" b="0" i="1" smtClean="0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1000" b="0" i="1" smtClean="0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𝑏𝑎𝑐𝑘𝑐𝑎𝑠𝑡</m:t>
                      </m:r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sz="1000" i="1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00" i="1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00" b="0" i="1" smtClean="0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000" i="1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00" i="1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𝑓𝑜𝑟𝑒</m:t>
                      </m:r>
                      <m:r>
                        <a:rPr lang="en-US" sz="1000" i="1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𝑐𝑎𝑠𝑡</m:t>
                      </m:r>
                    </m:oMath>
                  </m:oMathPara>
                </a14:m>
                <a:endParaRPr sz="1000" b="0" i="0" dirty="0">
                  <a:solidFill>
                    <a:srgbClr val="CADCF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071A3CC-CE60-40A6-8BCB-1F7424CA5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114" y="2728631"/>
                <a:ext cx="1704823" cy="190821"/>
              </a:xfrm>
              <a:prstGeom prst="rect">
                <a:avLst/>
              </a:prstGeom>
              <a:blipFill>
                <a:blip r:embed="rId4"/>
                <a:stretch>
                  <a:fillRect l="-717" b="-193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ight Arrow 9">
            <a:extLst>
              <a:ext uri="{FF2B5EF4-FFF2-40B4-BE49-F238E27FC236}">
                <a16:creationId xmlns:a16="http://schemas.microsoft.com/office/drawing/2014/main" id="{5E0C4AB6-9769-48F4-AD4B-5A8D06FE2CF5}"/>
              </a:ext>
            </a:extLst>
          </p:cNvPr>
          <p:cNvSpPr/>
          <p:nvPr/>
        </p:nvSpPr>
        <p:spPr>
          <a:xfrm>
            <a:off x="2274529" y="2443093"/>
            <a:ext cx="82544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ight Arrow 9">
            <a:extLst>
              <a:ext uri="{FF2B5EF4-FFF2-40B4-BE49-F238E27FC236}">
                <a16:creationId xmlns:a16="http://schemas.microsoft.com/office/drawing/2014/main" id="{3881C583-4255-4AC7-A16A-F79386C2E78F}"/>
              </a:ext>
            </a:extLst>
          </p:cNvPr>
          <p:cNvSpPr/>
          <p:nvPr/>
        </p:nvSpPr>
        <p:spPr>
          <a:xfrm>
            <a:off x="4129937" y="2451771"/>
            <a:ext cx="91439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9">
            <a:extLst>
              <a:ext uri="{FF2B5EF4-FFF2-40B4-BE49-F238E27FC236}">
                <a16:creationId xmlns:a16="http://schemas.microsoft.com/office/drawing/2014/main" id="{3867AFF3-B78C-4CFA-8828-DF74EE228159}"/>
              </a:ext>
            </a:extLst>
          </p:cNvPr>
          <p:cNvSpPr/>
          <p:nvPr/>
        </p:nvSpPr>
        <p:spPr>
          <a:xfrm>
            <a:off x="4229921" y="1659785"/>
            <a:ext cx="3669901" cy="1497531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10">
            <a:extLst>
              <a:ext uri="{FF2B5EF4-FFF2-40B4-BE49-F238E27FC236}">
                <a16:creationId xmlns:a16="http://schemas.microsoft.com/office/drawing/2014/main" id="{AB9D35AE-61BC-4C40-8D3A-F4D6F8793906}"/>
              </a:ext>
            </a:extLst>
          </p:cNvPr>
          <p:cNvSpPr/>
          <p:nvPr/>
        </p:nvSpPr>
        <p:spPr>
          <a:xfrm>
            <a:off x="4229921" y="1659785"/>
            <a:ext cx="3669901" cy="86457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4CA6006-F290-43EF-AF15-0012E6D870CF}"/>
              </a:ext>
            </a:extLst>
          </p:cNvPr>
          <p:cNvSpPr txBox="1"/>
          <p:nvPr/>
        </p:nvSpPr>
        <p:spPr>
          <a:xfrm>
            <a:off x="4229921" y="1751226"/>
            <a:ext cx="3724269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ru-RU" sz="1400" b="1">
                <a:solidFill>
                  <a:schemeClr val="accent1">
                    <a:lumMod val="75000"/>
                  </a:schemeClr>
                </a:solidFill>
              </a:rPr>
              <a:t>Сезонный</a:t>
            </a:r>
            <a:r>
              <a:rPr lang="ru-RU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ru-RU" sz="1400" b="1">
                <a:solidFill>
                  <a:schemeClr val="accent1">
                    <a:lumMod val="75000"/>
                  </a:schemeClr>
                </a:solidFill>
              </a:rPr>
              <a:t>стек </a:t>
            </a:r>
            <a:r>
              <a:rPr lang="ru-RU" sz="1400" dirty="0">
                <a:solidFill>
                  <a:schemeClr val="accent1">
                    <a:lumMod val="75000"/>
                  </a:schemeClr>
                </a:solidFill>
              </a:rPr>
              <a:t>— базис Фурье</a:t>
            </a:r>
            <a:endParaRPr lang="ru-RU" sz="1300" b="1" i="0" dirty="0">
              <a:solidFill>
                <a:schemeClr val="accent1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50" name="Rectangle 7">
            <a:extLst>
              <a:ext uri="{FF2B5EF4-FFF2-40B4-BE49-F238E27FC236}">
                <a16:creationId xmlns:a16="http://schemas.microsoft.com/office/drawing/2014/main" id="{D8863822-B1C6-435B-AB2C-DC7D248E9975}"/>
              </a:ext>
            </a:extLst>
          </p:cNvPr>
          <p:cNvSpPr/>
          <p:nvPr/>
        </p:nvSpPr>
        <p:spPr>
          <a:xfrm>
            <a:off x="4282121" y="2067158"/>
            <a:ext cx="1704823" cy="10058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FC71577-E557-4446-B47C-4D97E4E6680F}"/>
              </a:ext>
            </a:extLst>
          </p:cNvPr>
          <p:cNvSpPr txBox="1"/>
          <p:nvPr/>
        </p:nvSpPr>
        <p:spPr>
          <a:xfrm>
            <a:off x="4282121" y="2158598"/>
            <a:ext cx="1704823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Block </a:t>
            </a:r>
            <a:r>
              <a:rPr lang="ru-RU" sz="1200" b="1" dirty="0">
                <a:solidFill>
                  <a:srgbClr val="FFFFFF"/>
                </a:solidFill>
                <a:latin typeface="Calibri"/>
              </a:rPr>
              <a:t>3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1CB4E7D-8CF8-4746-87CB-358D700B5AAF}"/>
              </a:ext>
            </a:extLst>
          </p:cNvPr>
          <p:cNvSpPr txBox="1"/>
          <p:nvPr/>
        </p:nvSpPr>
        <p:spPr>
          <a:xfrm>
            <a:off x="4282121" y="2478638"/>
            <a:ext cx="1704823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 dirty="0">
                <a:solidFill>
                  <a:srgbClr val="FFFFFF"/>
                </a:solidFill>
                <a:latin typeface="Consolas"/>
              </a:rPr>
              <a:t>FC + </a:t>
            </a:r>
            <a:r>
              <a:rPr sz="1000" b="0" i="0" dirty="0" err="1">
                <a:solidFill>
                  <a:srgbClr val="FFFFFF"/>
                </a:solidFill>
                <a:latin typeface="Consolas"/>
              </a:rPr>
              <a:t>ReLU</a:t>
            </a:r>
            <a:r>
              <a:rPr sz="1000" b="0" i="0" dirty="0">
                <a:solidFill>
                  <a:srgbClr val="FFFFFF"/>
                </a:solidFill>
                <a:latin typeface="Consolas"/>
              </a:rPr>
              <a:t> ×4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0B3DF86-75D0-4648-9F14-DC1808A70A6C}"/>
                  </a:ext>
                </a:extLst>
              </p:cNvPr>
              <p:cNvSpPr txBox="1"/>
              <p:nvPr/>
            </p:nvSpPr>
            <p:spPr>
              <a:xfrm>
                <a:off x="4314461" y="2732941"/>
                <a:ext cx="1704823" cy="190821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00" b="0" i="1" smtClean="0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00" b="0" i="1" smtClean="0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1000" b="0" i="1" smtClean="0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𝑏𝑎𝑐𝑘𝑐𝑎𝑠𝑡</m:t>
                      </m:r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sz="1000" i="1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00" i="1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00" b="0" i="1" smtClean="0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000" i="1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00" i="1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𝑓𝑜𝑟𝑒</m:t>
                      </m:r>
                      <m:r>
                        <a:rPr lang="en-US" sz="1000" i="1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𝑐𝑎𝑠𝑡</m:t>
                      </m:r>
                    </m:oMath>
                  </m:oMathPara>
                </a14:m>
                <a:endParaRPr sz="1000" b="0" i="0" dirty="0">
                  <a:solidFill>
                    <a:srgbClr val="CADCF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0B3DF86-75D0-4648-9F14-DC1808A70A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461" y="2732941"/>
                <a:ext cx="1704823" cy="190821"/>
              </a:xfrm>
              <a:prstGeom prst="rect">
                <a:avLst/>
              </a:prstGeom>
              <a:blipFill>
                <a:blip r:embed="rId4"/>
                <a:stretch>
                  <a:fillRect l="-717" b="-156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11">
            <a:extLst>
              <a:ext uri="{FF2B5EF4-FFF2-40B4-BE49-F238E27FC236}">
                <a16:creationId xmlns:a16="http://schemas.microsoft.com/office/drawing/2014/main" id="{6949B59D-67D9-406B-9C96-296440A21CFD}"/>
              </a:ext>
            </a:extLst>
          </p:cNvPr>
          <p:cNvSpPr/>
          <p:nvPr/>
        </p:nvSpPr>
        <p:spPr>
          <a:xfrm>
            <a:off x="6134168" y="2069369"/>
            <a:ext cx="1704823" cy="1005840"/>
          </a:xfrm>
          <a:prstGeom prst="rect">
            <a:avLst/>
          </a:prstGeom>
          <a:solidFill>
            <a:srgbClr val="EC8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84C845C-FA6A-4DDA-916C-F05F3C0A01C5}"/>
              </a:ext>
            </a:extLst>
          </p:cNvPr>
          <p:cNvSpPr txBox="1"/>
          <p:nvPr/>
        </p:nvSpPr>
        <p:spPr>
          <a:xfrm>
            <a:off x="6134168" y="2160809"/>
            <a:ext cx="1704823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Block </a:t>
            </a:r>
            <a:r>
              <a:rPr lang="ru-RU" sz="1200" b="1" i="0" dirty="0">
                <a:solidFill>
                  <a:srgbClr val="FFFFFF"/>
                </a:solidFill>
                <a:latin typeface="Calibri"/>
              </a:rPr>
              <a:t>4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499598E-651A-4248-89F9-1A35C3CAAF89}"/>
              </a:ext>
            </a:extLst>
          </p:cNvPr>
          <p:cNvSpPr txBox="1"/>
          <p:nvPr/>
        </p:nvSpPr>
        <p:spPr>
          <a:xfrm>
            <a:off x="6134168" y="2480849"/>
            <a:ext cx="1704823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onsolas"/>
              </a:rPr>
              <a:t>FC + ReLU ×4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5BDF6E1-C8D4-4478-8FAE-2C493B1DBFFD}"/>
                  </a:ext>
                </a:extLst>
              </p:cNvPr>
              <p:cNvSpPr txBox="1"/>
              <p:nvPr/>
            </p:nvSpPr>
            <p:spPr>
              <a:xfrm>
                <a:off x="6169869" y="2726420"/>
                <a:ext cx="1704823" cy="190821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00" b="0" i="1" smtClean="0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00" b="0" i="1" smtClean="0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1000" b="0" i="1" smtClean="0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𝑏𝑎𝑐𝑘𝑐𝑎𝑠𝑡</m:t>
                      </m:r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sz="1000" i="1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00" i="1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00" b="0" i="1" smtClean="0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000" i="1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00" i="1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𝑓𝑜𝑟𝑒</m:t>
                      </m:r>
                      <m:r>
                        <a:rPr lang="en-US" sz="1000" i="1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𝑐𝑎𝑠𝑡</m:t>
                      </m:r>
                    </m:oMath>
                  </m:oMathPara>
                </a14:m>
                <a:endParaRPr sz="1000" b="0" i="0" dirty="0">
                  <a:solidFill>
                    <a:srgbClr val="CADCF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5BDF6E1-C8D4-4478-8FAE-2C493B1DB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9869" y="2726420"/>
                <a:ext cx="1704823" cy="190821"/>
              </a:xfrm>
              <a:prstGeom prst="rect">
                <a:avLst/>
              </a:prstGeom>
              <a:blipFill>
                <a:blip r:embed="rId5"/>
                <a:stretch>
                  <a:fillRect l="-714" b="-156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ight Arrow 9">
            <a:extLst>
              <a:ext uri="{FF2B5EF4-FFF2-40B4-BE49-F238E27FC236}">
                <a16:creationId xmlns:a16="http://schemas.microsoft.com/office/drawing/2014/main" id="{F06C6B1C-1618-4ADB-8F40-E25236311A60}"/>
              </a:ext>
            </a:extLst>
          </p:cNvPr>
          <p:cNvSpPr/>
          <p:nvPr/>
        </p:nvSpPr>
        <p:spPr>
          <a:xfrm>
            <a:off x="6019284" y="2440882"/>
            <a:ext cx="82544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ight Arrow 9">
            <a:extLst>
              <a:ext uri="{FF2B5EF4-FFF2-40B4-BE49-F238E27FC236}">
                <a16:creationId xmlns:a16="http://schemas.microsoft.com/office/drawing/2014/main" id="{AAB00120-5F9B-46C7-BB19-2D879C2FE7A3}"/>
              </a:ext>
            </a:extLst>
          </p:cNvPr>
          <p:cNvSpPr/>
          <p:nvPr/>
        </p:nvSpPr>
        <p:spPr>
          <a:xfrm>
            <a:off x="7874692" y="2438147"/>
            <a:ext cx="91439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9">
            <a:extLst>
              <a:ext uri="{FF2B5EF4-FFF2-40B4-BE49-F238E27FC236}">
                <a16:creationId xmlns:a16="http://schemas.microsoft.com/office/drawing/2014/main" id="{38DB494C-8A3C-4881-80B9-A122EC754AC1}"/>
              </a:ext>
            </a:extLst>
          </p:cNvPr>
          <p:cNvSpPr/>
          <p:nvPr/>
        </p:nvSpPr>
        <p:spPr>
          <a:xfrm>
            <a:off x="8001430" y="1659785"/>
            <a:ext cx="3669901" cy="1497531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10">
            <a:extLst>
              <a:ext uri="{FF2B5EF4-FFF2-40B4-BE49-F238E27FC236}">
                <a16:creationId xmlns:a16="http://schemas.microsoft.com/office/drawing/2014/main" id="{D430A9E0-BB6E-43E5-A6BD-20EC74C85B80}"/>
              </a:ext>
            </a:extLst>
          </p:cNvPr>
          <p:cNvSpPr/>
          <p:nvPr/>
        </p:nvSpPr>
        <p:spPr>
          <a:xfrm>
            <a:off x="8001430" y="1659785"/>
            <a:ext cx="3669901" cy="8645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A6940F8-C6E6-4106-8801-230C6087C45B}"/>
              </a:ext>
            </a:extLst>
          </p:cNvPr>
          <p:cNvSpPr txBox="1"/>
          <p:nvPr/>
        </p:nvSpPr>
        <p:spPr>
          <a:xfrm>
            <a:off x="8001430" y="1751226"/>
            <a:ext cx="3724269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Generic-</a:t>
            </a:r>
            <a:r>
              <a:rPr lang="ru-RU" sz="1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стек</a:t>
            </a:r>
            <a:r>
              <a:rPr lang="ru-RU" sz="1400" dirty="0">
                <a:solidFill>
                  <a:schemeClr val="accent1">
                    <a:lumMod val="75000"/>
                  </a:schemeClr>
                </a:solidFill>
              </a:rPr>
              <a:t>— </a:t>
            </a:r>
            <a:r>
              <a:rPr lang="ru-RU" sz="1400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обучаемый базис</a:t>
            </a:r>
          </a:p>
        </p:txBody>
      </p:sp>
      <p:sp>
        <p:nvSpPr>
          <p:cNvPr id="63" name="Rectangle 7">
            <a:extLst>
              <a:ext uri="{FF2B5EF4-FFF2-40B4-BE49-F238E27FC236}">
                <a16:creationId xmlns:a16="http://schemas.microsoft.com/office/drawing/2014/main" id="{2D3B8978-E152-4709-8DE9-E23611B610AE}"/>
              </a:ext>
            </a:extLst>
          </p:cNvPr>
          <p:cNvSpPr/>
          <p:nvPr/>
        </p:nvSpPr>
        <p:spPr>
          <a:xfrm>
            <a:off x="8065424" y="2075375"/>
            <a:ext cx="1704823" cy="100584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4DA939F-A8CC-48B6-B329-3E04F6B04B59}"/>
              </a:ext>
            </a:extLst>
          </p:cNvPr>
          <p:cNvSpPr txBox="1"/>
          <p:nvPr/>
        </p:nvSpPr>
        <p:spPr>
          <a:xfrm>
            <a:off x="8065424" y="2166815"/>
            <a:ext cx="1704823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Block </a:t>
            </a:r>
            <a:r>
              <a:rPr lang="ru-RU" sz="1200" b="1" i="0" dirty="0">
                <a:solidFill>
                  <a:srgbClr val="FFFFFF"/>
                </a:solidFill>
                <a:latin typeface="Calibri"/>
              </a:rPr>
              <a:t>5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4697323-7642-4023-8EDC-A3E2B163066B}"/>
              </a:ext>
            </a:extLst>
          </p:cNvPr>
          <p:cNvSpPr txBox="1"/>
          <p:nvPr/>
        </p:nvSpPr>
        <p:spPr>
          <a:xfrm>
            <a:off x="8065424" y="2486855"/>
            <a:ext cx="1704823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 dirty="0">
                <a:solidFill>
                  <a:srgbClr val="FFFFFF"/>
                </a:solidFill>
                <a:latin typeface="Consolas"/>
              </a:rPr>
              <a:t>FC + </a:t>
            </a:r>
            <a:r>
              <a:rPr sz="1000" b="0" i="0" dirty="0" err="1">
                <a:solidFill>
                  <a:srgbClr val="FFFFFF"/>
                </a:solidFill>
                <a:latin typeface="Consolas"/>
              </a:rPr>
              <a:t>ReLU</a:t>
            </a:r>
            <a:r>
              <a:rPr sz="1000" b="0" i="0" dirty="0">
                <a:solidFill>
                  <a:srgbClr val="FFFFFF"/>
                </a:solidFill>
                <a:latin typeface="Consolas"/>
              </a:rPr>
              <a:t> ×4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18DA8968-4C86-42AB-A6EA-26E24642A106}"/>
                  </a:ext>
                </a:extLst>
              </p:cNvPr>
              <p:cNvSpPr txBox="1"/>
              <p:nvPr/>
            </p:nvSpPr>
            <p:spPr>
              <a:xfrm>
                <a:off x="8097764" y="2741158"/>
                <a:ext cx="1704823" cy="190821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00" b="0" i="1" smtClean="0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00" b="0" i="1" smtClean="0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1000" b="0" i="1" smtClean="0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𝑏𝑎𝑐𝑘𝑐𝑎𝑠𝑡</m:t>
                      </m:r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sz="1000" i="1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00" i="1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00" b="0" i="1" smtClean="0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000" i="1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00" i="1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𝑓𝑜𝑟𝑒</m:t>
                      </m:r>
                      <m:r>
                        <a:rPr lang="en-US" sz="1000" i="1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𝑐𝑎𝑠𝑡</m:t>
                      </m:r>
                    </m:oMath>
                  </m:oMathPara>
                </a14:m>
                <a:endParaRPr sz="1000" b="0" i="0" dirty="0">
                  <a:solidFill>
                    <a:srgbClr val="CADCF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18DA8968-4C86-42AB-A6EA-26E24642A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7764" y="2741158"/>
                <a:ext cx="1704823" cy="190821"/>
              </a:xfrm>
              <a:prstGeom prst="rect">
                <a:avLst/>
              </a:prstGeom>
              <a:blipFill>
                <a:blip r:embed="rId3"/>
                <a:stretch>
                  <a:fillRect l="-357" b="-193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Rectangle 11">
            <a:extLst>
              <a:ext uri="{FF2B5EF4-FFF2-40B4-BE49-F238E27FC236}">
                <a16:creationId xmlns:a16="http://schemas.microsoft.com/office/drawing/2014/main" id="{907558B1-9904-4C4D-8AFE-1706D3CBC733}"/>
              </a:ext>
            </a:extLst>
          </p:cNvPr>
          <p:cNvSpPr/>
          <p:nvPr/>
        </p:nvSpPr>
        <p:spPr>
          <a:xfrm>
            <a:off x="9917471" y="2077586"/>
            <a:ext cx="1704823" cy="100584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580C223-E6AD-408A-8E6A-C94018609D68}"/>
              </a:ext>
            </a:extLst>
          </p:cNvPr>
          <p:cNvSpPr txBox="1"/>
          <p:nvPr/>
        </p:nvSpPr>
        <p:spPr>
          <a:xfrm>
            <a:off x="9917471" y="2169026"/>
            <a:ext cx="1704823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Block </a:t>
            </a:r>
            <a:r>
              <a:rPr lang="ru-RU" sz="1200" b="1" i="0" dirty="0">
                <a:solidFill>
                  <a:srgbClr val="FFFFFF"/>
                </a:solidFill>
                <a:latin typeface="Calibri"/>
              </a:rPr>
              <a:t>6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1480157-8FAE-46A0-A4E2-E789ED47C342}"/>
              </a:ext>
            </a:extLst>
          </p:cNvPr>
          <p:cNvSpPr txBox="1"/>
          <p:nvPr/>
        </p:nvSpPr>
        <p:spPr>
          <a:xfrm>
            <a:off x="9917471" y="2489066"/>
            <a:ext cx="1704823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onsolas"/>
              </a:rPr>
              <a:t>FC + ReLU ×4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28EC5DC6-202F-4F24-A57F-210C15E9DB40}"/>
                  </a:ext>
                </a:extLst>
              </p:cNvPr>
              <p:cNvSpPr txBox="1"/>
              <p:nvPr/>
            </p:nvSpPr>
            <p:spPr>
              <a:xfrm>
                <a:off x="9953172" y="2734637"/>
                <a:ext cx="1704823" cy="190821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00" b="0" i="1" smtClean="0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00" b="0" i="1" smtClean="0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1000" b="0" i="1" smtClean="0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𝑏𝑎𝑐𝑘𝑐𝑎𝑠𝑡</m:t>
                      </m:r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sz="1000" i="1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00" i="1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00" b="0" i="1" smtClean="0">
                                  <a:solidFill>
                                    <a:srgbClr val="CADCFC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000" i="1">
                              <a:solidFill>
                                <a:srgbClr val="CADCFC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00" i="1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𝑓𝑜𝑟𝑒</m:t>
                      </m:r>
                      <m:r>
                        <a:rPr lang="en-US" sz="1000" i="1">
                          <a:solidFill>
                            <a:srgbClr val="CADCFC"/>
                          </a:solidFill>
                          <a:latin typeface="Cambria Math" panose="02040503050406030204" pitchFamily="18" charset="0"/>
                        </a:rPr>
                        <m:t>𝑐𝑎𝑠𝑡</m:t>
                      </m:r>
                    </m:oMath>
                  </m:oMathPara>
                </a14:m>
                <a:endParaRPr sz="1000" b="0" i="0" dirty="0">
                  <a:solidFill>
                    <a:srgbClr val="CADCFC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28EC5DC6-202F-4F24-A57F-210C15E9D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3172" y="2734637"/>
                <a:ext cx="1704823" cy="190821"/>
              </a:xfrm>
              <a:prstGeom prst="rect">
                <a:avLst/>
              </a:prstGeom>
              <a:blipFill>
                <a:blip r:embed="rId4"/>
                <a:stretch>
                  <a:fillRect l="-717" b="-193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Right Arrow 9">
            <a:extLst>
              <a:ext uri="{FF2B5EF4-FFF2-40B4-BE49-F238E27FC236}">
                <a16:creationId xmlns:a16="http://schemas.microsoft.com/office/drawing/2014/main" id="{AE9B22EA-819F-4AF3-B7AF-5AE99F177E8E}"/>
              </a:ext>
            </a:extLst>
          </p:cNvPr>
          <p:cNvSpPr/>
          <p:nvPr/>
        </p:nvSpPr>
        <p:spPr>
          <a:xfrm>
            <a:off x="9802587" y="2449099"/>
            <a:ext cx="82544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21">
            <a:extLst>
              <a:ext uri="{FF2B5EF4-FFF2-40B4-BE49-F238E27FC236}">
                <a16:creationId xmlns:a16="http://schemas.microsoft.com/office/drawing/2014/main" id="{D17A0170-2F88-4E69-AB4B-54FDC446532E}"/>
              </a:ext>
            </a:extLst>
          </p:cNvPr>
          <p:cNvSpPr/>
          <p:nvPr/>
        </p:nvSpPr>
        <p:spPr>
          <a:xfrm>
            <a:off x="469951" y="3419504"/>
            <a:ext cx="6444416" cy="7154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0941716-6F6E-4E54-9462-4E6A94E387A9}"/>
              </a:ext>
            </a:extLst>
          </p:cNvPr>
          <p:cNvSpPr txBox="1"/>
          <p:nvPr/>
        </p:nvSpPr>
        <p:spPr>
          <a:xfrm>
            <a:off x="652831" y="3510943"/>
            <a:ext cx="1490598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1200" b="1" dirty="0">
                <a:solidFill>
                  <a:srgbClr val="21295C"/>
                </a:solidFill>
                <a:latin typeface="Calibri"/>
              </a:rPr>
              <a:t>Ключевая формула</a:t>
            </a:r>
            <a:r>
              <a:rPr sz="1200" b="1" i="0" dirty="0">
                <a:solidFill>
                  <a:srgbClr val="21295C"/>
                </a:solidFill>
                <a:latin typeface="Calibri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839A7EB-7389-412D-BC7D-59839BF817DB}"/>
                  </a:ext>
                </a:extLst>
              </p:cNvPr>
              <p:cNvSpPr txBox="1"/>
              <p:nvPr/>
            </p:nvSpPr>
            <p:spPr>
              <a:xfrm>
                <a:off x="1987480" y="3492879"/>
                <a:ext cx="2442883" cy="221599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200" b="0" i="1" dirty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 dirty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acc>
                        <m:accPr>
                          <m:chr m:val="̂"/>
                          <m:ctrlPr>
                            <a:rPr lang="en-US" sz="12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2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1200" b="0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200" i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𝛴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1200" i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200" i="1" dirty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 dirty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200" i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1200" b="0" i="1" dirty="0">
                  <a:solidFill>
                    <a:srgbClr val="065A82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839A7EB-7389-412D-BC7D-59839BF81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7480" y="3492879"/>
                <a:ext cx="2442883" cy="221599"/>
              </a:xfrm>
              <a:prstGeom prst="rect">
                <a:avLst/>
              </a:prstGeom>
              <a:blipFill>
                <a:blip r:embed="rId6"/>
                <a:stretch>
                  <a:fillRect t="-11111" b="-138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E408B836-AA72-4256-9E85-E3B3D814A4E1}"/>
              </a:ext>
            </a:extLst>
          </p:cNvPr>
          <p:cNvSpPr txBox="1"/>
          <p:nvPr/>
        </p:nvSpPr>
        <p:spPr>
          <a:xfrm>
            <a:off x="652833" y="3754433"/>
            <a:ext cx="6374268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1000" i="1" dirty="0" err="1">
                <a:solidFill>
                  <a:schemeClr val="accent1">
                    <a:lumMod val="75000"/>
                  </a:schemeClr>
                </a:solidFill>
              </a:rPr>
              <a:t>backcast</a:t>
            </a:r>
            <a:r>
              <a:rPr lang="ru-RU" sz="1000" i="1" dirty="0">
                <a:solidFill>
                  <a:schemeClr val="accent1">
                    <a:lumMod val="75000"/>
                  </a:schemeClr>
                </a:solidFill>
              </a:rPr>
              <a:t> вычитается из входа (блок работает с той частью ряда, которую предыдущие блоки не объяснили)</a:t>
            </a:r>
            <a:r>
              <a:rPr lang="en-US" sz="1000" i="1" dirty="0">
                <a:solidFill>
                  <a:schemeClr val="accent1">
                    <a:lumMod val="75000"/>
                  </a:schemeClr>
                </a:solidFill>
              </a:rPr>
              <a:t>;</a:t>
            </a:r>
            <a:endParaRPr lang="ru-RU" sz="1000" i="1" dirty="0">
              <a:solidFill>
                <a:schemeClr val="accent1">
                  <a:lumMod val="75000"/>
                </a:schemeClr>
              </a:solidFill>
            </a:endParaRPr>
          </a:p>
          <a:p>
            <a:pPr algn="l"/>
            <a:r>
              <a:rPr lang="ru-RU" sz="1000" i="1" dirty="0" err="1">
                <a:solidFill>
                  <a:schemeClr val="accent1">
                    <a:lumMod val="75000"/>
                  </a:schemeClr>
                </a:solidFill>
              </a:rPr>
              <a:t>forecast</a:t>
            </a:r>
            <a:r>
              <a:rPr lang="ru-RU" sz="1000" i="1" dirty="0">
                <a:solidFill>
                  <a:schemeClr val="accent1">
                    <a:lumMod val="75000"/>
                  </a:schemeClr>
                </a:solidFill>
              </a:rPr>
              <a:t> суммируется в итоговый прогноз</a:t>
            </a:r>
            <a:r>
              <a:rPr lang="en-US" sz="1000" i="1" dirty="0">
                <a:solidFill>
                  <a:schemeClr val="accent1">
                    <a:lumMod val="75000"/>
                  </a:schemeClr>
                </a:solidFill>
              </a:rPr>
              <a:t>;</a:t>
            </a:r>
            <a:endParaRPr lang="ru-RU" sz="1000" i="1" dirty="0">
              <a:solidFill>
                <a:schemeClr val="accent1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77" name="Rectangle 12">
            <a:extLst>
              <a:ext uri="{FF2B5EF4-FFF2-40B4-BE49-F238E27FC236}">
                <a16:creationId xmlns:a16="http://schemas.microsoft.com/office/drawing/2014/main" id="{669C53E6-D081-4347-A598-070953EF6B88}"/>
              </a:ext>
            </a:extLst>
          </p:cNvPr>
          <p:cNvSpPr/>
          <p:nvPr/>
        </p:nvSpPr>
        <p:spPr>
          <a:xfrm>
            <a:off x="457200" y="5873708"/>
            <a:ext cx="11247120" cy="527091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443CA6D-CB9E-4642-B74E-022A46CE938C}"/>
              </a:ext>
            </a:extLst>
          </p:cNvPr>
          <p:cNvSpPr txBox="1"/>
          <p:nvPr/>
        </p:nvSpPr>
        <p:spPr>
          <a:xfrm>
            <a:off x="537366" y="5947484"/>
            <a:ext cx="10972800" cy="37548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1100" b="0" i="1" dirty="0">
                <a:solidFill>
                  <a:srgbClr val="6B7280"/>
                </a:solidFill>
                <a:latin typeface="Calibri"/>
              </a:rPr>
              <a:t>Важно: декомпозиции STL/MODWT и базисы N-BEATS не дублируют, а дополняют друг друга. STL/MODWT заранее разделяют исходный ряд на компоненты, </a:t>
            </a:r>
          </a:p>
          <a:p>
            <a:pPr algn="l"/>
            <a:r>
              <a:rPr lang="ru-RU" sz="1100" b="0" i="1" dirty="0">
                <a:solidFill>
                  <a:srgbClr val="6B7280"/>
                </a:solidFill>
                <a:latin typeface="Calibri"/>
              </a:rPr>
              <a:t>а N-BEATS внутри модели раскладывает прогноз отдельной компоненты на вклад блоков.</a:t>
            </a:r>
            <a:endParaRPr sz="1100" b="0" i="1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02FC14F-139A-4087-9EA6-72BC9E49255E}"/>
              </a:ext>
            </a:extLst>
          </p:cNvPr>
          <p:cNvSpPr txBox="1"/>
          <p:nvPr/>
        </p:nvSpPr>
        <p:spPr>
          <a:xfrm>
            <a:off x="457200" y="4856329"/>
            <a:ext cx="3308873" cy="74892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200" dirty="0">
                <a:solidFill>
                  <a:srgbClr val="21295C"/>
                </a:solidFill>
                <a:latin typeface="Calibri"/>
              </a:rPr>
              <a:t>width=256, depth=4, n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_</a:t>
            </a:r>
            <a:r>
              <a:rPr sz="1200" dirty="0">
                <a:solidFill>
                  <a:srgbClr val="21295C"/>
                </a:solidFill>
                <a:latin typeface="Calibri"/>
              </a:rPr>
              <a:t>blocks=4</a:t>
            </a: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share_weights</a:t>
            </a:r>
            <a:r>
              <a:rPr sz="1200" dirty="0">
                <a:solidFill>
                  <a:srgbClr val="21295C"/>
                </a:solidFill>
                <a:latin typeface="Calibri"/>
              </a:rPr>
              <a:t>=true (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компактнее</a:t>
            </a:r>
            <a:r>
              <a:rPr sz="1200" dirty="0">
                <a:solidFill>
                  <a:srgbClr val="21295C"/>
                </a:solidFill>
                <a:latin typeface="Calibri"/>
              </a:rPr>
              <a:t>)</a:t>
            </a: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степень полинома</a:t>
            </a:r>
            <a:r>
              <a:rPr sz="1200" dirty="0">
                <a:solidFill>
                  <a:srgbClr val="21295C"/>
                </a:solidFill>
                <a:latin typeface="Calibri"/>
              </a:rPr>
              <a:t>: 3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,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если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H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dirty="0">
                <a:solidFill>
                  <a:srgbClr val="21295C"/>
                </a:solidFill>
                <a:latin typeface="Calibri"/>
              </a:rPr>
              <a:t>&lt;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dirty="0">
                <a:solidFill>
                  <a:srgbClr val="21295C"/>
                </a:solidFill>
                <a:latin typeface="Calibri"/>
              </a:rPr>
              <a:t>18,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иначе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3548"/>
            <a:ext cx="7132320" cy="4370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Концепция HybridPlus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6037545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 dirty="0" err="1">
                <a:solidFill>
                  <a:srgbClr val="1C7293"/>
                </a:solidFill>
                <a:latin typeface="Calibri"/>
              </a:rPr>
              <a:t>Раздельное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моделирование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компонент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после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MODWT-</a:t>
            </a:r>
            <a:r>
              <a:rPr lang="ru-RU" sz="1400" i="1" dirty="0">
                <a:solidFill>
                  <a:srgbClr val="1C7293"/>
                </a:solidFill>
                <a:latin typeface="Calibri"/>
              </a:rPr>
              <a:t>(</a:t>
            </a:r>
            <a:r>
              <a:rPr lang="en-US" sz="1400" i="1" dirty="0">
                <a:solidFill>
                  <a:srgbClr val="1C7293"/>
                </a:solidFill>
                <a:latin typeface="Calibri"/>
              </a:rPr>
              <a:t>STL-)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разложения</a:t>
            </a:r>
            <a:endParaRPr sz="1400" b="0" i="1" dirty="0">
              <a:solidFill>
                <a:srgbClr val="1C729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13 / 2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3679" y="2811047"/>
            <a:ext cx="1611505" cy="7315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3679" y="3058313"/>
            <a:ext cx="1611505" cy="2369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 i="0" dirty="0" err="1">
                <a:solidFill>
                  <a:srgbClr val="FFFFFF"/>
                </a:solidFill>
                <a:latin typeface="Calibri"/>
              </a:rPr>
              <a:t>Исходный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ряд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Right Arrow 8"/>
          <p:cNvSpPr/>
          <p:nvPr/>
        </p:nvSpPr>
        <p:spPr>
          <a:xfrm rot="18834465">
            <a:off x="2055928" y="2381131"/>
            <a:ext cx="5486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1730" y="1677802"/>
            <a:ext cx="1503125" cy="7315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1730" y="1909679"/>
            <a:ext cx="1503125" cy="26776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  <a:latin typeface="Calibri"/>
              </a:rPr>
              <a:t>MODWT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84941" y="2015202"/>
            <a:ext cx="417115" cy="45719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 flipH="1">
            <a:off x="4656337" y="1357762"/>
            <a:ext cx="45719" cy="130759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56338" y="1357761"/>
            <a:ext cx="365760" cy="45719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56337" y="2650353"/>
            <a:ext cx="380165" cy="45719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13538" y="1129162"/>
            <a:ext cx="1828800" cy="5486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13538" y="1177265"/>
            <a:ext cx="1828800" cy="4524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Calibri"/>
              </a:rPr>
              <a:t>НЧ: </a:t>
            </a:r>
            <a:r>
              <a:rPr sz="900" b="1" i="0" dirty="0" err="1">
                <a:solidFill>
                  <a:srgbClr val="FFFFFF"/>
                </a:solidFill>
                <a:latin typeface="Calibri"/>
              </a:rPr>
              <a:t>тренд</a:t>
            </a:r>
            <a:r>
              <a:rPr lang="ru-RU" sz="900" b="1" dirty="0">
                <a:solidFill>
                  <a:srgbClr val="FFFFFF"/>
                </a:solidFill>
                <a:latin typeface="Calibri"/>
              </a:rPr>
              <a:t> + </a:t>
            </a:r>
            <a:r>
              <a:rPr lang="ru-RU" sz="900" b="1" dirty="0" err="1">
                <a:solidFill>
                  <a:srgbClr val="FFFFFF"/>
                </a:solidFill>
                <a:latin typeface="Calibri"/>
              </a:rPr>
              <a:t>длиннопериодные</a:t>
            </a:r>
            <a:r>
              <a:rPr lang="ru-RU" sz="900" b="1" dirty="0">
                <a:solidFill>
                  <a:srgbClr val="FFFFFF"/>
                </a:solidFill>
                <a:latin typeface="Calibri"/>
              </a:rPr>
              <a:t>, медленно меняющиеся составляющие</a:t>
            </a:r>
            <a:endParaRPr sz="9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7060709" y="1273540"/>
            <a:ext cx="365760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517909" y="1136380"/>
            <a:ext cx="1828800" cy="5486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17909" y="1136380"/>
            <a:ext cx="18288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TimesNet / N-BEATS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13538" y="2360346"/>
            <a:ext cx="1828800" cy="5486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13538" y="2523866"/>
            <a:ext cx="1828800" cy="22159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ВЧ: детали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041085" y="2504724"/>
            <a:ext cx="365760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98285" y="2367564"/>
            <a:ext cx="1828800" cy="5486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285" y="2367564"/>
            <a:ext cx="18288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ARIMA / ETS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21444" y="2860807"/>
            <a:ext cx="2053646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21444" y="3062353"/>
            <a:ext cx="2053646" cy="2369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Реконструкция прогноза  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7680" y="5349240"/>
            <a:ext cx="5958839" cy="51296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нейросеть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—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 на компонентах со сложной структурой и долгосрочными зависимостями</a:t>
            </a:r>
          </a:p>
          <a:p>
            <a:pPr algn="l">
              <a:spcAft>
                <a:spcPts val="400"/>
              </a:spcAft>
            </a:pPr>
            <a:r>
              <a:rPr lang="ru-RU" sz="12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статистика — на регулярных/высокочастотных компонентах, где важна устойчивость</a:t>
            </a:r>
          </a:p>
        </p:txBody>
      </p:sp>
      <p:sp>
        <p:nvSpPr>
          <p:cNvPr id="53" name="Right Arrow 8">
            <a:extLst>
              <a:ext uri="{FF2B5EF4-FFF2-40B4-BE49-F238E27FC236}">
                <a16:creationId xmlns:a16="http://schemas.microsoft.com/office/drawing/2014/main" id="{F681ABE1-05D7-477C-AECC-A8279AB2E6B7}"/>
              </a:ext>
            </a:extLst>
          </p:cNvPr>
          <p:cNvSpPr/>
          <p:nvPr/>
        </p:nvSpPr>
        <p:spPr>
          <a:xfrm rot="2350989">
            <a:off x="2069286" y="3609427"/>
            <a:ext cx="5486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9">
            <a:extLst>
              <a:ext uri="{FF2B5EF4-FFF2-40B4-BE49-F238E27FC236}">
                <a16:creationId xmlns:a16="http://schemas.microsoft.com/office/drawing/2014/main" id="{31031D30-0008-4B35-8325-7ECC08542509}"/>
              </a:ext>
            </a:extLst>
          </p:cNvPr>
          <p:cNvSpPr/>
          <p:nvPr/>
        </p:nvSpPr>
        <p:spPr>
          <a:xfrm>
            <a:off x="2722106" y="3903259"/>
            <a:ext cx="1503125" cy="7315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6834216-F295-449E-83D8-EC20BDCA0C07}"/>
              </a:ext>
            </a:extLst>
          </p:cNvPr>
          <p:cNvSpPr txBox="1"/>
          <p:nvPr/>
        </p:nvSpPr>
        <p:spPr>
          <a:xfrm>
            <a:off x="2722106" y="4135136"/>
            <a:ext cx="1503125" cy="26776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/>
              </a:rPr>
              <a:t>STL</a:t>
            </a:r>
            <a:endParaRPr sz="15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6" name="Rectangle 11">
            <a:extLst>
              <a:ext uri="{FF2B5EF4-FFF2-40B4-BE49-F238E27FC236}">
                <a16:creationId xmlns:a16="http://schemas.microsoft.com/office/drawing/2014/main" id="{74217C92-726D-4813-8152-71F1B2989777}"/>
              </a:ext>
            </a:extLst>
          </p:cNvPr>
          <p:cNvSpPr/>
          <p:nvPr/>
        </p:nvSpPr>
        <p:spPr>
          <a:xfrm>
            <a:off x="4265317" y="4240659"/>
            <a:ext cx="417115" cy="45719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12">
            <a:extLst>
              <a:ext uri="{FF2B5EF4-FFF2-40B4-BE49-F238E27FC236}">
                <a16:creationId xmlns:a16="http://schemas.microsoft.com/office/drawing/2014/main" id="{079F3B0D-CC58-4509-9042-F74B37C03BC8}"/>
              </a:ext>
            </a:extLst>
          </p:cNvPr>
          <p:cNvSpPr/>
          <p:nvPr/>
        </p:nvSpPr>
        <p:spPr>
          <a:xfrm flipH="1">
            <a:off x="4636713" y="3583219"/>
            <a:ext cx="45719" cy="130759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13">
            <a:extLst>
              <a:ext uri="{FF2B5EF4-FFF2-40B4-BE49-F238E27FC236}">
                <a16:creationId xmlns:a16="http://schemas.microsoft.com/office/drawing/2014/main" id="{5E607CDC-0BE2-4059-86AF-3AE154EE5086}"/>
              </a:ext>
            </a:extLst>
          </p:cNvPr>
          <p:cNvSpPr/>
          <p:nvPr/>
        </p:nvSpPr>
        <p:spPr>
          <a:xfrm>
            <a:off x="4636714" y="3583218"/>
            <a:ext cx="365760" cy="45719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14">
            <a:extLst>
              <a:ext uri="{FF2B5EF4-FFF2-40B4-BE49-F238E27FC236}">
                <a16:creationId xmlns:a16="http://schemas.microsoft.com/office/drawing/2014/main" id="{11C78395-6FE0-4AE5-8A0E-314D0630C4D5}"/>
              </a:ext>
            </a:extLst>
          </p:cNvPr>
          <p:cNvSpPr/>
          <p:nvPr/>
        </p:nvSpPr>
        <p:spPr>
          <a:xfrm>
            <a:off x="4636713" y="4875810"/>
            <a:ext cx="380165" cy="45719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15">
            <a:extLst>
              <a:ext uri="{FF2B5EF4-FFF2-40B4-BE49-F238E27FC236}">
                <a16:creationId xmlns:a16="http://schemas.microsoft.com/office/drawing/2014/main" id="{4F65F38C-E684-4E3E-AC35-E5A599C09B68}"/>
              </a:ext>
            </a:extLst>
          </p:cNvPr>
          <p:cNvSpPr/>
          <p:nvPr/>
        </p:nvSpPr>
        <p:spPr>
          <a:xfrm>
            <a:off x="5093914" y="3354619"/>
            <a:ext cx="1828800" cy="5486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ABE7BE0-C0E4-4745-AB83-65DA60F22CB6}"/>
              </a:ext>
            </a:extLst>
          </p:cNvPr>
          <p:cNvSpPr txBox="1"/>
          <p:nvPr/>
        </p:nvSpPr>
        <p:spPr>
          <a:xfrm>
            <a:off x="5093914" y="3518139"/>
            <a:ext cx="1828800" cy="22159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 dirty="0" err="1">
                <a:solidFill>
                  <a:srgbClr val="FFFFFF"/>
                </a:solidFill>
                <a:latin typeface="Calibri"/>
              </a:rPr>
              <a:t>тренд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2" name="Right Arrow 17">
            <a:extLst>
              <a:ext uri="{FF2B5EF4-FFF2-40B4-BE49-F238E27FC236}">
                <a16:creationId xmlns:a16="http://schemas.microsoft.com/office/drawing/2014/main" id="{B30E87E1-6BAB-48C7-B0C5-442922BD76B2}"/>
              </a:ext>
            </a:extLst>
          </p:cNvPr>
          <p:cNvSpPr/>
          <p:nvPr/>
        </p:nvSpPr>
        <p:spPr>
          <a:xfrm>
            <a:off x="7041085" y="3498997"/>
            <a:ext cx="365760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18">
            <a:extLst>
              <a:ext uri="{FF2B5EF4-FFF2-40B4-BE49-F238E27FC236}">
                <a16:creationId xmlns:a16="http://schemas.microsoft.com/office/drawing/2014/main" id="{E926E4D6-6845-4DB3-AE0F-0B68D27D269E}"/>
              </a:ext>
            </a:extLst>
          </p:cNvPr>
          <p:cNvSpPr/>
          <p:nvPr/>
        </p:nvSpPr>
        <p:spPr>
          <a:xfrm>
            <a:off x="7498285" y="3361837"/>
            <a:ext cx="1828800" cy="5486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278AAD2-ACCB-41D1-91AF-A8F111721A3E}"/>
              </a:ext>
            </a:extLst>
          </p:cNvPr>
          <p:cNvSpPr txBox="1"/>
          <p:nvPr/>
        </p:nvSpPr>
        <p:spPr>
          <a:xfrm>
            <a:off x="7498285" y="3361837"/>
            <a:ext cx="18288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TimesNet / N-BEATS</a:t>
            </a:r>
          </a:p>
        </p:txBody>
      </p:sp>
      <p:sp>
        <p:nvSpPr>
          <p:cNvPr id="65" name="Rectangle 20">
            <a:extLst>
              <a:ext uri="{FF2B5EF4-FFF2-40B4-BE49-F238E27FC236}">
                <a16:creationId xmlns:a16="http://schemas.microsoft.com/office/drawing/2014/main" id="{6F55FE3D-F2A9-47A5-B8A4-F868A355736F}"/>
              </a:ext>
            </a:extLst>
          </p:cNvPr>
          <p:cNvSpPr/>
          <p:nvPr/>
        </p:nvSpPr>
        <p:spPr>
          <a:xfrm>
            <a:off x="5074290" y="4585803"/>
            <a:ext cx="1848424" cy="5486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9328A4F-AD52-4243-A323-FDC42062697E}"/>
              </a:ext>
            </a:extLst>
          </p:cNvPr>
          <p:cNvSpPr txBox="1"/>
          <p:nvPr/>
        </p:nvSpPr>
        <p:spPr>
          <a:xfrm>
            <a:off x="5074290" y="4749323"/>
            <a:ext cx="1848424" cy="22159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ru-RU" sz="1200" b="1" i="0" dirty="0">
                <a:solidFill>
                  <a:srgbClr val="FFFFFF"/>
                </a:solidFill>
                <a:latin typeface="Calibri"/>
              </a:rPr>
              <a:t>остаток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7" name="Right Arrow 22">
            <a:extLst>
              <a:ext uri="{FF2B5EF4-FFF2-40B4-BE49-F238E27FC236}">
                <a16:creationId xmlns:a16="http://schemas.microsoft.com/office/drawing/2014/main" id="{F1F3CE80-89D9-4238-B842-1D9C2C0B7FF0}"/>
              </a:ext>
            </a:extLst>
          </p:cNvPr>
          <p:cNvSpPr/>
          <p:nvPr/>
        </p:nvSpPr>
        <p:spPr>
          <a:xfrm>
            <a:off x="7021461" y="4730181"/>
            <a:ext cx="365760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23">
            <a:extLst>
              <a:ext uri="{FF2B5EF4-FFF2-40B4-BE49-F238E27FC236}">
                <a16:creationId xmlns:a16="http://schemas.microsoft.com/office/drawing/2014/main" id="{F56E8EB9-719E-4751-A4F8-BAB979F990C7}"/>
              </a:ext>
            </a:extLst>
          </p:cNvPr>
          <p:cNvSpPr/>
          <p:nvPr/>
        </p:nvSpPr>
        <p:spPr>
          <a:xfrm>
            <a:off x="7497872" y="4585803"/>
            <a:ext cx="1828800" cy="5486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AB0B9E0-1F69-4CC7-89C5-0A1A2712260D}"/>
              </a:ext>
            </a:extLst>
          </p:cNvPr>
          <p:cNvSpPr txBox="1"/>
          <p:nvPr/>
        </p:nvSpPr>
        <p:spPr>
          <a:xfrm>
            <a:off x="7497872" y="4585803"/>
            <a:ext cx="18288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ARIMA / ETS</a:t>
            </a:r>
          </a:p>
        </p:txBody>
      </p:sp>
      <p:sp>
        <p:nvSpPr>
          <p:cNvPr id="70" name="Rectangle 11">
            <a:extLst>
              <a:ext uri="{FF2B5EF4-FFF2-40B4-BE49-F238E27FC236}">
                <a16:creationId xmlns:a16="http://schemas.microsoft.com/office/drawing/2014/main" id="{A89242D5-4833-41E4-9CBB-B887ED7E00C1}"/>
              </a:ext>
            </a:extLst>
          </p:cNvPr>
          <p:cNvSpPr/>
          <p:nvPr/>
        </p:nvSpPr>
        <p:spPr>
          <a:xfrm>
            <a:off x="4575962" y="4240659"/>
            <a:ext cx="417115" cy="45719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15">
            <a:extLst>
              <a:ext uri="{FF2B5EF4-FFF2-40B4-BE49-F238E27FC236}">
                <a16:creationId xmlns:a16="http://schemas.microsoft.com/office/drawing/2014/main" id="{70BBDC1A-E035-4B26-B7FF-46AB2E3665D8}"/>
              </a:ext>
            </a:extLst>
          </p:cNvPr>
          <p:cNvSpPr/>
          <p:nvPr/>
        </p:nvSpPr>
        <p:spPr>
          <a:xfrm>
            <a:off x="5093501" y="3966602"/>
            <a:ext cx="1828800" cy="5486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705C769-C4AD-4E9B-B95C-FB30C9BE3FA2}"/>
              </a:ext>
            </a:extLst>
          </p:cNvPr>
          <p:cNvSpPr txBox="1"/>
          <p:nvPr/>
        </p:nvSpPr>
        <p:spPr>
          <a:xfrm>
            <a:off x="5093501" y="4130122"/>
            <a:ext cx="1828800" cy="22159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ru-RU" sz="1200" b="1" dirty="0">
                <a:solidFill>
                  <a:srgbClr val="FFFFFF"/>
                </a:solidFill>
                <a:latin typeface="Calibri"/>
              </a:rPr>
              <a:t>сезонность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3" name="Right Arrow 17">
            <a:extLst>
              <a:ext uri="{FF2B5EF4-FFF2-40B4-BE49-F238E27FC236}">
                <a16:creationId xmlns:a16="http://schemas.microsoft.com/office/drawing/2014/main" id="{F9F7A984-4330-4DFF-9223-A4EFB6F80B4D}"/>
              </a:ext>
            </a:extLst>
          </p:cNvPr>
          <p:cNvSpPr/>
          <p:nvPr/>
        </p:nvSpPr>
        <p:spPr>
          <a:xfrm>
            <a:off x="7040672" y="4110980"/>
            <a:ext cx="365760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18">
            <a:extLst>
              <a:ext uri="{FF2B5EF4-FFF2-40B4-BE49-F238E27FC236}">
                <a16:creationId xmlns:a16="http://schemas.microsoft.com/office/drawing/2014/main" id="{276E31C0-D43E-4E4C-A817-2E1F065EAC50}"/>
              </a:ext>
            </a:extLst>
          </p:cNvPr>
          <p:cNvSpPr/>
          <p:nvPr/>
        </p:nvSpPr>
        <p:spPr>
          <a:xfrm>
            <a:off x="7497872" y="3973820"/>
            <a:ext cx="1828800" cy="548640"/>
          </a:xfrm>
          <a:prstGeom prst="rect">
            <a:avLst/>
          </a:prstGeom>
          <a:solidFill>
            <a:srgbClr val="2F9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highlight>
                <a:srgbClr val="000080"/>
              </a:highlight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794F862-3B1A-402C-BEF4-0FD1D90308BE}"/>
              </a:ext>
            </a:extLst>
          </p:cNvPr>
          <p:cNvSpPr txBox="1"/>
          <p:nvPr/>
        </p:nvSpPr>
        <p:spPr>
          <a:xfrm>
            <a:off x="7497872" y="4060397"/>
            <a:ext cx="1828800" cy="37548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 dirty="0" err="1">
                <a:solidFill>
                  <a:srgbClr val="FFFFFF"/>
                </a:solidFill>
                <a:latin typeface="Calibri"/>
              </a:rPr>
              <a:t>TimesNet</a:t>
            </a:r>
            <a:r>
              <a:rPr sz="1100" b="1" i="0" dirty="0">
                <a:solidFill>
                  <a:srgbClr val="FFFFFF"/>
                </a:solidFill>
                <a:latin typeface="Calibri"/>
              </a:rPr>
              <a:t> / N-BEATS</a:t>
            </a:r>
            <a:r>
              <a:rPr lang="ru-RU" sz="1100" b="1" dirty="0">
                <a:solidFill>
                  <a:srgbClr val="FFFFFF"/>
                </a:solidFill>
                <a:latin typeface="Calibri"/>
              </a:rPr>
              <a:t> или </a:t>
            </a:r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ARIMA / ETS</a:t>
            </a:r>
            <a:r>
              <a:rPr lang="ru-RU" sz="1100" b="1" dirty="0">
                <a:solidFill>
                  <a:srgbClr val="FFFFFF"/>
                </a:solidFill>
                <a:latin typeface="Calibri"/>
              </a:rPr>
              <a:t> 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7" name="Rectangle 12">
            <a:extLst>
              <a:ext uri="{FF2B5EF4-FFF2-40B4-BE49-F238E27FC236}">
                <a16:creationId xmlns:a16="http://schemas.microsoft.com/office/drawing/2014/main" id="{61EF8984-DC87-42EE-B1C7-43797AA8C96D}"/>
              </a:ext>
            </a:extLst>
          </p:cNvPr>
          <p:cNvSpPr/>
          <p:nvPr/>
        </p:nvSpPr>
        <p:spPr>
          <a:xfrm flipH="1">
            <a:off x="9747956" y="1354543"/>
            <a:ext cx="45719" cy="130759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13">
            <a:extLst>
              <a:ext uri="{FF2B5EF4-FFF2-40B4-BE49-F238E27FC236}">
                <a16:creationId xmlns:a16="http://schemas.microsoft.com/office/drawing/2014/main" id="{EFF4BEF3-02EF-400B-BA49-91B58956E639}"/>
              </a:ext>
            </a:extLst>
          </p:cNvPr>
          <p:cNvSpPr/>
          <p:nvPr/>
        </p:nvSpPr>
        <p:spPr>
          <a:xfrm>
            <a:off x="9427915" y="1342166"/>
            <a:ext cx="365760" cy="45719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14">
            <a:extLst>
              <a:ext uri="{FF2B5EF4-FFF2-40B4-BE49-F238E27FC236}">
                <a16:creationId xmlns:a16="http://schemas.microsoft.com/office/drawing/2014/main" id="{A611BA51-3DA5-47DF-A90D-FA240D64AD50}"/>
              </a:ext>
            </a:extLst>
          </p:cNvPr>
          <p:cNvSpPr/>
          <p:nvPr/>
        </p:nvSpPr>
        <p:spPr>
          <a:xfrm>
            <a:off x="9413510" y="2647134"/>
            <a:ext cx="380165" cy="45719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12">
            <a:extLst>
              <a:ext uri="{FF2B5EF4-FFF2-40B4-BE49-F238E27FC236}">
                <a16:creationId xmlns:a16="http://schemas.microsoft.com/office/drawing/2014/main" id="{897093D4-34A3-44CC-9E41-20ECF6CB4B78}"/>
              </a:ext>
            </a:extLst>
          </p:cNvPr>
          <p:cNvSpPr/>
          <p:nvPr/>
        </p:nvSpPr>
        <p:spPr>
          <a:xfrm flipH="1">
            <a:off x="9747954" y="2643880"/>
            <a:ext cx="45719" cy="38631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11">
            <a:extLst>
              <a:ext uri="{FF2B5EF4-FFF2-40B4-BE49-F238E27FC236}">
                <a16:creationId xmlns:a16="http://schemas.microsoft.com/office/drawing/2014/main" id="{7FA24413-5EAF-4022-BD84-893510AFF9C1}"/>
              </a:ext>
            </a:extLst>
          </p:cNvPr>
          <p:cNvSpPr/>
          <p:nvPr/>
        </p:nvSpPr>
        <p:spPr>
          <a:xfrm>
            <a:off x="9747954" y="3007332"/>
            <a:ext cx="227769" cy="45719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12">
            <a:extLst>
              <a:ext uri="{FF2B5EF4-FFF2-40B4-BE49-F238E27FC236}">
                <a16:creationId xmlns:a16="http://schemas.microsoft.com/office/drawing/2014/main" id="{D4205A92-AFAB-4EA7-B30D-2CF514F58EBF}"/>
              </a:ext>
            </a:extLst>
          </p:cNvPr>
          <p:cNvSpPr/>
          <p:nvPr/>
        </p:nvSpPr>
        <p:spPr>
          <a:xfrm flipH="1">
            <a:off x="9742941" y="3586863"/>
            <a:ext cx="45719" cy="130759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13">
            <a:extLst>
              <a:ext uri="{FF2B5EF4-FFF2-40B4-BE49-F238E27FC236}">
                <a16:creationId xmlns:a16="http://schemas.microsoft.com/office/drawing/2014/main" id="{8778FD84-E746-404B-965D-1BA16BE86939}"/>
              </a:ext>
            </a:extLst>
          </p:cNvPr>
          <p:cNvSpPr/>
          <p:nvPr/>
        </p:nvSpPr>
        <p:spPr>
          <a:xfrm>
            <a:off x="9422900" y="3574486"/>
            <a:ext cx="365760" cy="45719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14">
            <a:extLst>
              <a:ext uri="{FF2B5EF4-FFF2-40B4-BE49-F238E27FC236}">
                <a16:creationId xmlns:a16="http://schemas.microsoft.com/office/drawing/2014/main" id="{A4EFC865-D643-4E9E-9CD6-3A6470E0FC19}"/>
              </a:ext>
            </a:extLst>
          </p:cNvPr>
          <p:cNvSpPr/>
          <p:nvPr/>
        </p:nvSpPr>
        <p:spPr>
          <a:xfrm>
            <a:off x="9408495" y="4879454"/>
            <a:ext cx="380165" cy="45719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11">
            <a:extLst>
              <a:ext uri="{FF2B5EF4-FFF2-40B4-BE49-F238E27FC236}">
                <a16:creationId xmlns:a16="http://schemas.microsoft.com/office/drawing/2014/main" id="{E98E9CC4-3989-4D72-B10A-8210494C7E76}"/>
              </a:ext>
            </a:extLst>
          </p:cNvPr>
          <p:cNvSpPr/>
          <p:nvPr/>
        </p:nvSpPr>
        <p:spPr>
          <a:xfrm>
            <a:off x="9742939" y="3285543"/>
            <a:ext cx="227769" cy="45719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13">
            <a:extLst>
              <a:ext uri="{FF2B5EF4-FFF2-40B4-BE49-F238E27FC236}">
                <a16:creationId xmlns:a16="http://schemas.microsoft.com/office/drawing/2014/main" id="{010CB1AA-288C-4534-AE73-37657B53215C}"/>
              </a:ext>
            </a:extLst>
          </p:cNvPr>
          <p:cNvSpPr/>
          <p:nvPr/>
        </p:nvSpPr>
        <p:spPr>
          <a:xfrm>
            <a:off x="9418112" y="4228339"/>
            <a:ext cx="365760" cy="45719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4016BB63-F8F2-4E10-BEB1-DA71C9E395AA}"/>
              </a:ext>
            </a:extLst>
          </p:cNvPr>
          <p:cNvSpPr/>
          <p:nvPr/>
        </p:nvSpPr>
        <p:spPr>
          <a:xfrm flipH="1">
            <a:off x="9742939" y="3289821"/>
            <a:ext cx="45719" cy="38631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61">
            <a:extLst>
              <a:ext uri="{FF2B5EF4-FFF2-40B4-BE49-F238E27FC236}">
                <a16:creationId xmlns:a16="http://schemas.microsoft.com/office/drawing/2014/main" id="{B2431991-1137-449C-9137-A83516924B10}"/>
              </a:ext>
            </a:extLst>
          </p:cNvPr>
          <p:cNvSpPr/>
          <p:nvPr/>
        </p:nvSpPr>
        <p:spPr>
          <a:xfrm>
            <a:off x="443208" y="6064222"/>
            <a:ext cx="11247119" cy="320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DF73C8F-02E9-4BAE-AFD2-4CC7C1A728F3}"/>
              </a:ext>
            </a:extLst>
          </p:cNvPr>
          <p:cNvSpPr txBox="1"/>
          <p:nvPr/>
        </p:nvSpPr>
        <p:spPr>
          <a:xfrm>
            <a:off x="404378" y="6121137"/>
            <a:ext cx="11247120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0" i="1" dirty="0" err="1">
                <a:solidFill>
                  <a:srgbClr val="21295C"/>
                </a:solidFill>
                <a:latin typeface="Calibri"/>
              </a:rPr>
              <a:t>Единый</a:t>
            </a:r>
            <a:r>
              <a:rPr sz="11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21295C"/>
                </a:solidFill>
                <a:latin typeface="Calibri"/>
              </a:rPr>
              <a:t>интерфейс</a:t>
            </a:r>
            <a:r>
              <a:rPr sz="11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21295C"/>
                </a:solidFill>
                <a:latin typeface="Calibri"/>
              </a:rPr>
              <a:t>класса</a:t>
            </a:r>
            <a:r>
              <a:rPr sz="11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21295C"/>
                </a:solidFill>
                <a:latin typeface="Calibri"/>
              </a:rPr>
              <a:t>HybridPlus</a:t>
            </a:r>
            <a:r>
              <a:rPr sz="1100" b="0" i="1" dirty="0">
                <a:solidFill>
                  <a:srgbClr val="21295C"/>
                </a:solidFill>
                <a:latin typeface="Calibri"/>
              </a:rPr>
              <a:t> — </a:t>
            </a:r>
            <a:r>
              <a:rPr sz="1100" b="0" i="1" dirty="0" err="1">
                <a:solidFill>
                  <a:srgbClr val="21295C"/>
                </a:solidFill>
                <a:latin typeface="Calibri"/>
              </a:rPr>
              <a:t>режим</a:t>
            </a:r>
            <a:r>
              <a:rPr sz="11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21295C"/>
                </a:solidFill>
                <a:latin typeface="Calibri"/>
              </a:rPr>
              <a:t>декомпозиции</a:t>
            </a:r>
            <a:r>
              <a:rPr sz="11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21295C"/>
                </a:solidFill>
                <a:latin typeface="Calibri"/>
              </a:rPr>
              <a:t>выбирается</a:t>
            </a:r>
            <a:r>
              <a:rPr sz="11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lang="ru-RU" sz="1100" b="0" i="1" dirty="0">
                <a:solidFill>
                  <a:srgbClr val="21295C"/>
                </a:solidFill>
                <a:latin typeface="Calibri"/>
              </a:rPr>
              <a:t>с помощью</a:t>
            </a:r>
            <a:r>
              <a:rPr lang="en-US" sz="1100" b="0" i="1" dirty="0">
                <a:solidFill>
                  <a:srgbClr val="21295C"/>
                </a:solidFill>
                <a:latin typeface="Calibri"/>
              </a:rPr>
              <a:t> </a:t>
            </a:r>
            <a:r>
              <a:rPr lang="ru-RU" sz="1100" i="1" dirty="0">
                <a:solidFill>
                  <a:srgbClr val="21295C"/>
                </a:solidFill>
                <a:latin typeface="Calibri"/>
              </a:rPr>
              <a:t>конфигурации </a:t>
            </a:r>
            <a:r>
              <a:rPr lang="en-US" sz="1100" i="1" dirty="0">
                <a:solidFill>
                  <a:srgbClr val="21295C"/>
                </a:solidFill>
                <a:latin typeface="Calibri"/>
              </a:rPr>
              <a:t>.json</a:t>
            </a:r>
            <a:endParaRPr sz="1100" b="0" i="1" dirty="0">
              <a:solidFill>
                <a:srgbClr val="21295C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0296BA38-8F0A-4C0C-A9FA-428DA1EE156D}"/>
                  </a:ext>
                </a:extLst>
              </p:cNvPr>
              <p:cNvSpPr txBox="1"/>
              <p:nvPr/>
            </p:nvSpPr>
            <p:spPr>
              <a:xfrm>
                <a:off x="6540984" y="5350552"/>
                <a:ext cx="5376279" cy="512961"/>
              </a:xfrm>
              <a:prstGeom prst="rect">
                <a:avLst/>
              </a:prstGeom>
              <a:noFill/>
            </p:spPr>
            <p:txBody>
              <a:bodyPr wrap="square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lang="ru-RU" sz="1200" b="1" dirty="0">
                    <a:solidFill>
                      <a:srgbClr val="E76F51"/>
                    </a:solidFill>
                    <a:latin typeface="Calibri"/>
                  </a:rPr>
                  <a:t>▪  </a:t>
                </a:r>
                <a:r>
                  <a:rPr lang="ru-RU" sz="1200" dirty="0">
                    <a:solidFill>
                      <a:srgbClr val="21295C"/>
                    </a:solidFill>
                    <a:latin typeface="Calibri"/>
                  </a:rPr>
                  <a:t>вклад ВЧ-компонент монотонно уменьшается с ростом шага горизонта</a:t>
                </a:r>
              </a:p>
              <a:p>
                <a:pPr algn="l">
                  <a:spcAft>
                    <a:spcPts val="400"/>
                  </a:spcAft>
                </a:pPr>
                <a:r>
                  <a:rPr lang="ru-RU" sz="1200" b="1" dirty="0">
                    <a:solidFill>
                      <a:srgbClr val="E76F51"/>
                    </a:solidFill>
                    <a:latin typeface="Calibri"/>
                  </a:rPr>
                  <a:t>▪  </a:t>
                </a:r>
                <a:r>
                  <a:rPr lang="ru-RU" sz="1200" dirty="0">
                    <a:solidFill>
                      <a:srgbClr val="21295C"/>
                    </a:solidFill>
                    <a:latin typeface="Calibri"/>
                  </a:rPr>
                  <a:t>разность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20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20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ŷ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b="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2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1200" dirty="0">
                    <a:solidFill>
                      <a:srgbClr val="21295C"/>
                    </a:solidFill>
                    <a:latin typeface="Calibri"/>
                  </a:rPr>
                  <a:t> ограничена робастной оценкой типичного шага ряда</a:t>
                </a: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0296BA38-8F0A-4C0C-A9FA-428DA1EE1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984" y="5350552"/>
                <a:ext cx="5376279" cy="512961"/>
              </a:xfrm>
              <a:prstGeom prst="rect">
                <a:avLst/>
              </a:prstGeom>
              <a:blipFill>
                <a:blip r:embed="rId3"/>
                <a:stretch>
                  <a:fillRect l="-907" t="-1190" b="-95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Список построенных моделей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Базовые, нейросетевые, гибридные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1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4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374903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Базовые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3749039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76F51"/>
                </a:solidFill>
                <a:latin typeface="Calibri"/>
              </a:rPr>
              <a:t>▪  </a:t>
            </a:r>
            <a:r>
              <a:rPr sz="1300">
                <a:solidFill>
                  <a:srgbClr val="21295C"/>
                </a:solidFill>
                <a:latin typeface="Calibri"/>
              </a:rPr>
              <a:t>ARIMA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76F51"/>
                </a:solidFill>
                <a:latin typeface="Calibri"/>
              </a:rPr>
              <a:t>▪  </a:t>
            </a:r>
            <a:r>
              <a:rPr sz="1300">
                <a:solidFill>
                  <a:srgbClr val="21295C"/>
                </a:solidFill>
                <a:latin typeface="Calibri"/>
              </a:rPr>
              <a:t>ARIMA (с автоподбором)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76F51"/>
                </a:solidFill>
                <a:latin typeface="Calibri"/>
              </a:rPr>
              <a:t>▪  </a:t>
            </a:r>
            <a:r>
              <a:rPr sz="1300">
                <a:solidFill>
                  <a:srgbClr val="21295C"/>
                </a:solidFill>
                <a:latin typeface="Calibri"/>
              </a:rPr>
              <a:t>ETS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76F51"/>
                </a:solidFill>
                <a:latin typeface="Calibri"/>
              </a:rPr>
              <a:t>▪  </a:t>
            </a:r>
            <a:r>
              <a:rPr sz="1300">
                <a:solidFill>
                  <a:srgbClr val="21295C"/>
                </a:solidFill>
                <a:latin typeface="Calibri"/>
              </a:rPr>
              <a:t>Prophet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188720"/>
            <a:ext cx="374903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C7293"/>
                </a:solidFill>
                <a:latin typeface="Calibri"/>
              </a:rPr>
              <a:t>Нейросетевые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554480"/>
            <a:ext cx="3749039" cy="1046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1C7293"/>
                </a:solidFill>
                <a:latin typeface="Calibri"/>
              </a:rPr>
              <a:t>▪ 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TimesNet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(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без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MODWT)</a:t>
            </a:r>
          </a:p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1C7293"/>
                </a:solidFill>
                <a:latin typeface="Calibri"/>
              </a:rPr>
              <a:t>▪  </a:t>
            </a:r>
            <a:r>
              <a:rPr sz="1300" dirty="0">
                <a:solidFill>
                  <a:srgbClr val="21295C"/>
                </a:solidFill>
                <a:latin typeface="Calibri"/>
              </a:rPr>
              <a:t>N-BEATS (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без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MODWT)</a:t>
            </a:r>
          </a:p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1C7293"/>
                </a:solidFill>
                <a:latin typeface="Calibri"/>
              </a:rPr>
              <a:t>▪ 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TimesNet</a:t>
            </a:r>
            <a:r>
              <a:rPr sz="1300" dirty="0">
                <a:solidFill>
                  <a:srgbClr val="21295C"/>
                </a:solidFill>
                <a:latin typeface="Calibri"/>
              </a:rPr>
              <a:t>+ (MODWT +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TimesNet</a:t>
            </a:r>
            <a:r>
              <a:rPr sz="1300" dirty="0">
                <a:solidFill>
                  <a:srgbClr val="21295C"/>
                </a:solidFill>
                <a:latin typeface="Calibri"/>
              </a:rPr>
              <a:t>)</a:t>
            </a:r>
          </a:p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1C7293"/>
                </a:solidFill>
                <a:latin typeface="Calibri"/>
              </a:rPr>
              <a:t>▪  </a:t>
            </a:r>
            <a:r>
              <a:rPr sz="1300" dirty="0">
                <a:solidFill>
                  <a:srgbClr val="21295C"/>
                </a:solidFill>
                <a:latin typeface="Calibri"/>
              </a:rPr>
              <a:t>N-BEATS</a:t>
            </a:r>
            <a:r>
              <a:rPr lang="ru-RU" sz="1300" dirty="0">
                <a:solidFill>
                  <a:srgbClr val="21295C"/>
                </a:solidFill>
                <a:latin typeface="Calibri"/>
              </a:rPr>
              <a:t> </a:t>
            </a:r>
            <a:r>
              <a:rPr lang="en-US" sz="1300" dirty="0">
                <a:solidFill>
                  <a:srgbClr val="21295C"/>
                </a:solidFill>
                <a:latin typeface="Calibri"/>
              </a:rPr>
              <a:t>Full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(MODWT + N-BEATS)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188720"/>
            <a:ext cx="374903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E76F51"/>
                </a:solidFill>
                <a:latin typeface="Calibri"/>
              </a:rPr>
              <a:t>Гибридные (HybridPlus)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554480"/>
            <a:ext cx="3749039" cy="20518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E76F51"/>
                </a:solidFill>
                <a:latin typeface="Calibri"/>
              </a:rPr>
              <a:t>▪ </a:t>
            </a:r>
            <a:r>
              <a:rPr lang="en-US" sz="1300" dirty="0">
                <a:solidFill>
                  <a:srgbClr val="21295C"/>
                </a:solidFill>
                <a:latin typeface="Calibri"/>
              </a:rPr>
              <a:t>MODWT (V</a:t>
            </a:r>
            <a:r>
              <a:rPr sz="1300" dirty="0">
                <a:solidFill>
                  <a:srgbClr val="21295C"/>
                </a:solidFill>
                <a:latin typeface="Calibri"/>
              </a:rPr>
              <a:t>W</a:t>
            </a:r>
            <a:r>
              <a:rPr lang="en-US" sz="1300" dirty="0">
                <a:solidFill>
                  <a:srgbClr val="21295C"/>
                </a:solidFill>
                <a:latin typeface="Calibri"/>
              </a:rPr>
              <a:t>)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+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TimesNet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+ ARIMA(auto)</a:t>
            </a:r>
          </a:p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E76F51"/>
                </a:solidFill>
                <a:latin typeface="Calibri"/>
              </a:rPr>
              <a:t>▪ </a:t>
            </a:r>
            <a:r>
              <a:rPr lang="en-US" sz="1300" dirty="0">
                <a:solidFill>
                  <a:srgbClr val="21295C"/>
                </a:solidFill>
                <a:latin typeface="Calibri"/>
              </a:rPr>
              <a:t>MODWT (VW)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+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TimesNet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+ ETS</a:t>
            </a:r>
          </a:p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E76F51"/>
                </a:solidFill>
                <a:latin typeface="Calibri"/>
              </a:rPr>
              <a:t>▪ </a:t>
            </a:r>
            <a:r>
              <a:rPr lang="en-US" sz="1300" dirty="0">
                <a:solidFill>
                  <a:srgbClr val="21295C"/>
                </a:solidFill>
                <a:latin typeface="Calibri"/>
              </a:rPr>
              <a:t>MODWT (VW)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+ N-Beats + ARIMA(auto)</a:t>
            </a:r>
          </a:p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E76F51"/>
                </a:solidFill>
                <a:latin typeface="Calibri"/>
              </a:rPr>
              <a:t>▪ </a:t>
            </a:r>
            <a:r>
              <a:rPr lang="en-US" sz="1300" dirty="0">
                <a:solidFill>
                  <a:srgbClr val="21295C"/>
                </a:solidFill>
                <a:latin typeface="Calibri"/>
              </a:rPr>
              <a:t>MODWT (VW)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+ N-Beats + ETS</a:t>
            </a:r>
          </a:p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300" dirty="0">
                <a:solidFill>
                  <a:srgbClr val="21295C"/>
                </a:solidFill>
                <a:latin typeface="Calibri"/>
              </a:rPr>
              <a:t>STL +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TimesNet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+ ARIMA(auto)</a:t>
            </a:r>
          </a:p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300" dirty="0">
                <a:solidFill>
                  <a:srgbClr val="21295C"/>
                </a:solidFill>
                <a:latin typeface="Calibri"/>
              </a:rPr>
              <a:t>STL + N-BEATS + ARIMA(auto)</a:t>
            </a:r>
          </a:p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300" dirty="0">
                <a:solidFill>
                  <a:srgbClr val="21295C"/>
                </a:solidFill>
                <a:latin typeface="Calibri"/>
              </a:rPr>
              <a:t>STL + </a:t>
            </a:r>
            <a:r>
              <a:rPr sz="1300" dirty="0" err="1">
                <a:solidFill>
                  <a:srgbClr val="21295C"/>
                </a:solidFill>
                <a:latin typeface="Calibri"/>
              </a:rPr>
              <a:t>TimesNet</a:t>
            </a:r>
            <a:r>
              <a:rPr sz="1300" dirty="0">
                <a:solidFill>
                  <a:srgbClr val="21295C"/>
                </a:solidFill>
                <a:latin typeface="Calibri"/>
              </a:rPr>
              <a:t> + ETS</a:t>
            </a:r>
          </a:p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300" dirty="0">
                <a:solidFill>
                  <a:srgbClr val="21295C"/>
                </a:solidFill>
                <a:latin typeface="Calibri"/>
              </a:rPr>
              <a:t>STL + N-BEATS + 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5852160"/>
            <a:ext cx="1097280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 dirty="0">
                <a:solidFill>
                  <a:srgbClr val="6B7280"/>
                </a:solidFill>
                <a:latin typeface="Calibri"/>
              </a:rPr>
              <a:t>VW — </a:t>
            </a:r>
            <a:r>
              <a:rPr sz="1100" b="0" i="1" dirty="0" err="1">
                <a:solidFill>
                  <a:srgbClr val="6B7280"/>
                </a:solidFill>
                <a:latin typeface="Calibri"/>
              </a:rPr>
              <a:t>сокращение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6B7280"/>
                </a:solidFill>
                <a:latin typeface="Calibri"/>
              </a:rPr>
              <a:t>для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 MODWT (</a:t>
            </a:r>
            <a:r>
              <a:rPr sz="1100" b="0" i="1" dirty="0" err="1">
                <a:solidFill>
                  <a:srgbClr val="6B7280"/>
                </a:solidFill>
                <a:latin typeface="Calibri"/>
              </a:rPr>
              <a:t>от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6B7280"/>
                </a:solidFill>
                <a:latin typeface="Calibri"/>
              </a:rPr>
              <a:t>англ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. wavelet), </a:t>
            </a:r>
            <a:r>
              <a:rPr sz="1100" b="0" i="1" dirty="0" err="1">
                <a:solidFill>
                  <a:srgbClr val="6B7280"/>
                </a:solidFill>
                <a:latin typeface="Calibri"/>
              </a:rPr>
              <a:t>используется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 в </a:t>
            </a:r>
            <a:r>
              <a:rPr sz="1100" b="0" i="1" dirty="0" err="1">
                <a:solidFill>
                  <a:srgbClr val="6B7280"/>
                </a:solidFill>
                <a:latin typeface="Calibri"/>
              </a:rPr>
              <a:t>легендах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6B7280"/>
                </a:solidFill>
                <a:latin typeface="Calibri"/>
              </a:rPr>
              <a:t>графиков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 и </a:t>
            </a:r>
            <a:r>
              <a:rPr sz="1100" b="0" i="1" dirty="0" err="1">
                <a:solidFill>
                  <a:srgbClr val="6B7280"/>
                </a:solidFill>
                <a:latin typeface="Calibri"/>
              </a:rPr>
              <a:t>таблиц</a:t>
            </a:r>
            <a:r>
              <a:rPr lang="en-US" sz="11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lang="ru-RU" sz="1100" b="0" i="1" dirty="0">
                <a:solidFill>
                  <a:srgbClr val="6B7280"/>
                </a:solidFill>
                <a:latin typeface="Calibri"/>
              </a:rPr>
              <a:t>в ВКР</a:t>
            </a:r>
            <a:endParaRPr sz="1100" b="0" i="1" dirty="0">
              <a:solidFill>
                <a:srgbClr val="6B728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Инженерные меры устойчивости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 dirty="0" err="1">
                <a:solidFill>
                  <a:srgbClr val="1C7293"/>
                </a:solidFill>
                <a:latin typeface="Calibri"/>
              </a:rPr>
              <a:t>Где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скрыта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основная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сложность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гибридной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модели</a:t>
            </a:r>
            <a:r>
              <a:rPr lang="ru-RU" sz="1400" b="0" i="1" dirty="0">
                <a:solidFill>
                  <a:srgbClr val="1C7293"/>
                </a:solidFill>
                <a:latin typeface="Calibri"/>
              </a:rPr>
              <a:t>?</a:t>
            </a:r>
            <a:endParaRPr sz="1400" b="0" i="1" dirty="0">
              <a:solidFill>
                <a:srgbClr val="1C729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1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5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1143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73152" cy="1143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Граница окна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931920" y="1325880"/>
                <a:ext cx="7589520" cy="406265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l"/>
                <a:r>
                  <a:rPr sz="1200" b="0" i="0" dirty="0">
                    <a:solidFill>
                      <a:srgbClr val="21295C"/>
                    </a:solidFill>
                    <a:latin typeface="Calibri"/>
                  </a:rPr>
                  <a:t>Padding </a:t>
                </a:r>
                <a:r>
                  <a:rPr sz="1200" b="0" i="0" dirty="0" err="1">
                    <a:solidFill>
                      <a:srgbClr val="21295C"/>
                    </a:solidFill>
                    <a:latin typeface="Calibri"/>
                  </a:rPr>
                  <a:t>повторением</a:t>
                </a:r>
                <a:r>
                  <a:rPr sz="120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sz="1200" b="0" i="0" dirty="0" err="1">
                    <a:solidFill>
                      <a:srgbClr val="21295C"/>
                    </a:solidFill>
                    <a:latin typeface="Calibri"/>
                  </a:rPr>
                  <a:t>последнего</a:t>
                </a:r>
                <a:r>
                  <a:rPr sz="120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sz="1200" b="0" i="0" dirty="0" err="1">
                    <a:solidFill>
                      <a:srgbClr val="21295C"/>
                    </a:solidFill>
                    <a:latin typeface="Calibri"/>
                  </a:rPr>
                  <a:t>значения</a:t>
                </a:r>
                <a:r>
                  <a:rPr sz="120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sz="1200" b="0" i="0" dirty="0" err="1">
                    <a:solidFill>
                      <a:srgbClr val="21295C"/>
                    </a:solidFill>
                    <a:latin typeface="Calibri"/>
                  </a:rPr>
                  <a:t>вместо</a:t>
                </a:r>
                <a:r>
                  <a:rPr sz="120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sz="1200" b="0" i="0" dirty="0" err="1">
                    <a:solidFill>
                      <a:srgbClr val="21295C"/>
                    </a:solidFill>
                    <a:latin typeface="Calibri"/>
                  </a:rPr>
                  <a:t>нулей</a:t>
                </a:r>
                <a:r>
                  <a:rPr sz="1200" b="0" i="0" dirty="0">
                    <a:solidFill>
                      <a:srgbClr val="21295C"/>
                    </a:solidFill>
                    <a:latin typeface="Calibri"/>
                  </a:rPr>
                  <a:t>.</a:t>
                </a:r>
              </a:p>
              <a:p>
                <a:pPr algn="l"/>
                <a:r>
                  <a:rPr sz="1200" b="0" i="0" dirty="0" err="1">
                    <a:solidFill>
                      <a:srgbClr val="21295C"/>
                    </a:solidFill>
                    <a:latin typeface="Calibri"/>
                  </a:rPr>
                  <a:t>Уменьшает</a:t>
                </a:r>
                <a:r>
                  <a:rPr sz="120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sz="1200" b="0" i="0" dirty="0" err="1">
                    <a:solidFill>
                      <a:srgbClr val="21295C"/>
                    </a:solidFill>
                    <a:latin typeface="Calibri"/>
                  </a:rPr>
                  <a:t>скачки</a:t>
                </a:r>
                <a:r>
                  <a:rPr sz="120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sz="1200" b="0" i="0" dirty="0" err="1">
                    <a:solidFill>
                      <a:srgbClr val="21295C"/>
                    </a:solidFill>
                    <a:latin typeface="Calibri"/>
                  </a:rPr>
                  <a:t>на</a:t>
                </a:r>
                <a:r>
                  <a:rPr sz="120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sz="1200" b="0" i="0" dirty="0" err="1">
                    <a:solidFill>
                      <a:srgbClr val="21295C"/>
                    </a:solidFill>
                    <a:latin typeface="Calibri"/>
                  </a:rPr>
                  <a:t>границе</a:t>
                </a:r>
                <a:r>
                  <a:rPr sz="120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sz="1200" b="0" i="0" dirty="0" err="1">
                    <a:solidFill>
                      <a:srgbClr val="21295C"/>
                    </a:solidFill>
                    <a:latin typeface="Calibri"/>
                  </a:rPr>
                  <a:t>при</a:t>
                </a:r>
                <a:r>
                  <a:rPr sz="120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sz="1200" b="0" i="0" dirty="0" err="1">
                    <a:solidFill>
                      <a:srgbClr val="21295C"/>
                    </a:solidFill>
                    <a:latin typeface="Calibri"/>
                  </a:rPr>
                  <a:t>укладке</a:t>
                </a:r>
                <a:r>
                  <a:rPr sz="1200" b="0" i="0" dirty="0">
                    <a:solidFill>
                      <a:srgbClr val="21295C"/>
                    </a:solidFill>
                    <a:latin typeface="Calibri"/>
                  </a:rPr>
                  <a:t> в </a:t>
                </a:r>
                <a:r>
                  <a:rPr sz="1200" b="0" i="0" dirty="0" err="1">
                    <a:solidFill>
                      <a:srgbClr val="21295C"/>
                    </a:solidFill>
                    <a:latin typeface="Calibri"/>
                  </a:rPr>
                  <a:t>матрицу</a:t>
                </a:r>
                <a:r>
                  <a:rPr sz="120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ru-RU" sz="1200" b="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sz="1200" b="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 × </m:t>
                    </m:r>
                    <m:r>
                      <a:rPr lang="ru-RU" sz="1200" b="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sz="1200" b="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200" b="0" i="0" dirty="0">
                    <a:solidFill>
                      <a:srgbClr val="21295C"/>
                    </a:solidFill>
                    <a:latin typeface="Calibri"/>
                  </a:rPr>
                  <a:t>в </a:t>
                </a:r>
                <a:r>
                  <a:rPr sz="1200" b="0" i="0" dirty="0" err="1">
                    <a:solidFill>
                      <a:srgbClr val="21295C"/>
                    </a:solidFill>
                    <a:latin typeface="Calibri"/>
                  </a:rPr>
                  <a:t>TimesNet</a:t>
                </a:r>
                <a:r>
                  <a:rPr sz="1200" b="0" i="0" dirty="0">
                    <a:solidFill>
                      <a:srgbClr val="21295C"/>
                    </a:solidFill>
                    <a:latin typeface="Calibri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0" y="1325880"/>
                <a:ext cx="7589520" cy="406265"/>
              </a:xfrm>
              <a:prstGeom prst="rect">
                <a:avLst/>
              </a:prstGeom>
              <a:blipFill>
                <a:blip r:embed="rId3"/>
                <a:stretch>
                  <a:fillRect l="-643" t="-7576" b="-181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457200" y="2514600"/>
            <a:ext cx="11247120" cy="1143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514600"/>
            <a:ext cx="73152" cy="1143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60604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Первый шаг прогноза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931920" y="2606040"/>
                <a:ext cx="7589520" cy="406265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l"/>
                <a:r>
                  <a:rPr lang="cy-GB" sz="1200" b="0" i="0" dirty="0">
                    <a:solidFill>
                      <a:srgbClr val="21295C"/>
                    </a:solidFill>
                    <a:latin typeface="Calibri"/>
                  </a:rPr>
                  <a:t>Прогноз </a:t>
                </a:r>
                <a:r>
                  <a:rPr lang="cy-GB" sz="1200" b="0" i="0" dirty="0" err="1">
                    <a:solidFill>
                      <a:srgbClr val="21295C"/>
                    </a:solidFill>
                    <a:latin typeface="Calibri"/>
                  </a:rPr>
                  <a:t>деталей</a:t>
                </a:r>
                <a:r>
                  <a:rPr lang="cy-GB" sz="120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lang="cy-GB" sz="1200" b="0" i="0" dirty="0" err="1">
                    <a:solidFill>
                      <a:srgbClr val="21295C"/>
                    </a:solidFill>
                    <a:latin typeface="Calibri"/>
                  </a:rPr>
                  <a:t>смешивается</a:t>
                </a:r>
                <a:r>
                  <a:rPr lang="cy-GB" sz="1200" b="0" i="0" dirty="0">
                    <a:solidFill>
                      <a:srgbClr val="21295C"/>
                    </a:solidFill>
                    <a:latin typeface="Calibri"/>
                  </a:rPr>
                  <a:t> с </a:t>
                </a:r>
                <a:r>
                  <a:rPr lang="cy-GB" sz="1200" b="0" i="0" dirty="0" err="1">
                    <a:solidFill>
                      <a:srgbClr val="21295C"/>
                    </a:solidFill>
                    <a:latin typeface="Calibri"/>
                  </a:rPr>
                  <a:t>последним</a:t>
                </a:r>
                <a:r>
                  <a:rPr lang="cy-GB" sz="120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lang="cy-GB" sz="1200" b="0" i="0" dirty="0" err="1">
                    <a:solidFill>
                      <a:srgbClr val="21295C"/>
                    </a:solidFill>
                    <a:latin typeface="Calibri"/>
                  </a:rPr>
                  <a:t>наблюдаемым</a:t>
                </a:r>
                <a:r>
                  <a:rPr lang="cy-GB" sz="120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lang="cy-GB" sz="1200" b="0" i="0" dirty="0" err="1">
                    <a:solidFill>
                      <a:srgbClr val="21295C"/>
                    </a:solidFill>
                    <a:latin typeface="Calibri"/>
                  </a:rPr>
                  <a:t>уровнем</a:t>
                </a:r>
                <a:r>
                  <a:rPr lang="cy-GB" sz="1200" b="0" i="0" dirty="0">
                    <a:solidFill>
                      <a:srgbClr val="21295C"/>
                    </a:solidFill>
                    <a:latin typeface="Calibri"/>
                  </a:rPr>
                  <a:t>.</a:t>
                </a:r>
              </a:p>
              <a:p>
                <a:pPr algn="l"/>
                <a:r>
                  <a:rPr lang="cy-GB" sz="1200" b="0" i="0" dirty="0" err="1">
                    <a:solidFill>
                      <a:srgbClr val="21295C"/>
                    </a:solidFill>
                    <a:latin typeface="Calibri"/>
                  </a:rPr>
                  <a:t>Разность</a:t>
                </a:r>
                <a:r>
                  <a:rPr lang="cy-GB" sz="120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cy-GB" sz="12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y-GB" sz="12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ŷ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b="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cy-GB" sz="1200" b="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− </m:t>
                    </m:r>
                    <m:sSub>
                      <m:sSubPr>
                        <m:ctrlPr>
                          <a:rPr lang="ar-AE" sz="1200" b="0" i="1" dirty="0" err="1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b="0" i="1" dirty="0" err="1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sz="1200" b="0" i="1" dirty="0" err="1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sz="1200" b="0" i="1" dirty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cy-GB" sz="1200" b="0" i="0" dirty="0" err="1">
                    <a:solidFill>
                      <a:srgbClr val="21295C"/>
                    </a:solidFill>
                    <a:latin typeface="Calibri"/>
                  </a:rPr>
                  <a:t>ограничена</a:t>
                </a:r>
                <a:r>
                  <a:rPr lang="cy-GB" sz="120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lang="cy-GB" sz="1200" b="0" i="0" dirty="0" err="1">
                    <a:solidFill>
                      <a:srgbClr val="21295C"/>
                    </a:solidFill>
                    <a:latin typeface="Calibri"/>
                  </a:rPr>
                  <a:t>робастной</a:t>
                </a:r>
                <a:r>
                  <a:rPr lang="cy-GB" sz="120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lang="cy-GB" sz="1200" b="0" i="0" dirty="0" err="1">
                    <a:solidFill>
                      <a:srgbClr val="21295C"/>
                    </a:solidFill>
                    <a:latin typeface="Calibri"/>
                  </a:rPr>
                  <a:t>оценкой</a:t>
                </a:r>
                <a:r>
                  <a:rPr lang="cy-GB" sz="120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lang="cy-GB" sz="1200" b="0" i="0" dirty="0" err="1">
                    <a:solidFill>
                      <a:srgbClr val="21295C"/>
                    </a:solidFill>
                    <a:latin typeface="Calibri"/>
                  </a:rPr>
                  <a:t>типичного</a:t>
                </a:r>
                <a:r>
                  <a:rPr lang="cy-GB" sz="1200" b="0" i="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lang="cy-GB" sz="1200" b="0" i="0" dirty="0" err="1">
                    <a:solidFill>
                      <a:srgbClr val="21295C"/>
                    </a:solidFill>
                    <a:latin typeface="Calibri"/>
                  </a:rPr>
                  <a:t>шага</a:t>
                </a:r>
                <a:r>
                  <a:rPr lang="cy-GB" sz="1200" b="0" i="0" dirty="0">
                    <a:solidFill>
                      <a:srgbClr val="21295C"/>
                    </a:solidFill>
                    <a:latin typeface="Calibri"/>
                  </a:rPr>
                  <a:t>.</a:t>
                </a:r>
                <a:endParaRPr sz="1200" b="0" i="0" dirty="0">
                  <a:solidFill>
                    <a:srgbClr val="21295C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0" y="2606040"/>
                <a:ext cx="7589520" cy="406265"/>
              </a:xfrm>
              <a:prstGeom prst="rect">
                <a:avLst/>
              </a:prstGeom>
              <a:blipFill>
                <a:blip r:embed="rId4"/>
                <a:stretch>
                  <a:fillRect l="-643" t="-7576" b="-181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457200" y="3794760"/>
            <a:ext cx="11247120" cy="1143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794760"/>
            <a:ext cx="73152" cy="1143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Горизонт прогноза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886200"/>
            <a:ext cx="7589520" cy="9601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21295C"/>
                </a:solidFill>
                <a:latin typeface="Calibri"/>
              </a:rPr>
              <a:t>Вклад высокочастотных компонент монотонно уменьшается с шагом.</a:t>
            </a:r>
          </a:p>
          <a:p>
            <a:pPr algn="l"/>
            <a:r>
              <a:rPr sz="1200" b="0" i="0">
                <a:solidFill>
                  <a:srgbClr val="21295C"/>
                </a:solidFill>
                <a:latin typeface="Calibri"/>
              </a:rPr>
              <a:t>→ не доверяем дальним прогнозам шумоподобных компонент.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74920"/>
            <a:ext cx="11247120" cy="1143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5074920"/>
            <a:ext cx="73152" cy="1143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516636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Краевые артефакты MODWT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5166360"/>
            <a:ext cx="7589520" cy="9601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21295C"/>
                </a:solidFill>
                <a:latin typeface="Calibri"/>
              </a:rPr>
              <a:t>Циклическое продолжение в качестве граничного условия.</a:t>
            </a:r>
          </a:p>
          <a:p>
            <a:pPr algn="l"/>
            <a:r>
              <a:rPr sz="1200" b="0" i="0">
                <a:solidFill>
                  <a:srgbClr val="21295C"/>
                </a:solidFill>
                <a:latin typeface="Calibri"/>
              </a:rPr>
              <a:t>Снижает артефакты при разложении синтетических сезонных сигналов.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Данные вычислительных экспериментов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Раздел 3. Эксперименты — начало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1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6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749039" cy="5212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3749039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252728"/>
            <a:ext cx="356615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Синтетические ряды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74520"/>
            <a:ext cx="3566159" cy="116955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065A82"/>
                </a:solidFill>
                <a:latin typeface="Calibri"/>
              </a:rPr>
              <a:t>▪ 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профили</a:t>
            </a:r>
            <a:r>
              <a:rPr sz="1200" dirty="0">
                <a:solidFill>
                  <a:srgbClr val="21295C"/>
                </a:solidFill>
                <a:latin typeface="Calibri"/>
              </a:rPr>
              <a:t>: flat,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меняющийся тренд</a:t>
            </a:r>
            <a:r>
              <a:rPr sz="1200" dirty="0">
                <a:solidFill>
                  <a:srgbClr val="21295C"/>
                </a:solidFill>
                <a:latin typeface="Calibri"/>
              </a:rPr>
              <a:t>,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с многопериодной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сезонность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ю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НОК = </a:t>
            </a:r>
            <a:r>
              <a:rPr lang="ru-RU" sz="1200" dirty="0">
                <a:solidFill>
                  <a:srgbClr val="21295C"/>
                </a:solidFill>
                <a:latin typeface="Calibri"/>
              </a:rPr>
              <a:t>60, 105</a:t>
            </a:r>
            <a:endParaRPr sz="1200" dirty="0">
              <a:solidFill>
                <a:srgbClr val="21295C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065A82"/>
                </a:solidFill>
                <a:latin typeface="Calibri"/>
              </a:rPr>
              <a:t>▪ 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по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500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рядов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на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профиль</a:t>
            </a:r>
            <a:endParaRPr sz="1200" dirty="0">
              <a:solidFill>
                <a:srgbClr val="21295C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065A82"/>
                </a:solidFill>
                <a:latin typeface="Calibri"/>
              </a:rPr>
              <a:t>▪ 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обучение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— 24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эпохи</a:t>
            </a:r>
            <a:endParaRPr sz="1200" dirty="0">
              <a:solidFill>
                <a:srgbClr val="21295C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065A82"/>
                </a:solidFill>
                <a:latin typeface="Calibri"/>
              </a:rPr>
              <a:t>▪ 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контролируемые</a:t>
            </a:r>
            <a:r>
              <a:rPr sz="120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21295C"/>
                </a:solidFill>
                <a:latin typeface="Calibri"/>
              </a:rPr>
              <a:t>условия</a:t>
            </a:r>
            <a:endParaRPr sz="1200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97679" y="1188720"/>
            <a:ext cx="3749039" cy="5212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79" y="1188720"/>
            <a:ext cx="3749039" cy="5029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39" y="1252728"/>
            <a:ext cx="356615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M3 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39" y="1874520"/>
            <a:ext cx="3566159" cy="4434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C7293"/>
                </a:solidFill>
                <a:latin typeface="Calibri"/>
              </a:rPr>
              <a:t>▪  </a:t>
            </a:r>
            <a:r>
              <a:rPr sz="1200">
                <a:solidFill>
                  <a:srgbClr val="21295C"/>
                </a:solidFill>
                <a:latin typeface="Calibri"/>
              </a:rPr>
              <a:t>100 рядов: yearly / quarterly / monthly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C7293"/>
                </a:solidFill>
                <a:latin typeface="Calibri"/>
              </a:rPr>
              <a:t>▪  </a:t>
            </a:r>
            <a:r>
              <a:rPr sz="1200">
                <a:solidFill>
                  <a:srgbClr val="21295C"/>
                </a:solidFill>
                <a:latin typeface="Calibri"/>
              </a:rPr>
              <a:t>стандартный набор для сравнения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C7293"/>
                </a:solidFill>
                <a:latin typeface="Calibri"/>
              </a:rPr>
              <a:t>▪  </a:t>
            </a:r>
            <a:r>
              <a:rPr sz="1200">
                <a:solidFill>
                  <a:srgbClr val="21295C"/>
                </a:solidFill>
                <a:latin typeface="Calibri"/>
              </a:rPr>
              <a:t>ограничение по вычислениям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C7293"/>
                </a:solidFill>
                <a:latin typeface="Calibri"/>
              </a:rPr>
              <a:t>▪  </a:t>
            </a:r>
            <a:r>
              <a:rPr sz="1200">
                <a:solidFill>
                  <a:srgbClr val="21295C"/>
                </a:solidFill>
                <a:latin typeface="Calibri"/>
              </a:rPr>
              <a:t>акцент на классические vs гибриды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58" y="1188720"/>
            <a:ext cx="3749039" cy="5212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58" y="1188720"/>
            <a:ext cx="3749039" cy="5029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18" y="1252728"/>
            <a:ext cx="356615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M4 Competition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8" y="1874520"/>
            <a:ext cx="3566159" cy="4434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76F51"/>
                </a:solidFill>
                <a:latin typeface="Calibri"/>
              </a:rPr>
              <a:t>▪  </a:t>
            </a:r>
            <a:r>
              <a:rPr sz="1200">
                <a:solidFill>
                  <a:srgbClr val="21295C"/>
                </a:solidFill>
                <a:latin typeface="Calibri"/>
              </a:rPr>
              <a:t>500 рядов на категорию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E76F51"/>
                </a:solidFill>
                <a:latin typeface="Calibri"/>
              </a:rPr>
              <a:t>▪  </a:t>
            </a:r>
            <a:r>
              <a:rPr sz="1200">
                <a:solidFill>
                  <a:srgbClr val="21295C"/>
                </a:solidFill>
                <a:latin typeface="Calibri"/>
              </a:rPr>
              <a:t>yearly / quarterly / daily / hourly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E76F51"/>
                </a:solidFill>
                <a:latin typeface="Calibri"/>
              </a:rPr>
              <a:t>▪  </a:t>
            </a:r>
            <a:r>
              <a:rPr sz="1200">
                <a:solidFill>
                  <a:srgbClr val="21295C"/>
                </a:solidFill>
                <a:latin typeface="Calibri"/>
              </a:rPr>
              <a:t>rollout-симуляции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E76F51"/>
                </a:solidFill>
                <a:latin typeface="Calibri"/>
              </a:rPr>
              <a:t>▪  </a:t>
            </a:r>
            <a:r>
              <a:rPr sz="1200">
                <a:solidFill>
                  <a:srgbClr val="21295C"/>
                </a:solidFill>
                <a:latin typeface="Calibri"/>
              </a:rPr>
              <a:t>ключевая часть эксперимента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Эксперимент: ряд Q2142 (M4, квартальный)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Точечная иллюстрация работы гибридных моделей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1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7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5943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60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Модель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sMAPE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MAPE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ARIMA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4.16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4.08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57.69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ARIMA(auto)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4.15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4.07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56.81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ETS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4.12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3.99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61.49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Prophet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23.62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20.92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233.59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MODWT + TimesNet + ARIMA(auto)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4.93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4.86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67.72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76F51"/>
                          </a:solidFill>
                          <a:latin typeface="Calibri"/>
                        </a:rPr>
                        <a:t>MODWT + TimesNet + ETS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76F51"/>
                          </a:solidFill>
                          <a:latin typeface="Calibri"/>
                        </a:rPr>
                        <a:t>3.97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76F51"/>
                          </a:solidFill>
                          <a:latin typeface="Calibri"/>
                        </a:rPr>
                        <a:t>3.91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76F51"/>
                          </a:solidFill>
                          <a:latin typeface="Calibri"/>
                        </a:rPr>
                        <a:t>55.92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MODWT + N-BEATS + ARIMA(auto)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4.74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4.68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59.03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MODWT + N-BEATS + ETS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4.18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4.07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21295C"/>
                          </a:solidFill>
                          <a:latin typeface="Calibri"/>
                        </a:rPr>
                        <a:t>58.25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8" name="Picture 7" descr="quarterly_Q21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188720"/>
            <a:ext cx="5303520" cy="22724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4114800"/>
            <a:ext cx="5303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Прогнозы моделей на ряду Q2142 (H=8, L=16)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4937760"/>
            <a:ext cx="73152" cy="13716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E76F51"/>
                </a:solidFill>
                <a:latin typeface="Calibri"/>
              </a:rPr>
              <a:t>Что видно: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4924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76F51"/>
                </a:solidFill>
                <a:latin typeface="Calibri"/>
              </a:rPr>
              <a:t>▪  </a:t>
            </a:r>
            <a:r>
              <a:rPr sz="1100">
                <a:solidFill>
                  <a:srgbClr val="21295C"/>
                </a:solidFill>
                <a:latin typeface="Calibri"/>
              </a:rPr>
              <a:t>лидер по всем метрикам — MODWT + TimesNet + ETS (sMAPE 3.97)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E76F51"/>
                </a:solidFill>
                <a:latin typeface="Calibri"/>
              </a:rPr>
              <a:t>▪  </a:t>
            </a:r>
            <a:r>
              <a:rPr sz="1100">
                <a:solidFill>
                  <a:srgbClr val="21295C"/>
                </a:solidFill>
                <a:latin typeface="Calibri"/>
              </a:rPr>
              <a:t>Prophet — катастрофически плох (sMAPE 23.62, в ~6 раз хуже)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E76F51"/>
                </a:solidFill>
                <a:latin typeface="Calibri"/>
              </a:rPr>
              <a:t>▪  </a:t>
            </a:r>
            <a:r>
              <a:rPr sz="1100">
                <a:solidFill>
                  <a:srgbClr val="21295C"/>
                </a:solidFill>
                <a:latin typeface="Calibri"/>
              </a:rPr>
              <a:t>выигрыш по абсолютной RMSE по сравнению с классикой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4370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2600" b="1" i="0" dirty="0">
                <a:solidFill>
                  <a:srgbClr val="21295C"/>
                </a:solidFill>
                <a:latin typeface="Calibri"/>
              </a:rPr>
              <a:t>Эксперимент: ряд Q2147 (M4, квартальный)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1400" b="0" i="1" dirty="0">
                <a:solidFill>
                  <a:srgbClr val="1C7293"/>
                </a:solidFill>
                <a:latin typeface="Calibri"/>
              </a:rPr>
              <a:t>Второй иллюстративный ряд — ярко выраженный тренд + сезонность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1</a:t>
            </a:r>
            <a:r>
              <a:rPr lang="en-US" sz="1000" dirty="0">
                <a:solidFill>
                  <a:srgbClr val="6B7280"/>
                </a:solidFill>
                <a:latin typeface="Calibri"/>
              </a:rPr>
              <a:t>8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4114800"/>
            <a:ext cx="530352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1" dirty="0" err="1">
                <a:solidFill>
                  <a:srgbClr val="6B7280"/>
                </a:solidFill>
                <a:latin typeface="Calibri"/>
              </a:rPr>
              <a:t>Прогнозы</a:t>
            </a:r>
            <a:r>
              <a:rPr sz="10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6B7280"/>
                </a:solidFill>
                <a:latin typeface="Calibri"/>
              </a:rPr>
              <a:t>моделей</a:t>
            </a:r>
            <a:r>
              <a:rPr sz="10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6B7280"/>
                </a:solidFill>
                <a:latin typeface="Calibri"/>
              </a:rPr>
              <a:t>на</a:t>
            </a:r>
            <a:r>
              <a:rPr sz="10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6B7280"/>
                </a:solidFill>
                <a:latin typeface="Calibri"/>
              </a:rPr>
              <a:t>ряду</a:t>
            </a:r>
            <a:r>
              <a:rPr sz="1000" b="0" i="1" dirty="0">
                <a:solidFill>
                  <a:srgbClr val="6B7280"/>
                </a:solidFill>
                <a:latin typeface="Calibri"/>
              </a:rPr>
              <a:t> Q214</a:t>
            </a:r>
            <a:r>
              <a:rPr lang="en-US" sz="1000" b="0" i="1" dirty="0">
                <a:solidFill>
                  <a:srgbClr val="6B7280"/>
                </a:solidFill>
                <a:latin typeface="Calibri"/>
              </a:rPr>
              <a:t>7</a:t>
            </a:r>
            <a:r>
              <a:rPr sz="1000" b="0" i="1" dirty="0">
                <a:solidFill>
                  <a:srgbClr val="6B7280"/>
                </a:solidFill>
                <a:latin typeface="Calibri"/>
              </a:rPr>
              <a:t> (H=8, L=16)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4937760"/>
            <a:ext cx="73152" cy="13716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E76F51"/>
                </a:solidFill>
                <a:latin typeface="Calibri"/>
              </a:rPr>
              <a:t>Что видно: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49240"/>
            <a:ext cx="10972800" cy="7027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1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100" dirty="0">
                <a:solidFill>
                  <a:srgbClr val="21295C"/>
                </a:solidFill>
                <a:latin typeface="Calibri"/>
              </a:rPr>
              <a:t>лидер с большим отрывом — </a:t>
            </a:r>
            <a:r>
              <a:rPr lang="en-US" sz="1100" dirty="0">
                <a:solidFill>
                  <a:srgbClr val="21295C"/>
                </a:solidFill>
                <a:latin typeface="Calibri"/>
              </a:rPr>
              <a:t>MODWT + N-BEATS + ETS (</a:t>
            </a:r>
            <a:r>
              <a:rPr lang="en-US" sz="1100" dirty="0" err="1">
                <a:solidFill>
                  <a:srgbClr val="21295C"/>
                </a:solidFill>
                <a:latin typeface="Calibri"/>
              </a:rPr>
              <a:t>sMAPE</a:t>
            </a:r>
            <a:r>
              <a:rPr lang="en-US" sz="1100" dirty="0">
                <a:solidFill>
                  <a:srgbClr val="21295C"/>
                </a:solidFill>
                <a:latin typeface="Calibri"/>
              </a:rPr>
              <a:t> 2.32, RMSE 281)</a:t>
            </a:r>
          </a:p>
          <a:p>
            <a:pPr algn="l">
              <a:spcAft>
                <a:spcPts val="400"/>
              </a:spcAft>
            </a:pPr>
            <a:r>
              <a:rPr lang="en-US" sz="11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ru-RU" sz="1100" dirty="0">
                <a:solidFill>
                  <a:srgbClr val="21295C"/>
                </a:solidFill>
                <a:latin typeface="Calibri"/>
              </a:rPr>
              <a:t>лучшая нейросеть без </a:t>
            </a:r>
            <a:r>
              <a:rPr lang="en-US" sz="1100" dirty="0">
                <a:solidFill>
                  <a:srgbClr val="21295C"/>
                </a:solidFill>
                <a:latin typeface="Calibri"/>
              </a:rPr>
              <a:t>MODWT (N-BEATS) </a:t>
            </a:r>
            <a:r>
              <a:rPr lang="ru-RU" sz="1100" dirty="0">
                <a:solidFill>
                  <a:srgbClr val="21295C"/>
                </a:solidFill>
                <a:latin typeface="Calibri"/>
              </a:rPr>
              <a:t>уступает в ~1.3 раза</a:t>
            </a:r>
          </a:p>
          <a:p>
            <a:pPr algn="l">
              <a:spcAft>
                <a:spcPts val="400"/>
              </a:spcAft>
            </a:pPr>
            <a:r>
              <a:rPr lang="ru-RU" sz="11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en-US" sz="1100" dirty="0">
                <a:solidFill>
                  <a:srgbClr val="21295C"/>
                </a:solidFill>
                <a:latin typeface="Calibri"/>
              </a:rPr>
              <a:t>ARIMA/ETS </a:t>
            </a:r>
            <a:r>
              <a:rPr lang="ru-RU" sz="1100" dirty="0">
                <a:solidFill>
                  <a:srgbClr val="21295C"/>
                </a:solidFill>
                <a:latin typeface="Calibri"/>
              </a:rPr>
              <a:t>дают </a:t>
            </a:r>
            <a:r>
              <a:rPr lang="en-US" sz="1100" dirty="0" err="1">
                <a:solidFill>
                  <a:srgbClr val="21295C"/>
                </a:solidFill>
                <a:latin typeface="Calibri"/>
              </a:rPr>
              <a:t>sMAPE</a:t>
            </a:r>
            <a:r>
              <a:rPr lang="en-US" sz="1100" dirty="0">
                <a:solidFill>
                  <a:srgbClr val="21295C"/>
                </a:solidFill>
                <a:latin typeface="Calibri"/>
              </a:rPr>
              <a:t> 5.3–6.5, Prophet </a:t>
            </a:r>
            <a:r>
              <a:rPr lang="ru-RU" sz="1100" dirty="0">
                <a:solidFill>
                  <a:srgbClr val="21295C"/>
                </a:solidFill>
                <a:latin typeface="Calibri"/>
              </a:rPr>
              <a:t>снова заметно отстаёт</a:t>
            </a:r>
          </a:p>
        </p:txBody>
      </p:sp>
      <p:pic>
        <p:nvPicPr>
          <p:cNvPr id="15" name="Picture 8" descr="quarterly_Q2147.png">
            <a:extLst>
              <a:ext uri="{FF2B5EF4-FFF2-40B4-BE49-F238E27FC236}">
                <a16:creationId xmlns:a16="http://schemas.microsoft.com/office/drawing/2014/main" id="{702C4DBB-6DDF-4A0F-B8F8-CA1EF6EAF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293678"/>
            <a:ext cx="5303520" cy="2272482"/>
          </a:xfrm>
          <a:prstGeom prst="rect">
            <a:avLst/>
          </a:prstGeom>
        </p:spPr>
      </p:pic>
      <p:graphicFrame>
        <p:nvGraphicFramePr>
          <p:cNvPr id="17" name="Table 6">
            <a:extLst>
              <a:ext uri="{FF2B5EF4-FFF2-40B4-BE49-F238E27FC236}">
                <a16:creationId xmlns:a16="http://schemas.microsoft.com/office/drawing/2014/main" id="{4725547B-4A73-47FD-9AC3-59A6241F0B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705522"/>
              </p:ext>
            </p:extLst>
          </p:nvPr>
        </p:nvGraphicFramePr>
        <p:xfrm>
          <a:off x="487679" y="1057049"/>
          <a:ext cx="5956960" cy="379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9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9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7124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Модель</a:t>
                      </a:r>
                      <a:endParaRPr sz="10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sMAPE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MAPE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12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ARIMA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5.92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6.16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678.67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12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ARIMA(auto)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6.51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6.79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734.77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12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ETS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5.37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5.57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624.36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12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Prophet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12.84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12.02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1241.16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12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TimesNet (без MODWT)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21295C"/>
                          </a:solidFill>
                          <a:latin typeface="Calibri"/>
                        </a:rPr>
                        <a:t>5.</a:t>
                      </a:r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0</a:t>
                      </a:r>
                      <a:r>
                        <a:rPr sz="1000" dirty="0">
                          <a:solidFill>
                            <a:srgbClr val="21295C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5</a:t>
                      </a:r>
                      <a:r>
                        <a:rPr sz="1000" dirty="0">
                          <a:solidFill>
                            <a:srgbClr val="21295C"/>
                          </a:solidFill>
                          <a:latin typeface="Calibri"/>
                        </a:rPr>
                        <a:t>.</a:t>
                      </a:r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24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593.21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12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N-BEATS (без MODWT)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3.06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21295C"/>
                          </a:solidFill>
                          <a:latin typeface="Calibri"/>
                        </a:rPr>
                        <a:t>3.</a:t>
                      </a:r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10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420</a:t>
                      </a:r>
                      <a:r>
                        <a:rPr sz="1000" dirty="0">
                          <a:solidFill>
                            <a:srgbClr val="21295C"/>
                          </a:solidFill>
                          <a:latin typeface="Calibri"/>
                        </a:rPr>
                        <a:t>.7</a:t>
                      </a:r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9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283"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E76F51"/>
                          </a:solidFill>
                          <a:latin typeface="Calibri"/>
                        </a:rPr>
                        <a:t>MODWT + </a:t>
                      </a: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Calibri"/>
                        </a:rPr>
                        <a:t>N-BEATS</a:t>
                      </a:r>
                      <a:r>
                        <a:rPr sz="1000" b="1" dirty="0">
                          <a:solidFill>
                            <a:srgbClr val="E76F51"/>
                          </a:solidFill>
                          <a:latin typeface="Calibri"/>
                        </a:rPr>
                        <a:t> + </a:t>
                      </a: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Calibri"/>
                        </a:rPr>
                        <a:t>ETS</a:t>
                      </a:r>
                      <a:endParaRPr sz="1000" b="1" dirty="0">
                        <a:solidFill>
                          <a:srgbClr val="E76F51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Calibri"/>
                        </a:rPr>
                        <a:t>2</a:t>
                      </a:r>
                      <a:r>
                        <a:rPr sz="1000" b="1" dirty="0">
                          <a:solidFill>
                            <a:srgbClr val="E76F51"/>
                          </a:solidFill>
                          <a:latin typeface="Calibri"/>
                        </a:rPr>
                        <a:t>.</a:t>
                      </a: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Calibri"/>
                        </a:rPr>
                        <a:t>3</a:t>
                      </a:r>
                      <a:r>
                        <a:rPr sz="1000" b="1" dirty="0">
                          <a:solidFill>
                            <a:srgbClr val="E76F5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Calibri"/>
                        </a:rPr>
                        <a:t>2</a:t>
                      </a:r>
                      <a:r>
                        <a:rPr sz="1000" b="1" dirty="0">
                          <a:solidFill>
                            <a:srgbClr val="E76F51"/>
                          </a:solidFill>
                          <a:latin typeface="Calibri"/>
                        </a:rPr>
                        <a:t>.</a:t>
                      </a: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Calibri"/>
                        </a:rPr>
                        <a:t>33</a:t>
                      </a:r>
                      <a:endParaRPr sz="1000" b="1" dirty="0">
                        <a:solidFill>
                          <a:srgbClr val="E76F51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Calibri"/>
                        </a:rPr>
                        <a:t>281</a:t>
                      </a:r>
                      <a:r>
                        <a:rPr sz="1000" b="1" dirty="0">
                          <a:solidFill>
                            <a:srgbClr val="E76F51"/>
                          </a:solidFill>
                          <a:latin typeface="Calibri"/>
                        </a:rPr>
                        <a:t>.</a:t>
                      </a: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Calibri"/>
                        </a:rPr>
                        <a:t>41</a:t>
                      </a:r>
                      <a:endParaRPr sz="1000" b="1" dirty="0">
                        <a:solidFill>
                          <a:srgbClr val="E76F51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124"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21295C"/>
                          </a:solidFill>
                          <a:latin typeface="+mn-lt"/>
                        </a:rPr>
                        <a:t>MODWT + N-BEATS + ARIMA(auto)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4</a:t>
                      </a:r>
                      <a:r>
                        <a:rPr sz="1000" dirty="0">
                          <a:solidFill>
                            <a:srgbClr val="21295C"/>
                          </a:solidFill>
                          <a:latin typeface="Calibri"/>
                        </a:rPr>
                        <a:t>.</a:t>
                      </a:r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49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4</a:t>
                      </a:r>
                      <a:r>
                        <a:rPr sz="1000" dirty="0">
                          <a:solidFill>
                            <a:srgbClr val="21295C"/>
                          </a:solidFill>
                          <a:latin typeface="Calibri"/>
                        </a:rPr>
                        <a:t>.</a:t>
                      </a:r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41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502.32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28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21295C"/>
                          </a:solidFill>
                          <a:latin typeface="+mn-lt"/>
                        </a:rPr>
                        <a:t>MODWT + </a:t>
                      </a:r>
                      <a:r>
                        <a:rPr lang="en-US" sz="1000" dirty="0" err="1">
                          <a:solidFill>
                            <a:srgbClr val="21295C"/>
                          </a:solidFill>
                          <a:latin typeface="+mn-lt"/>
                        </a:rPr>
                        <a:t>TimesNet</a:t>
                      </a:r>
                      <a:r>
                        <a:rPr lang="en-US" sz="1000" dirty="0">
                          <a:solidFill>
                            <a:srgbClr val="21295C"/>
                          </a:solidFill>
                          <a:latin typeface="+mn-lt"/>
                        </a:rPr>
                        <a:t> + ETS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4</a:t>
                      </a:r>
                      <a:r>
                        <a:rPr sz="1000" dirty="0">
                          <a:solidFill>
                            <a:srgbClr val="21295C"/>
                          </a:solidFill>
                          <a:latin typeface="Calibri"/>
                        </a:rPr>
                        <a:t>.</a:t>
                      </a:r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45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4</a:t>
                      </a:r>
                      <a:r>
                        <a:rPr sz="1000" dirty="0">
                          <a:solidFill>
                            <a:srgbClr val="21295C"/>
                          </a:solidFill>
                          <a:latin typeface="Calibri"/>
                        </a:rPr>
                        <a:t>.</a:t>
                      </a:r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36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499</a:t>
                      </a:r>
                      <a:r>
                        <a:rPr sz="1000" dirty="0">
                          <a:solidFill>
                            <a:srgbClr val="21295C"/>
                          </a:solidFill>
                          <a:latin typeface="Calibri"/>
                        </a:rPr>
                        <a:t>.</a:t>
                      </a:r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80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712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21295C"/>
                          </a:solidFill>
                          <a:latin typeface="+mn-lt"/>
                        </a:rPr>
                        <a:t>MODWT + </a:t>
                      </a:r>
                      <a:r>
                        <a:rPr lang="en-US" sz="1000" dirty="0" err="1">
                          <a:solidFill>
                            <a:srgbClr val="21295C"/>
                          </a:solidFill>
                          <a:latin typeface="+mn-lt"/>
                        </a:rPr>
                        <a:t>TimesNet</a:t>
                      </a:r>
                      <a:r>
                        <a:rPr lang="en-US" sz="1000" dirty="0">
                          <a:solidFill>
                            <a:srgbClr val="21295C"/>
                          </a:solidFill>
                          <a:latin typeface="+mn-lt"/>
                        </a:rPr>
                        <a:t> + ARIMA(auto)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4</a:t>
                      </a:r>
                      <a:r>
                        <a:rPr sz="1000" dirty="0">
                          <a:solidFill>
                            <a:srgbClr val="21295C"/>
                          </a:solidFill>
                          <a:latin typeface="Calibri"/>
                        </a:rPr>
                        <a:t>.</a:t>
                      </a:r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49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21295C"/>
                          </a:solidFill>
                          <a:latin typeface="Calibri"/>
                        </a:rPr>
                        <a:t>4.</a:t>
                      </a:r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41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502</a:t>
                      </a:r>
                      <a:r>
                        <a:rPr sz="1000" dirty="0">
                          <a:solidFill>
                            <a:srgbClr val="21295C"/>
                          </a:solidFill>
                          <a:latin typeface="Calibri"/>
                        </a:rPr>
                        <a:t>.</a:t>
                      </a:r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/>
                        </a:rPr>
                        <a:t>32</a:t>
                      </a:r>
                      <a:endParaRPr sz="10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9757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M4: годовая частотность (500 рядов)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Короткие ряды — преимущество классики и осторожности с гибридами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lang="en-US" sz="1000" dirty="0">
                <a:solidFill>
                  <a:srgbClr val="6B7280"/>
                </a:solidFill>
                <a:latin typeface="Calibri"/>
              </a:rPr>
              <a:t>19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7772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Модель</a:t>
                      </a:r>
                      <a:endParaRPr sz="10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sMAPE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MAPE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ARIMA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14.66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17.63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812.07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ARIMA(auto)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14.77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18.01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828.43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ETS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17.77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22.64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909.61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Prophet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22.44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35.47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1384.24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TimesNet (без MODWT)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15.68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17.48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1002.51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N-BEATS (без MODWT)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26.55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31.02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1670.70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76F51"/>
                          </a:solidFill>
                          <a:latin typeface="Calibri"/>
                        </a:rPr>
                        <a:t>MODWT + TimesNet + ARIMA(auto)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76F51"/>
                          </a:solidFill>
                          <a:latin typeface="Calibri"/>
                        </a:rPr>
                        <a:t>13.52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76F51"/>
                          </a:solidFill>
                          <a:latin typeface="Calibri"/>
                        </a:rPr>
                        <a:t>15.00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76F51"/>
                          </a:solidFill>
                          <a:latin typeface="Calibri"/>
                        </a:rPr>
                        <a:t>764.00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MODWT + TimesNet + ETS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16.86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19.93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1048.35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MODWT + N-BEATS + ARIMA(auto)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22.72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27.85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1360.15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MODWT + N-BEATS + ETS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20.90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24.97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21295C"/>
                          </a:solidFill>
                          <a:latin typeface="Calibri"/>
                        </a:rPr>
                        <a:t>1275.73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412480" y="1188720"/>
            <a:ext cx="3383280" cy="4572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12480" y="1188720"/>
            <a:ext cx="338328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49640" y="123444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Наблюдения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691640"/>
            <a:ext cx="3200400" cy="14157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dirty="0">
                <a:solidFill>
                  <a:srgbClr val="065A82"/>
                </a:solidFill>
                <a:latin typeface="Calibri"/>
              </a:rPr>
              <a:t>▪ 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лучший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— </a:t>
            </a:r>
            <a:r>
              <a:rPr lang="en-US" sz="1100" dirty="0">
                <a:solidFill>
                  <a:srgbClr val="21295C"/>
                </a:solidFill>
                <a:latin typeface="Calibri"/>
              </a:rPr>
              <a:t>MOD</a:t>
            </a:r>
            <a:r>
              <a:rPr sz="1100" dirty="0">
                <a:solidFill>
                  <a:srgbClr val="21295C"/>
                </a:solidFill>
                <a:latin typeface="Calibri"/>
              </a:rPr>
              <a:t>W</a:t>
            </a:r>
            <a:r>
              <a:rPr lang="en-US" sz="1100" dirty="0">
                <a:solidFill>
                  <a:srgbClr val="21295C"/>
                </a:solidFill>
                <a:latin typeface="Calibri"/>
              </a:rPr>
              <a:t>T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+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TimesNet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+ ARIMA(auto)</a:t>
            </a:r>
          </a:p>
          <a:p>
            <a:pPr algn="l">
              <a:spcAft>
                <a:spcPts val="600"/>
              </a:spcAft>
            </a:pPr>
            <a:r>
              <a:rPr sz="1100" b="1" dirty="0">
                <a:solidFill>
                  <a:srgbClr val="065A82"/>
                </a:solidFill>
                <a:latin typeface="Calibri"/>
              </a:rPr>
              <a:t>▪ 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ряды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короткие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—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нейросети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не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успевают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обучиться</a:t>
            </a:r>
            <a:endParaRPr sz="1100" dirty="0">
              <a:solidFill>
                <a:srgbClr val="21295C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100" b="1" dirty="0">
                <a:solidFill>
                  <a:srgbClr val="065A82"/>
                </a:solidFill>
                <a:latin typeface="Calibri"/>
              </a:rPr>
              <a:t>▪  </a:t>
            </a:r>
            <a:r>
              <a:rPr sz="1100" dirty="0">
                <a:solidFill>
                  <a:srgbClr val="21295C"/>
                </a:solidFill>
                <a:latin typeface="Calibri"/>
              </a:rPr>
              <a:t>ARIMA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конкурентоспособна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по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всем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метрикам</a:t>
            </a:r>
            <a:endParaRPr sz="1100" dirty="0">
              <a:solidFill>
                <a:srgbClr val="21295C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100" b="1" dirty="0">
                <a:solidFill>
                  <a:srgbClr val="065A82"/>
                </a:solidFill>
                <a:latin typeface="Calibri"/>
              </a:rPr>
              <a:t>▪  </a:t>
            </a:r>
            <a:r>
              <a:rPr sz="1100" dirty="0">
                <a:solidFill>
                  <a:srgbClr val="21295C"/>
                </a:solidFill>
                <a:latin typeface="Calibri"/>
              </a:rPr>
              <a:t>N-BEATS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без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MODWT —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самый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слабый</a:t>
            </a:r>
            <a:endParaRPr sz="1100" dirty="0">
              <a:solidFill>
                <a:srgbClr val="21295C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100" b="1" dirty="0">
                <a:solidFill>
                  <a:srgbClr val="065A82"/>
                </a:solidFill>
                <a:latin typeface="Calibri"/>
              </a:rPr>
              <a:t>▪ 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относительный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выигрыш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гибрида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~8%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по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sMAPE</a:t>
            </a:r>
            <a:endParaRPr sz="1100" dirty="0">
              <a:solidFill>
                <a:srgbClr val="21295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M4: квартальная частотность (500 рядов)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Промежуточный случай — лидерство ETS, гибриды близки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2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0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7772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Модель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sMAPE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MAPE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ARIMA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14.39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19.54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538.91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ARIMA(auto)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14.02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19.59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519.91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76F51"/>
                          </a:solidFill>
                          <a:latin typeface="Calibri"/>
                        </a:rPr>
                        <a:t>ETS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76F51"/>
                          </a:solidFill>
                          <a:latin typeface="Calibri"/>
                        </a:rPr>
                        <a:t>13.15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76F51"/>
                          </a:solidFill>
                          <a:latin typeface="Calibri"/>
                        </a:rPr>
                        <a:t>15.34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76F51"/>
                          </a:solidFill>
                          <a:latin typeface="Calibri"/>
                        </a:rPr>
                        <a:t>505.15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Prophet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30.97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134.20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1104.47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TimesNet (без MODWT)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14.87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30.14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463.86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N-BEATS (без MODWT)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16.49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24.99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599.85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MODWT + TimesNet + ARIMA(auto)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15.60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24.73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570.47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MODWT + TimesNet + ETS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13.70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21.98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570.98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MODWT + N-BEATS + ARIMA(auto)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15.85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22.13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848.81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MODWT + N-BEATS + ETS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16.20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23.46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872.35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412480" y="1188720"/>
            <a:ext cx="3383280" cy="4572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12480" y="1188720"/>
            <a:ext cx="338328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49640" y="123444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Наблюдения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691640"/>
            <a:ext cx="320040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C7293"/>
                </a:solidFill>
                <a:latin typeface="Calibri"/>
              </a:rPr>
              <a:t>▪  </a:t>
            </a:r>
            <a:r>
              <a:rPr sz="1100">
                <a:solidFill>
                  <a:srgbClr val="21295C"/>
                </a:solidFill>
                <a:latin typeface="Calibri"/>
              </a:rPr>
              <a:t>относит. метрики: ETS впереди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C7293"/>
                </a:solidFill>
                <a:latin typeface="Calibri"/>
              </a:rPr>
              <a:t>▪  </a:t>
            </a:r>
            <a:r>
              <a:rPr sz="1100">
                <a:solidFill>
                  <a:srgbClr val="21295C"/>
                </a:solidFill>
                <a:latin typeface="Calibri"/>
              </a:rPr>
              <a:t>абсолютная RMSE: TimesNet (чистый)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C7293"/>
                </a:solidFill>
                <a:latin typeface="Calibri"/>
              </a:rPr>
              <a:t>▪  </a:t>
            </a:r>
            <a:r>
              <a:rPr sz="1100">
                <a:solidFill>
                  <a:srgbClr val="21295C"/>
                </a:solidFill>
                <a:latin typeface="Calibri"/>
              </a:rPr>
              <a:t>гладкая динамика + слабая сезонность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C7293"/>
                </a:solidFill>
                <a:latin typeface="Calibri"/>
              </a:rPr>
              <a:t>▪  </a:t>
            </a:r>
            <a:r>
              <a:rPr sz="1100">
                <a:solidFill>
                  <a:srgbClr val="21295C"/>
                </a:solidFill>
                <a:latin typeface="Calibri"/>
              </a:rPr>
              <a:t>гибриды отстают незначительно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C7293"/>
                </a:solidFill>
                <a:latin typeface="Calibri"/>
              </a:rPr>
              <a:t>▪  </a:t>
            </a:r>
            <a:r>
              <a:rPr sz="1100">
                <a:solidFill>
                  <a:srgbClr val="21295C"/>
                </a:solidFill>
                <a:latin typeface="Calibri"/>
              </a:rPr>
              <a:t>сложность гибридов не окупается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M4: дневная частотность (500 рядов) — главный результат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Где разложение работает лучше всего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2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1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7772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Модель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sMAPE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MAPE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ARIMA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3.10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3.00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170.19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ARIMA(auto)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3.08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2.98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168.26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ETS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3.09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2.99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165.87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Prophet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12.46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16.54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963.78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TimesNet (без MODWT)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3.81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3.64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185.84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N-BEATS (без MODWT)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3.90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3.80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236.41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MODWT + TimesNet + ARIMA(auto)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2.13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2.15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128.94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76F51"/>
                          </a:solidFill>
                          <a:latin typeface="Calibri"/>
                        </a:rPr>
                        <a:t>MODWT + TimesNet + ETS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76F51"/>
                          </a:solidFill>
                          <a:latin typeface="Calibri"/>
                        </a:rPr>
                        <a:t>2.05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76F51"/>
                          </a:solidFill>
                          <a:latin typeface="Calibri"/>
                        </a:rPr>
                        <a:t>2.06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76F51"/>
                          </a:solidFill>
                          <a:latin typeface="Calibri"/>
                        </a:rPr>
                        <a:t>111.61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MODWT + N-BEATS + ARIMA(auto)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2.67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2.63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169.99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MODWT + N-BEATS + ETS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2.70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2.66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168.89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412480" y="1188720"/>
            <a:ext cx="3383280" cy="4572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12480" y="1188720"/>
            <a:ext cx="3383280" cy="41148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49640" y="123444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Главный результат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691640"/>
            <a:ext cx="3200400" cy="124649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lang="en-US" sz="1100" dirty="0">
                <a:solidFill>
                  <a:srgbClr val="21295C"/>
                </a:solidFill>
                <a:latin typeface="Calibri"/>
              </a:rPr>
              <a:t>MODWT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+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TimesNet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+ ETS —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лучший</a:t>
            </a:r>
            <a:endParaRPr sz="1100" dirty="0">
              <a:solidFill>
                <a:srgbClr val="21295C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1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sMAPE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снижается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с 3.08 → 2.05 (≈ ×1.5)</a:t>
            </a:r>
          </a:p>
          <a:p>
            <a:pPr algn="l">
              <a:spcAft>
                <a:spcPts val="600"/>
              </a:spcAft>
            </a:pPr>
            <a:r>
              <a:rPr sz="11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100" dirty="0">
                <a:solidFill>
                  <a:srgbClr val="21295C"/>
                </a:solidFill>
                <a:latin typeface="Calibri"/>
              </a:rPr>
              <a:t>RMSE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снижается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на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~33%</a:t>
            </a:r>
          </a:p>
          <a:p>
            <a:pPr algn="l">
              <a:spcAft>
                <a:spcPts val="600"/>
              </a:spcAft>
            </a:pPr>
            <a:r>
              <a:rPr sz="11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выигрыш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на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всех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метриках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одновременно</a:t>
            </a:r>
            <a:endParaRPr sz="1100" dirty="0">
              <a:solidFill>
                <a:srgbClr val="21295C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1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тренд</a:t>
            </a:r>
            <a:r>
              <a:rPr sz="1100" dirty="0">
                <a:solidFill>
                  <a:srgbClr val="21295C"/>
                </a:solidFill>
                <a:latin typeface="Calibri"/>
              </a:rPr>
              <a:t>,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календарные</a:t>
            </a:r>
            <a:r>
              <a:rPr sz="1100" dirty="0">
                <a:solidFill>
                  <a:srgbClr val="21295C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эффекты</a:t>
            </a:r>
            <a:r>
              <a:rPr sz="1100" dirty="0">
                <a:solidFill>
                  <a:srgbClr val="21295C"/>
                </a:solidFill>
                <a:latin typeface="Calibri"/>
              </a:rPr>
              <a:t>, </a:t>
            </a:r>
            <a:r>
              <a:rPr sz="1100" dirty="0" err="1">
                <a:solidFill>
                  <a:srgbClr val="21295C"/>
                </a:solidFill>
                <a:latin typeface="Calibri"/>
              </a:rPr>
              <a:t>шум</a:t>
            </a:r>
            <a:endParaRPr sz="1100" dirty="0">
              <a:solidFill>
                <a:srgbClr val="21295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Гипотеза MODWT &gt; STL: проверка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ru-RU" sz="1400" b="0" i="1" dirty="0">
                <a:solidFill>
                  <a:srgbClr val="1C7293"/>
                </a:solidFill>
                <a:latin typeface="Calibri"/>
              </a:rPr>
              <a:t>Многопериодная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сезонность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с </a:t>
            </a:r>
            <a:r>
              <a:rPr lang="ru-RU" sz="1400" b="0" i="1" dirty="0">
                <a:solidFill>
                  <a:srgbClr val="1C7293"/>
                </a:solidFill>
                <a:latin typeface="Calibri"/>
              </a:rPr>
              <a:t>НОК =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60</a:t>
            </a:r>
            <a:r>
              <a:rPr lang="ru-RU" sz="1400" b="0" i="1" dirty="0">
                <a:solidFill>
                  <a:srgbClr val="1C7293"/>
                </a:solidFill>
                <a:latin typeface="Calibri"/>
              </a:rPr>
              <a:t> (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500 </a:t>
            </a:r>
            <a:r>
              <a:rPr lang="ru-RU" sz="1400" b="0" i="1" dirty="0">
                <a:solidFill>
                  <a:srgbClr val="1C7293"/>
                </a:solidFill>
                <a:latin typeface="Calibri"/>
              </a:rPr>
              <a:t>синтетических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рядов</a:t>
            </a:r>
            <a:r>
              <a:rPr lang="ru-RU" sz="1400" b="0" i="1" dirty="0">
                <a:solidFill>
                  <a:srgbClr val="1C7293"/>
                </a:solidFill>
                <a:latin typeface="Calibri"/>
              </a:rPr>
              <a:t> с меняющимся шумом)</a:t>
            </a:r>
            <a:endParaRPr sz="1400" b="0" i="1" dirty="0">
              <a:solidFill>
                <a:srgbClr val="1C729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2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2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466484"/>
              </p:ext>
            </p:extLst>
          </p:nvPr>
        </p:nvGraphicFramePr>
        <p:xfrm>
          <a:off x="457200" y="1188720"/>
          <a:ext cx="77724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Модель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sMAPE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MAPE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900" dirty="0" err="1">
                          <a:solidFill>
                            <a:srgbClr val="21295C"/>
                          </a:solidFill>
                          <a:latin typeface="Calibri"/>
                        </a:rPr>
                        <a:t>TimesNet</a:t>
                      </a:r>
                      <a:r>
                        <a:rPr lang="en-US" sz="900" dirty="0">
                          <a:solidFill>
                            <a:srgbClr val="21295C"/>
                          </a:solidFill>
                          <a:latin typeface="Calibri"/>
                        </a:rPr>
                        <a:t>+</a:t>
                      </a:r>
                      <a:endParaRPr sz="9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7.49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7.54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900" dirty="0">
                          <a:solidFill>
                            <a:srgbClr val="21295C"/>
                          </a:solidFill>
                          <a:latin typeface="Calibri"/>
                        </a:rPr>
                        <a:t>N-BEATS</a:t>
                      </a:r>
                      <a:r>
                        <a:rPr lang="en-US" sz="900" dirty="0">
                          <a:solidFill>
                            <a:srgbClr val="21295C"/>
                          </a:solidFill>
                          <a:latin typeface="Calibri"/>
                        </a:rPr>
                        <a:t> Full</a:t>
                      </a:r>
                      <a:endParaRPr sz="900" dirty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7.58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7.64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MODWT + TimesNet + ARIMA(auto)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6.65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7.02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0.84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MODWT + N-BEATS + ARIMA(auto)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6.96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7.34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MODWT + TimesNet + ETS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7.15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7.49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E76F51"/>
                          </a:solidFill>
                          <a:latin typeface="Calibri"/>
                        </a:rPr>
                        <a:t>MODWT + N-BEATS + ETS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76F51"/>
                          </a:solidFill>
                          <a:latin typeface="Calibri"/>
                        </a:rPr>
                        <a:t>6.63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76F51"/>
                          </a:solidFill>
                          <a:latin typeface="Calibri"/>
                        </a:rPr>
                        <a:t>6.98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76F51"/>
                          </a:solidFill>
                          <a:latin typeface="Calibri"/>
                        </a:rPr>
                        <a:t>0.82</a:t>
                      </a:r>
                    </a:p>
                  </a:txBody>
                  <a:tcPr marL="54864" marR="54864" marT="27432" marB="27432">
                    <a:solidFill>
                      <a:srgbClr val="FD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STL + TimesNet + ARIMA(auto)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7.53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7.52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STL + N-BEATS + ARIMA(auto)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9.00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8.58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STL + TimesNet + ETS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8.94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8.51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0.99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STL + N-BEATS + ETS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9.10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8.65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1.01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ARIMA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17.99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16.54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2.06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ETS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12.79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12.23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1.43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617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Prophet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13.68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14.24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21295C"/>
                          </a:solidFill>
                          <a:latin typeface="Calibri"/>
                        </a:rPr>
                        <a:t>1.64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412480" y="1188720"/>
            <a:ext cx="3383280" cy="48463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12480" y="1188720"/>
            <a:ext cx="3383280" cy="41148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49640" y="123444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Гипотеза подтверждена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691640"/>
            <a:ext cx="3200400" cy="137473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000" dirty="0">
                <a:solidFill>
                  <a:srgbClr val="21295C"/>
                </a:solidFill>
                <a:latin typeface="Calibri"/>
              </a:rPr>
              <a:t>MODWT-</a:t>
            </a:r>
            <a:r>
              <a:rPr sz="1000" dirty="0" err="1">
                <a:solidFill>
                  <a:srgbClr val="21295C"/>
                </a:solidFill>
                <a:latin typeface="Calibri"/>
              </a:rPr>
              <a:t>гибриды</a:t>
            </a:r>
            <a:r>
              <a:rPr sz="1000" dirty="0">
                <a:solidFill>
                  <a:srgbClr val="21295C"/>
                </a:solidFill>
                <a:latin typeface="Calibri"/>
              </a:rPr>
              <a:t> </a:t>
            </a:r>
            <a:r>
              <a:rPr sz="1000" dirty="0" err="1">
                <a:solidFill>
                  <a:srgbClr val="21295C"/>
                </a:solidFill>
                <a:latin typeface="Calibri"/>
              </a:rPr>
              <a:t>стабильно</a:t>
            </a:r>
            <a:r>
              <a:rPr sz="1000" dirty="0">
                <a:solidFill>
                  <a:srgbClr val="21295C"/>
                </a:solidFill>
                <a:latin typeface="Calibri"/>
              </a:rPr>
              <a:t> </a:t>
            </a:r>
            <a:r>
              <a:rPr sz="1000" dirty="0" err="1">
                <a:solidFill>
                  <a:srgbClr val="21295C"/>
                </a:solidFill>
                <a:latin typeface="Calibri"/>
              </a:rPr>
              <a:t>лучше</a:t>
            </a:r>
            <a:r>
              <a:rPr sz="1000" dirty="0">
                <a:solidFill>
                  <a:srgbClr val="21295C"/>
                </a:solidFill>
                <a:latin typeface="Calibri"/>
              </a:rPr>
              <a:t> STL</a:t>
            </a:r>
          </a:p>
          <a:p>
            <a:pPr algn="l">
              <a:spcAft>
                <a:spcPts val="400"/>
              </a:spcAft>
            </a:pPr>
            <a:r>
              <a:rPr sz="10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000" dirty="0" err="1">
                <a:solidFill>
                  <a:srgbClr val="21295C"/>
                </a:solidFill>
                <a:latin typeface="Calibri"/>
              </a:rPr>
              <a:t>лидер</a:t>
            </a:r>
            <a:r>
              <a:rPr sz="1000" dirty="0">
                <a:solidFill>
                  <a:srgbClr val="21295C"/>
                </a:solidFill>
                <a:latin typeface="Calibri"/>
              </a:rPr>
              <a:t>: </a:t>
            </a:r>
            <a:r>
              <a:rPr lang="en-US" sz="1000" dirty="0">
                <a:solidFill>
                  <a:srgbClr val="21295C"/>
                </a:solidFill>
                <a:latin typeface="Calibri"/>
              </a:rPr>
              <a:t>MOD</a:t>
            </a:r>
            <a:r>
              <a:rPr sz="1000" dirty="0">
                <a:solidFill>
                  <a:srgbClr val="21295C"/>
                </a:solidFill>
                <a:latin typeface="Calibri"/>
              </a:rPr>
              <a:t>W</a:t>
            </a:r>
            <a:r>
              <a:rPr lang="en-US" sz="1000" dirty="0">
                <a:solidFill>
                  <a:srgbClr val="21295C"/>
                </a:solidFill>
                <a:latin typeface="Calibri"/>
              </a:rPr>
              <a:t>T</a:t>
            </a:r>
            <a:r>
              <a:rPr sz="1000" dirty="0">
                <a:solidFill>
                  <a:srgbClr val="21295C"/>
                </a:solidFill>
                <a:latin typeface="Calibri"/>
              </a:rPr>
              <a:t> + N-BEATS + ETS</a:t>
            </a:r>
          </a:p>
          <a:p>
            <a:pPr algn="l">
              <a:spcAft>
                <a:spcPts val="400"/>
              </a:spcAft>
            </a:pPr>
            <a:r>
              <a:rPr sz="10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000" dirty="0">
                <a:solidFill>
                  <a:srgbClr val="21295C"/>
                </a:solidFill>
                <a:latin typeface="Calibri"/>
              </a:rPr>
              <a:t>STL-</a:t>
            </a:r>
            <a:r>
              <a:rPr sz="1000" dirty="0" err="1">
                <a:solidFill>
                  <a:srgbClr val="21295C"/>
                </a:solidFill>
                <a:latin typeface="Calibri"/>
              </a:rPr>
              <a:t>гибриды</a:t>
            </a:r>
            <a:r>
              <a:rPr sz="1000" dirty="0">
                <a:solidFill>
                  <a:srgbClr val="21295C"/>
                </a:solidFill>
                <a:latin typeface="Calibri"/>
              </a:rPr>
              <a:t> (7.5–9.1) </a:t>
            </a:r>
            <a:r>
              <a:rPr sz="1000" dirty="0" err="1">
                <a:solidFill>
                  <a:srgbClr val="21295C"/>
                </a:solidFill>
                <a:latin typeface="Calibri"/>
              </a:rPr>
              <a:t>уступают</a:t>
            </a:r>
            <a:r>
              <a:rPr sz="1000" dirty="0">
                <a:solidFill>
                  <a:srgbClr val="21295C"/>
                </a:solidFill>
                <a:latin typeface="Calibri"/>
              </a:rPr>
              <a:t> MODWT (6.6–7.2)</a:t>
            </a:r>
          </a:p>
          <a:p>
            <a:pPr algn="l">
              <a:spcAft>
                <a:spcPts val="400"/>
              </a:spcAft>
            </a:pPr>
            <a:r>
              <a:rPr sz="10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000" dirty="0" err="1">
                <a:solidFill>
                  <a:srgbClr val="21295C"/>
                </a:solidFill>
                <a:latin typeface="Calibri"/>
              </a:rPr>
              <a:t>при</a:t>
            </a:r>
            <a:r>
              <a:rPr sz="1000" dirty="0">
                <a:solidFill>
                  <a:srgbClr val="21295C"/>
                </a:solidFill>
                <a:latin typeface="Calibri"/>
              </a:rPr>
              <a:t> НОК = 105: </a:t>
            </a:r>
            <a:r>
              <a:rPr sz="1000" dirty="0" err="1">
                <a:solidFill>
                  <a:srgbClr val="21295C"/>
                </a:solidFill>
                <a:latin typeface="Calibri"/>
              </a:rPr>
              <a:t>разрыв</a:t>
            </a:r>
            <a:r>
              <a:rPr sz="1000" dirty="0">
                <a:solidFill>
                  <a:srgbClr val="21295C"/>
                </a:solidFill>
                <a:latin typeface="Calibri"/>
              </a:rPr>
              <a:t> </a:t>
            </a:r>
            <a:r>
              <a:rPr sz="1000" dirty="0" err="1">
                <a:solidFill>
                  <a:srgbClr val="21295C"/>
                </a:solidFill>
                <a:latin typeface="Calibri"/>
              </a:rPr>
              <a:t>до</a:t>
            </a:r>
            <a:r>
              <a:rPr sz="1000" dirty="0">
                <a:solidFill>
                  <a:srgbClr val="21295C"/>
                </a:solidFill>
                <a:latin typeface="Calibri"/>
              </a:rPr>
              <a:t> 2.2 </a:t>
            </a:r>
            <a:r>
              <a:rPr sz="1000" dirty="0" err="1">
                <a:solidFill>
                  <a:srgbClr val="21295C"/>
                </a:solidFill>
                <a:latin typeface="Calibri"/>
              </a:rPr>
              <a:t>пункта</a:t>
            </a:r>
            <a:r>
              <a:rPr sz="1000" dirty="0">
                <a:solidFill>
                  <a:srgbClr val="21295C"/>
                </a:solidFill>
                <a:latin typeface="Calibri"/>
              </a:rPr>
              <a:t> </a:t>
            </a:r>
            <a:r>
              <a:rPr sz="1000" dirty="0" err="1">
                <a:solidFill>
                  <a:srgbClr val="21295C"/>
                </a:solidFill>
                <a:latin typeface="Calibri"/>
              </a:rPr>
              <a:t>sMAPE</a:t>
            </a:r>
            <a:r>
              <a:rPr lang="ru-RU" sz="1000" dirty="0">
                <a:solidFill>
                  <a:srgbClr val="21295C"/>
                </a:solidFill>
                <a:latin typeface="Calibri"/>
              </a:rPr>
              <a:t> (для НОК = 105 результат приведен в тексте ВКР; здесь показан профиль НОК = 60)</a:t>
            </a:r>
            <a:endParaRPr sz="1000" dirty="0">
              <a:solidFill>
                <a:srgbClr val="21295C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000" b="1" dirty="0">
                <a:solidFill>
                  <a:srgbClr val="E76F51"/>
                </a:solidFill>
                <a:latin typeface="Calibri"/>
              </a:rPr>
              <a:t>▪  </a:t>
            </a:r>
            <a:r>
              <a:rPr sz="1000" dirty="0">
                <a:solidFill>
                  <a:srgbClr val="21295C"/>
                </a:solidFill>
                <a:latin typeface="Calibri"/>
              </a:rPr>
              <a:t>MSE у STL </a:t>
            </a:r>
            <a:r>
              <a:rPr sz="1000" dirty="0" err="1">
                <a:solidFill>
                  <a:srgbClr val="21295C"/>
                </a:solidFill>
                <a:latin typeface="Calibri"/>
              </a:rPr>
              <a:t>почти</a:t>
            </a:r>
            <a:r>
              <a:rPr sz="1000" dirty="0">
                <a:solidFill>
                  <a:srgbClr val="21295C"/>
                </a:solidFill>
                <a:latin typeface="Calibri"/>
              </a:rPr>
              <a:t> </a:t>
            </a:r>
            <a:r>
              <a:rPr sz="1000" dirty="0" err="1">
                <a:solidFill>
                  <a:srgbClr val="21295C"/>
                </a:solidFill>
                <a:latin typeface="Calibri"/>
              </a:rPr>
              <a:t>вдвое</a:t>
            </a:r>
            <a:r>
              <a:rPr sz="1000" dirty="0">
                <a:solidFill>
                  <a:srgbClr val="21295C"/>
                </a:solidFill>
                <a:latin typeface="Calibri"/>
              </a:rPr>
              <a:t> </a:t>
            </a:r>
            <a:r>
              <a:rPr sz="1000" dirty="0" err="1">
                <a:solidFill>
                  <a:srgbClr val="21295C"/>
                </a:solidFill>
                <a:latin typeface="Calibri"/>
              </a:rPr>
              <a:t>выше</a:t>
            </a:r>
            <a:endParaRPr sz="1000" dirty="0">
              <a:solidFill>
                <a:srgbClr val="21295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Компонентные прогнозы: MODWT vs STL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 dirty="0" err="1">
                <a:solidFill>
                  <a:srgbClr val="1C7293"/>
                </a:solidFill>
                <a:latin typeface="Calibri"/>
              </a:rPr>
              <a:t>Ряд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со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сложной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сезонностью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(НОК = 60, p₁ = 12, p₂ = 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2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3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669280" cy="3657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57200" y="1232588"/>
                <a:ext cx="5669280" cy="278025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ctr">
                <a:spAutoFit/>
              </a:bodyPr>
              <a:lstStyle/>
              <a:p>
                <a:pPr algn="ctr"/>
                <a:r>
                  <a:rPr lang="en-US" sz="1300" b="1" i="0" dirty="0">
                    <a:solidFill>
                      <a:srgbClr val="FFFFFF"/>
                    </a:solidFill>
                    <a:latin typeface="Calibri"/>
                  </a:rPr>
                  <a:t>MODWT-</a:t>
                </a:r>
                <a:r>
                  <a:rPr lang="ru-RU" sz="1300" b="1" i="0" dirty="0" err="1">
                    <a:solidFill>
                      <a:srgbClr val="FFFFFF"/>
                    </a:solidFill>
                    <a:latin typeface="Calibri"/>
                  </a:rPr>
                  <a:t>разложение</a:t>
                </a:r>
                <a:r>
                  <a:rPr lang="ru-RU" sz="1300" b="1" i="0" dirty="0">
                    <a:solidFill>
                      <a:srgbClr val="FFFFFF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3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3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ar-AE" sz="13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sub>
                    </m:sSub>
                    <m:r>
                      <a:rPr lang="ru-RU" sz="13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ru-RU" sz="13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3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ru-RU" sz="13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ru-RU" sz="13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13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  <m:e>
                        <m:sSub>
                          <m:sSubPr>
                            <m:ctrlPr>
                              <a:rPr lang="en-US" sz="1300" b="1" i="1" dirty="0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00" b="1" i="1" dirty="0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𝑫</m:t>
                            </m:r>
                          </m:e>
                          <m:sub>
                            <m:r>
                              <a:rPr lang="en-US" sz="1300" b="1" i="1" dirty="0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e>
                    </m:nary>
                  </m:oMath>
                </a14:m>
                <a:endParaRPr sz="1300" b="1" i="0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32588"/>
                <a:ext cx="5669280" cy="278025"/>
              </a:xfrm>
              <a:prstGeom prst="rect">
                <a:avLst/>
              </a:prstGeom>
              <a:blipFill>
                <a:blip r:embed="rId3"/>
                <a:stretch>
                  <a:fillRect t="-110870" b="-17173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6263640" y="1188720"/>
            <a:ext cx="548640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Calibri"/>
              </a:rPr>
              <a:t>STL-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разложение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: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тренд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+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сезонность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+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остаток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11" name="Picture 10" descr="complex_season_lcm60_p12_p20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186" y="1691640"/>
            <a:ext cx="4485570" cy="3699191"/>
          </a:xfrm>
          <a:prstGeom prst="rect">
            <a:avLst/>
          </a:prstGeom>
        </p:spPr>
      </p:pic>
      <p:pic>
        <p:nvPicPr>
          <p:cNvPr id="12" name="Picture 11" descr="complex_season_lcm60_p12_p20_2_st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715738"/>
            <a:ext cx="5486400" cy="342652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7200" y="5532120"/>
            <a:ext cx="11247120" cy="9144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5532120"/>
            <a:ext cx="73152" cy="9144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40080" y="5577840"/>
                <a:ext cx="10972800" cy="494046"/>
              </a:xfrm>
              <a:prstGeom prst="rect">
                <a:avLst/>
              </a:prstGeom>
              <a:noFill/>
            </p:spPr>
            <p:txBody>
              <a:bodyPr wrap="square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lang="en-US" sz="1100" b="1" dirty="0">
                    <a:solidFill>
                      <a:srgbClr val="E76F51"/>
                    </a:solidFill>
                    <a:latin typeface="Calibri"/>
                  </a:rPr>
                  <a:t>▪  </a:t>
                </a:r>
                <a:r>
                  <a:rPr lang="en-US" sz="1100" dirty="0">
                    <a:solidFill>
                      <a:srgbClr val="21295C"/>
                    </a:solidFill>
                    <a:latin typeface="Calibri"/>
                  </a:rPr>
                  <a:t>MODWT: </a:t>
                </a:r>
                <a:r>
                  <a:rPr lang="ru-RU" sz="1100" dirty="0" err="1">
                    <a:solidFill>
                      <a:srgbClr val="21295C"/>
                    </a:solidFill>
                    <a:latin typeface="Calibri"/>
                  </a:rPr>
                  <a:t>модели</a:t>
                </a:r>
                <a:r>
                  <a:rPr lang="ru-RU" sz="110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lang="ru-RU" sz="1100" dirty="0" err="1">
                    <a:solidFill>
                      <a:srgbClr val="21295C"/>
                    </a:solidFill>
                    <a:latin typeface="Calibri"/>
                  </a:rPr>
                  <a:t>уверенно</a:t>
                </a:r>
                <a:r>
                  <a:rPr lang="ru-RU" sz="110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lang="ru-RU" sz="1100" dirty="0" err="1">
                    <a:solidFill>
                      <a:srgbClr val="21295C"/>
                    </a:solidFill>
                    <a:latin typeface="Calibri"/>
                  </a:rPr>
                  <a:t>восстанавливают</a:t>
                </a:r>
                <a:r>
                  <a:rPr lang="ru-RU" sz="110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lang="ru-RU" sz="1100" dirty="0" err="1">
                    <a:solidFill>
                      <a:srgbClr val="21295C"/>
                    </a:solidFill>
                    <a:latin typeface="Calibri"/>
                  </a:rPr>
                  <a:t>аппроксимацию</a:t>
                </a:r>
                <a:r>
                  <a:rPr lang="ru-RU" sz="110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10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sub>
                    </m:sSub>
                    <m:r>
                      <a:rPr lang="en-US" sz="1100" i="1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100" dirty="0">
                    <a:solidFill>
                      <a:srgbClr val="21295C"/>
                    </a:solidFill>
                    <a:latin typeface="Calibri"/>
                  </a:rPr>
                  <a:t>и </a:t>
                </a:r>
                <a:r>
                  <a:rPr lang="ru-RU" sz="1100" dirty="0" err="1">
                    <a:solidFill>
                      <a:srgbClr val="21295C"/>
                    </a:solidFill>
                    <a:latin typeface="Calibri"/>
                  </a:rPr>
                  <a:t>среднечастотную</a:t>
                </a:r>
                <a:r>
                  <a:rPr lang="ru-RU" sz="110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10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10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sz="110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100" b="0" i="0" dirty="0" smtClean="0">
                        <a:solidFill>
                          <a:srgbClr val="21295C"/>
                        </a:solidFill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ar-AE" sz="110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10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100" dirty="0">
                    <a:solidFill>
                      <a:srgbClr val="21295C"/>
                    </a:solidFill>
                    <a:latin typeface="Calibri"/>
                  </a:rPr>
                  <a:t>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100" i="1" dirty="0" smtClean="0">
                            <a:solidFill>
                              <a:srgbClr val="21295C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ru-RU" sz="1100" dirty="0">
                    <a:solidFill>
                      <a:srgbClr val="21295C"/>
                    </a:solidFill>
                    <a:latin typeface="Calibri"/>
                  </a:rPr>
                  <a:t> сглажены и тяготеют к нулю</a:t>
                </a:r>
              </a:p>
              <a:p>
                <a:pPr algn="l">
                  <a:spcAft>
                    <a:spcPts val="400"/>
                  </a:spcAft>
                </a:pPr>
                <a:r>
                  <a:rPr lang="ru-RU" sz="1100" b="1" dirty="0">
                    <a:solidFill>
                      <a:srgbClr val="E76F51"/>
                    </a:solidFill>
                    <a:latin typeface="Calibri"/>
                  </a:rPr>
                  <a:t>▪  </a:t>
                </a:r>
                <a:r>
                  <a:rPr lang="en-US" sz="1100" dirty="0">
                    <a:solidFill>
                      <a:srgbClr val="21295C"/>
                    </a:solidFill>
                    <a:latin typeface="Calibri"/>
                  </a:rPr>
                  <a:t>STL: </a:t>
                </a:r>
                <a:r>
                  <a:rPr lang="ru-RU" sz="1100" dirty="0" err="1">
                    <a:solidFill>
                      <a:srgbClr val="21295C"/>
                    </a:solidFill>
                    <a:latin typeface="Calibri"/>
                  </a:rPr>
                  <a:t>трендовая</a:t>
                </a:r>
                <a:r>
                  <a:rPr lang="ru-RU" sz="110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lang="ru-RU" sz="1100" dirty="0" err="1">
                    <a:solidFill>
                      <a:srgbClr val="21295C"/>
                    </a:solidFill>
                    <a:latin typeface="Calibri"/>
                  </a:rPr>
                  <a:t>компонента</a:t>
                </a:r>
                <a:r>
                  <a:rPr lang="ru-RU" sz="1100" dirty="0">
                    <a:solidFill>
                      <a:srgbClr val="21295C"/>
                    </a:solidFill>
                    <a:latin typeface="Calibri"/>
                  </a:rPr>
                  <a:t> </a:t>
                </a:r>
                <a:r>
                  <a:rPr lang="en-US" sz="1100" dirty="0">
                    <a:solidFill>
                      <a:srgbClr val="21295C"/>
                    </a:solidFill>
                    <a:latin typeface="Calibri"/>
                  </a:rPr>
                  <a:t>STL </a:t>
                </a:r>
                <a:r>
                  <a:rPr lang="ru-RU" sz="1100" dirty="0">
                    <a:solidFill>
                      <a:srgbClr val="21295C"/>
                    </a:solidFill>
                    <a:latin typeface="Calibri"/>
                  </a:rPr>
                  <a:t>воспроизводится хуже, а высокочастотные колебания прячутся в остатке и плохо предсказываются</a:t>
                </a:r>
                <a:endParaRPr sz="1100" dirty="0">
                  <a:solidFill>
                    <a:srgbClr val="21295C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5577840"/>
                <a:ext cx="10972800" cy="494046"/>
              </a:xfrm>
              <a:prstGeom prst="rect">
                <a:avLst/>
              </a:prstGeom>
              <a:blipFill>
                <a:blip r:embed="rId6"/>
                <a:stretch>
                  <a:fillRect l="-389" t="-1235" b="-74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Выводы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Раздел 4. Основные результаты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2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4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1247120" cy="11887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94360" y="1481328"/>
            <a:ext cx="594360" cy="59436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298448"/>
            <a:ext cx="10058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 dirty="0" err="1">
                <a:solidFill>
                  <a:srgbClr val="065A82"/>
                </a:solidFill>
                <a:latin typeface="Calibri"/>
              </a:rPr>
              <a:t>Реализован</a:t>
            </a:r>
            <a:r>
              <a:rPr sz="1400" b="1" i="0" dirty="0">
                <a:solidFill>
                  <a:srgbClr val="065A82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065A82"/>
                </a:solidFill>
                <a:latin typeface="Calibri"/>
              </a:rPr>
              <a:t>полный</a:t>
            </a:r>
            <a:r>
              <a:rPr sz="1400" b="1" i="0" dirty="0">
                <a:solidFill>
                  <a:srgbClr val="065A82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065A82"/>
                </a:solidFill>
                <a:latin typeface="Calibri"/>
              </a:rPr>
              <a:t>конвейер</a:t>
            </a:r>
            <a:r>
              <a:rPr sz="1400" b="1" i="0" dirty="0">
                <a:solidFill>
                  <a:srgbClr val="065A82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065A82"/>
                </a:solidFill>
                <a:latin typeface="Calibri"/>
              </a:rPr>
              <a:t>HybridPlus</a:t>
            </a:r>
            <a:endParaRPr sz="1400" b="1" i="0" dirty="0">
              <a:solidFill>
                <a:srgbClr val="065A82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71600" y="1719072"/>
            <a:ext cx="1005840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21295C"/>
                </a:solidFill>
                <a:latin typeface="Calibri"/>
              </a:rPr>
              <a:t>MODWT-</a:t>
            </a:r>
            <a:r>
              <a:rPr lang="en-US" sz="1200" b="0" i="0" dirty="0">
                <a:solidFill>
                  <a:srgbClr val="21295C"/>
                </a:solidFill>
                <a:latin typeface="Calibri"/>
              </a:rPr>
              <a:t>(STL-)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декомпозиция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+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раздельное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моделирование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нейросетью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(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TimesNet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/ N-BEATS) и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статистикой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(ARIMA / ETS)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87168"/>
            <a:ext cx="11247120" cy="11887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94360" y="2779776"/>
            <a:ext cx="594360" cy="59436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596896"/>
            <a:ext cx="10058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Проведено систематическое сравнение на M3, M4 и синтетических рядах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017520"/>
            <a:ext cx="1005840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21295C"/>
                </a:solidFill>
                <a:latin typeface="Calibri"/>
              </a:rPr>
              <a:t>1</a:t>
            </a:r>
            <a:r>
              <a:rPr lang="en-US" sz="1200" b="0" i="0" dirty="0">
                <a:solidFill>
                  <a:srgbClr val="21295C"/>
                </a:solidFill>
                <a:latin typeface="Calibri"/>
              </a:rPr>
              <a:t>6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моделей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× 4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категории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частот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×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сценарии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простой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и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сложной</a:t>
            </a:r>
            <a:r>
              <a:rPr sz="1200" b="0" i="0" dirty="0">
                <a:solidFill>
                  <a:srgbClr val="2129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95C"/>
                </a:solidFill>
                <a:latin typeface="Calibri"/>
              </a:rPr>
              <a:t>сезонности</a:t>
            </a:r>
            <a:endParaRPr sz="1200" b="0" i="0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7200" y="3785616"/>
            <a:ext cx="11247120" cy="11887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94360" y="4078224"/>
            <a:ext cx="594360" cy="59436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895344"/>
            <a:ext cx="10058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На дневной частоте M4 достигнут наибольший выигрыш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315968"/>
            <a:ext cx="10058400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21295C"/>
                </a:solidFill>
                <a:latin typeface="Calibri"/>
              </a:rPr>
              <a:t>sMAPE 2.05 у MODWT + TimesNet + ETS против 3.08 у лучшей классики (≈ ×1.5 улучшение, RMSE −33%)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84064"/>
            <a:ext cx="11247120" cy="11887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94360" y="5376672"/>
            <a:ext cx="594360" cy="59436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193792"/>
            <a:ext cx="10058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Гипотеза MODWT &gt; STL подтверждена на сложной сезонности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614416"/>
            <a:ext cx="10058400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21295C"/>
                </a:solidFill>
                <a:latin typeface="Calibri"/>
              </a:rPr>
              <a:t>MODWT-гибриды стабильно опережают STL-аналоги на 0.9–2.5 пунктов sMAPE; MSE у STL почти вдвое выше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Выводы (2/2). Практические рекомендации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 dirty="0" err="1">
                <a:solidFill>
                  <a:srgbClr val="1C7293"/>
                </a:solidFill>
                <a:latin typeface="Calibri"/>
              </a:rPr>
              <a:t>Когда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выбирать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какую</a:t>
            </a:r>
            <a:r>
              <a:rPr sz="1400" b="0" i="1" dirty="0">
                <a:solidFill>
                  <a:srgbClr val="1C7293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1C7293"/>
                </a:solidFill>
                <a:latin typeface="Calibri"/>
              </a:rPr>
              <a:t>модель</a:t>
            </a:r>
            <a:r>
              <a:rPr lang="ru-RU" sz="1400" i="1" dirty="0">
                <a:solidFill>
                  <a:srgbClr val="1C7293"/>
                </a:solidFill>
                <a:latin typeface="Calibri"/>
              </a:rPr>
              <a:t>?</a:t>
            </a:r>
            <a:endParaRPr sz="1400" b="0" i="1" dirty="0">
              <a:solidFill>
                <a:srgbClr val="1C729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2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5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47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Сценарий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Что выбрать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Почему</a:t>
                      </a:r>
                    </a:p>
                  </a:txBody>
                  <a:tcPr marL="54864" marR="54864" marT="27432" marB="27432"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Дневные / недельные ряды, метрика sMAPE/MAPE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MODWT + TimesNet/N-BEATS + ETS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разложение разделяет компоненты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Месячные / годовые (короткие) ряды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Классические ETS / ARIMA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нейросети не успевают обучиться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Сложная многопериодная сезонность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MODWT-гибриды (не STL!)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одна сезонная шкала STL недостаточна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Шумный неоднозначный тренд без сезонности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ETS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сглаживание устойчиво на шуме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Часовая частотность (предварит. результат)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Классические модели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разложение даёт фазовые искажения на ВЧ</a:t>
                      </a:r>
                    </a:p>
                  </a:txBody>
                  <a:tcPr marL="54864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E76F51"/>
                </a:solidFill>
                <a:latin typeface="Calibri"/>
              </a:rPr>
              <a:t>Перспективы исследования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03520"/>
            <a:ext cx="109728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76F51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автоматический выбор глубины MODWT-разложения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E76F51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адаптивное распределение моделей между компонентами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E76F51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оптимизация весов при реконструкции прогноза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E76F51"/>
                </a:solidFill>
                <a:latin typeface="Calibri"/>
              </a:rPr>
              <a:t>▪  </a:t>
            </a:r>
            <a:r>
              <a:rPr sz="1200">
                <a:solidFill>
                  <a:srgbClr val="FFFFFF"/>
                </a:solidFill>
                <a:latin typeface="Calibri"/>
              </a:rPr>
              <a:t>устойчивость к выбросам и структурным сдвигам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Список литературы (избранное)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332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Раздел 5. Полный список — 43 источника в ВКР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 dirty="0">
                <a:solidFill>
                  <a:srgbClr val="6B7280"/>
                </a:solidFill>
                <a:latin typeface="Calibri"/>
              </a:rPr>
              <a:t>2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6</a:t>
            </a:r>
            <a:r>
              <a:rPr sz="1000" b="0" i="0" dirty="0">
                <a:solidFill>
                  <a:srgbClr val="6B7280"/>
                </a:solidFill>
                <a:latin typeface="Calibri"/>
              </a:rPr>
              <a:t> / 2</a:t>
            </a:r>
            <a:r>
              <a:rPr lang="en-US" sz="1000" b="0" i="0" dirty="0">
                <a:solidFill>
                  <a:srgbClr val="6B7280"/>
                </a:solidFill>
                <a:latin typeface="Calibri"/>
              </a:rPr>
              <a:t>6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4712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669280" cy="4937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21295C"/>
                </a:solidFill>
                <a:latin typeface="Calibri"/>
              </a:rPr>
              <a:t>1. Hyndman R.J., Athanasopoulos G. Forecasting: principles and practice. — Melbourne: OTexts, 2021.</a:t>
            </a:r>
          </a:p>
          <a:p>
            <a:pPr algn="l"/>
            <a:endParaRPr sz="900" b="0" i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21295C"/>
                </a:solidFill>
                <a:latin typeface="Calibri"/>
              </a:rPr>
              <a:t>2. Box G.E.P. et al. Time series analysis: forecasting and control. — 5th ed. — Wiley, 2015.</a:t>
            </a:r>
          </a:p>
          <a:p>
            <a:pPr algn="l"/>
            <a:endParaRPr sz="900" b="0" i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21295C"/>
                </a:solidFill>
                <a:latin typeface="Calibri"/>
              </a:rPr>
              <a:t>3. Makridakis S., Spiliotis E., Assimakopoulos V. The M4 Competition // Int. J. Forecasting. — 2018. — Vol. 34(4). — P. 802–808.</a:t>
            </a:r>
          </a:p>
          <a:p>
            <a:pPr algn="l"/>
            <a:endParaRPr sz="900" b="0" i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21295C"/>
                </a:solidFill>
                <a:latin typeface="Calibri"/>
              </a:rPr>
              <a:t>4. Mallat S.G. A theory for multiresolution signal decomposition // IEEE TPAMI. — 1989. — Vol. 11(7).</a:t>
            </a:r>
          </a:p>
          <a:p>
            <a:pPr algn="l"/>
            <a:endParaRPr sz="900" b="0" i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21295C"/>
                </a:solidFill>
                <a:latin typeface="Calibri"/>
              </a:rPr>
              <a:t>5. Daubechies I. Ten lectures on wavelets. — SIAM, 1992. — 357 p.</a:t>
            </a:r>
          </a:p>
          <a:p>
            <a:pPr algn="l"/>
            <a:endParaRPr sz="900" b="0" i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21295C"/>
                </a:solidFill>
                <a:latin typeface="Calibri"/>
              </a:rPr>
              <a:t>6. Percival D.B., Walden A.T. Wavelet methods for time series analysis. — Cambridge University Press, 2000. — 594 p.</a:t>
            </a:r>
          </a:p>
          <a:p>
            <a:pPr algn="l"/>
            <a:endParaRPr sz="900" b="0" i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21295C"/>
                </a:solidFill>
                <a:latin typeface="Calibri"/>
              </a:rPr>
              <a:t>7. Cleveland R.B. et al. STL: A Seasonal-Trend Decomposition Procedure Based on LOESS.</a:t>
            </a:r>
          </a:p>
          <a:p>
            <a:pPr algn="l"/>
            <a:endParaRPr sz="900" b="0" i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21295C"/>
                </a:solidFill>
                <a:latin typeface="Calibri"/>
              </a:rPr>
              <a:t>8. Taylor S.J., Letham B. Forecasting at scale // The American Statistician. — 2018. — Vol. 72(1).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188720"/>
            <a:ext cx="5486400" cy="4937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21295C"/>
                </a:solidFill>
                <a:latin typeface="Calibri"/>
              </a:rPr>
              <a:t>9. Wu H. et al. TimesNet: Temporal 2D-Variation Modeling for General Time Series Analysis. — arXiv:2210.02186.</a:t>
            </a:r>
          </a:p>
          <a:p>
            <a:pPr algn="l"/>
            <a:endParaRPr sz="900" b="0" i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21295C"/>
                </a:solidFill>
                <a:latin typeface="Calibri"/>
              </a:rPr>
              <a:t>10. Oreshkin B. et al. N-BEATS: Neural basis expansion analysis for interpretable time series forecasting. — arXiv:1905.10437.</a:t>
            </a:r>
          </a:p>
          <a:p>
            <a:pPr algn="l"/>
            <a:endParaRPr sz="900" b="0" i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21295C"/>
                </a:solidFill>
                <a:latin typeface="Calibri"/>
              </a:rPr>
              <a:t>11. Olivares K.G. et al. NBEATSx // Int. J. Forecasting. — 2023.</a:t>
            </a:r>
          </a:p>
          <a:p>
            <a:pPr algn="l"/>
            <a:endParaRPr sz="900" b="0" i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21295C"/>
                </a:solidFill>
                <a:latin typeface="Calibri"/>
              </a:rPr>
              <a:t>12. Bakulin D.V. et al. Hybrid Models of Time Series Using Wavelet Transform // JCTE. — 2025. — Vol. 70.</a:t>
            </a:r>
          </a:p>
          <a:p>
            <a:pPr algn="l"/>
            <a:endParaRPr sz="900" b="0" i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21295C"/>
                </a:solidFill>
                <a:latin typeface="Calibri"/>
              </a:rPr>
              <a:t>13. Petrusevich D.A. Time series forecasting using high order ARIMA functions // SGEM. — 2019.</a:t>
            </a:r>
          </a:p>
          <a:p>
            <a:pPr algn="l"/>
            <a:endParaRPr sz="900" b="0" i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21295C"/>
                </a:solidFill>
                <a:latin typeface="Calibri"/>
              </a:rPr>
              <a:t>14. Beletskaya N.V., Petrusevich D.A. Linear Combinations of Time Series Models with Minimal Forecast Variance // JCTE. — 2022.</a:t>
            </a:r>
          </a:p>
          <a:p>
            <a:pPr algn="l"/>
            <a:endParaRPr sz="900" b="0" i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21295C"/>
                </a:solidFill>
                <a:latin typeface="Calibri"/>
              </a:rPr>
              <a:t>15. Gilles J. Empirical Wavelet Transform // IEEE TSP. — 2013.</a:t>
            </a:r>
          </a:p>
          <a:p>
            <a:pPr algn="l"/>
            <a:endParaRPr sz="900" b="0" i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900" b="0" i="0">
                <a:solidFill>
                  <a:srgbClr val="21295C"/>
                </a:solidFill>
                <a:latin typeface="Calibri"/>
              </a:rPr>
              <a:t>16. Dragomiretskiy K., Zosso D. Variational Mode Decomposition // IEEE TSP. — 2014.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Публикация по теме: Лыков Д.С., Петрусевич Д.А. Построение гибридных моделей временных рядов на основе нейронных сетей, вейвлет-преобразования и STL — 2026 (в печати)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</TotalTime>
  <Words>6443</Words>
  <Application>Microsoft Office PowerPoint</Application>
  <PresentationFormat>Широкоэкранный</PresentationFormat>
  <Paragraphs>808</Paragraphs>
  <Slides>26</Slides>
  <Notes>26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 Math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1</cp:lastModifiedBy>
  <cp:revision>62</cp:revision>
  <dcterms:created xsi:type="dcterms:W3CDTF">2013-01-27T09:14:16Z</dcterms:created>
  <dcterms:modified xsi:type="dcterms:W3CDTF">2026-05-16T10:34:02Z</dcterms:modified>
  <cp:category/>
</cp:coreProperties>
</file>