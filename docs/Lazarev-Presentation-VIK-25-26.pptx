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9"/>
  </p:notesMasterIdLst>
  <p:sldIdLst>
    <p:sldId id="258" r:id="rId2"/>
    <p:sldId id="261" r:id="rId3"/>
    <p:sldId id="268" r:id="rId4"/>
    <p:sldId id="259" r:id="rId5"/>
    <p:sldId id="262" r:id="rId6"/>
    <p:sldId id="271" r:id="rId7"/>
    <p:sldId id="267" r:id="rId8"/>
  </p:sldIdLst>
  <p:sldSz cx="12192000" cy="6858000"/>
  <p:notesSz cx="6858000" cy="9144000"/>
  <p:embeddedFontLst>
    <p:embeddedFont>
      <p:font typeface="Roboto Condensed" panose="02000000000000000000" pitchFamily="2" charset="0"/>
      <p:regular r:id="rId10"/>
      <p:bold r:id="rId11"/>
      <p:italic r:id="rId12"/>
      <p:boldItalic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6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07" autoAdjust="0"/>
    <p:restoredTop sz="94660"/>
  </p:normalViewPr>
  <p:slideViewPr>
    <p:cSldViewPr snapToGrid="0">
      <p:cViewPr varScale="1">
        <p:scale>
          <a:sx n="90" d="100"/>
          <a:sy n="90" d="100"/>
        </p:scale>
        <p:origin x="22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7EFF5-45D7-44FE-BFF5-61A3E06B4245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0BF0-9B09-41AD-B180-93AF1CAF98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05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DE740D8D-FBE9-45AD-95F5-A12BE687B0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7500"/>
          <a:stretch/>
        </p:blipFill>
        <p:spPr>
          <a:xfrm>
            <a:off x="0" y="1633219"/>
            <a:ext cx="7619998" cy="2366945"/>
          </a:xfrm>
          <a:prstGeom prst="rect">
            <a:avLst/>
          </a:prstGeom>
        </p:spPr>
      </p:pic>
      <p:sp>
        <p:nvSpPr>
          <p:cNvPr id="13" name="Текст 12">
            <a:extLst>
              <a:ext uri="{FF2B5EF4-FFF2-40B4-BE49-F238E27FC236}">
                <a16:creationId xmlns:a16="http://schemas.microsoft.com/office/drawing/2014/main" id="{C21F1BD2-5558-4E07-B786-DF4B7CBE7B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099" y="1719740"/>
            <a:ext cx="5400000" cy="111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ПРИВЕТСТВУЕМ, ФИНАЛИСТ!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B76E3C-07A4-4AED-929B-0114068E6FE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37" y="16885"/>
            <a:ext cx="2286001" cy="142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5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пусто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EF2B7133-3798-48BD-9554-C21FA6E8C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328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92BBED-4AE2-450E-9014-CCF0A18CBFAA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CF3D2B62-61A1-40A3-A256-8D3F1E546B1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80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колонка и рисун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EF2B7133-3798-48BD-9554-C21FA6E8C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9">
            <a:extLst>
              <a:ext uri="{FF2B5EF4-FFF2-40B4-BE49-F238E27FC236}">
                <a16:creationId xmlns:a16="http://schemas.microsoft.com/office/drawing/2014/main" id="{3A2AB07C-6B49-4477-85E9-64DB38E529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03712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AE8EC66D-135E-407B-8726-88413FBEA8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19824" y="1220788"/>
            <a:ext cx="5452412" cy="5035550"/>
          </a:xfrm>
          <a:prstGeom prst="rect">
            <a:avLst/>
          </a:prstGeom>
        </p:spPr>
        <p:txBody>
          <a:bodyPr anchor="b" anchorCtr="1"/>
          <a:lstStyle>
            <a:lvl1pPr marL="0" indent="0">
              <a:buNone/>
              <a:defRPr sz="1400"/>
            </a:lvl1pPr>
          </a:lstStyle>
          <a:p>
            <a:endParaRPr lang="ru-RU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E2DD92DB-AF5C-4B09-96BC-77D146B99B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25CC6C-2D64-425E-BDF2-A1B5E6A13F4E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01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02744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1F0C8795-E30C-4D85-999B-17BE4CC8F4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7168" y="1221483"/>
            <a:ext cx="5455067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5D38CA2B-AF0F-45BA-9AB2-E2E58BB989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887" y="1702744"/>
            <a:ext cx="5454347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94395CBE-E917-48A2-8399-D968DFAD734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EF542E-5E62-4900-8DFB-C4A3F318FC2D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54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3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C6693F5D-1E86-4510-88C2-00B18EC738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96000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6B087493-B8E8-40C9-A124-9D30A067F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6000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id="{D96285C0-80DE-46E7-9A9A-BE488E924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2238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392BD8BF-72E9-4428-97DD-B1885252F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2957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8" name="Picture 8">
            <a:extLst>
              <a:ext uri="{FF2B5EF4-FFF2-40B4-BE49-F238E27FC236}">
                <a16:creationId xmlns:a16="http://schemas.microsoft.com/office/drawing/2014/main" id="{35BB0F49-4C73-4AEA-A501-2E32124E21B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DFA6905-FD12-4A67-89C2-2B30002EF613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18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пусто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3" name="Заголовок 8">
            <a:extLst>
              <a:ext uri="{FF2B5EF4-FFF2-40B4-BE49-F238E27FC236}">
                <a16:creationId xmlns:a16="http://schemas.microsoft.com/office/drawing/2014/main" id="{254AC82E-E44A-4E49-B7AD-416EBFFEE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C1AD932-0DF2-4F9D-B801-D1B14D1928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486399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5C78546-CAC3-4CA8-B85B-9B769BE6DE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3B7B12-85A2-41DD-A990-A5964AEF276F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48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колонка и рисун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3" name="Заголовок 8">
            <a:extLst>
              <a:ext uri="{FF2B5EF4-FFF2-40B4-BE49-F238E27FC236}">
                <a16:creationId xmlns:a16="http://schemas.microsoft.com/office/drawing/2014/main" id="{254AC82E-E44A-4E49-B7AD-416EBFFEE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C1AD932-0DF2-4F9D-B801-D1B14D1928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486399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F8C805C-DE97-4647-A33D-C4657135DA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114" y="1720338"/>
            <a:ext cx="5486399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1" name="Рисунок 18">
            <a:extLst>
              <a:ext uri="{FF2B5EF4-FFF2-40B4-BE49-F238E27FC236}">
                <a16:creationId xmlns:a16="http://schemas.microsoft.com/office/drawing/2014/main" id="{4B34B038-383A-47AE-B598-3853C94033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8668" y="1220788"/>
            <a:ext cx="5486399" cy="5035550"/>
          </a:xfrm>
          <a:prstGeom prst="rect">
            <a:avLst/>
          </a:prstGeom>
        </p:spPr>
        <p:txBody>
          <a:bodyPr anchor="b" anchorCtr="1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F31B65-F902-4E9C-8C36-FAA17D199D0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992ED4-D7B8-4763-BB4E-9F6FDDF4CC23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515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21994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1F0C8795-E30C-4D85-999B-17BE4CC8F4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7169" y="1221483"/>
            <a:ext cx="5454348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5D38CA2B-AF0F-45BA-9AB2-E2E58BB989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888" y="1721994"/>
            <a:ext cx="5454348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CA6F7E49-A566-4481-9C88-0010F1F83F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515162D-14CE-4563-8774-13F802CBAFCB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40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3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483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C6693F5D-1E86-4510-88C2-00B18EC738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96000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6B087493-B8E8-40C9-A124-9D30A067F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6000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id="{D96285C0-80DE-46E7-9A9A-BE488E924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0798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392BD8BF-72E9-4428-97DD-B1885252F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1517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21" name="Picture 8">
            <a:extLst>
              <a:ext uri="{FF2B5EF4-FFF2-40B4-BE49-F238E27FC236}">
                <a16:creationId xmlns:a16="http://schemas.microsoft.com/office/drawing/2014/main" id="{6BD9029C-5108-4AF3-A1F7-8AFE00FB10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F9D558F-4713-4605-B399-464201D0AF4C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572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яя страниц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670" y="194284"/>
            <a:ext cx="2510355" cy="655413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D767B035-C8ED-4A9E-A741-B4070FCDB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3074"/>
          <a:stretch/>
        </p:blipFill>
        <p:spPr>
          <a:xfrm flipH="1">
            <a:off x="5251615" y="1633219"/>
            <a:ext cx="6940385" cy="2366945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1330683F-E6D0-49BA-AB32-DED060A409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35050" y="1886351"/>
            <a:ext cx="4819739" cy="112635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БЛАГОДАРЮ ЗА ВНИМАНИЕ!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512F792B-3E91-42A3-8404-10DD04803E5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3836" y="217610"/>
            <a:ext cx="1275668" cy="632087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0300DD6F-90C7-4CDA-B2F2-3D29AD82C0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546" y="1633537"/>
            <a:ext cx="4948874" cy="540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Тема проекта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EE558EE7-AF15-450A-8CDC-710453B2B5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546" y="2258343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10">
            <a:extLst>
              <a:ext uri="{FF2B5EF4-FFF2-40B4-BE49-F238E27FC236}">
                <a16:creationId xmlns:a16="http://schemas.microsoft.com/office/drawing/2014/main" id="{4DCF5854-D059-4195-8E07-023DE04A76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5546" y="3276599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Город</a:t>
            </a:r>
          </a:p>
        </p:txBody>
      </p:sp>
      <p:sp>
        <p:nvSpPr>
          <p:cNvPr id="15" name="Текст 10">
            <a:extLst>
              <a:ext uri="{FF2B5EF4-FFF2-40B4-BE49-F238E27FC236}">
                <a16:creationId xmlns:a16="http://schemas.microsoft.com/office/drawing/2014/main" id="{E83AD61D-A7B2-49FF-BC57-1DD602EBD2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5546" y="2647950"/>
            <a:ext cx="4948874" cy="540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Наименование вуза</a:t>
            </a:r>
          </a:p>
        </p:txBody>
      </p:sp>
      <p:sp>
        <p:nvSpPr>
          <p:cNvPr id="16" name="Текст 10">
            <a:extLst>
              <a:ext uri="{FF2B5EF4-FFF2-40B4-BE49-F238E27FC236}">
                <a16:creationId xmlns:a16="http://schemas.microsoft.com/office/drawing/2014/main" id="{73F01592-11C6-48BE-BEBA-C517FF7F46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546" y="3670049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Email: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4524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61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7" r:id="rId2"/>
    <p:sldLayoutId id="2147483649" r:id="rId3"/>
    <p:sldLayoutId id="2147483653" r:id="rId4"/>
    <p:sldLayoutId id="2147483654" r:id="rId5"/>
    <p:sldLayoutId id="2147483658" r:id="rId6"/>
    <p:sldLayoutId id="2147483650" r:id="rId7"/>
    <p:sldLayoutId id="2147483655" r:id="rId8"/>
    <p:sldLayoutId id="2147483656" r:id="rId9"/>
    <p:sldLayoutId id="2147483652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1">
            <a:extLst>
              <a:ext uri="{FF2B5EF4-FFF2-40B4-BE49-F238E27FC236}">
                <a16:creationId xmlns:a16="http://schemas.microsoft.com/office/drawing/2014/main" id="{4AFC1B50-376C-1248-ABF2-37AF10E70B4B}"/>
              </a:ext>
            </a:extLst>
          </p:cNvPr>
          <p:cNvSpPr txBox="1">
            <a:spLocks/>
          </p:cNvSpPr>
          <p:nvPr/>
        </p:nvSpPr>
        <p:spPr>
          <a:xfrm>
            <a:off x="835546" y="1581549"/>
            <a:ext cx="4948874" cy="5933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</a:rPr>
              <a:t>Построение комбинированных моделей на основе алгоритма </a:t>
            </a:r>
            <a:r>
              <a:rPr lang="en-US" sz="3200" dirty="0" err="1">
                <a:solidFill>
                  <a:schemeClr val="bg1"/>
                </a:solidFill>
              </a:rPr>
              <a:t>Helformer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ru-RU" sz="3200" dirty="0">
                <a:solidFill>
                  <a:schemeClr val="bg1"/>
                </a:solidFill>
              </a:rPr>
              <a:t>при обработке временных рядов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Текст 17">
            <a:extLst>
              <a:ext uri="{FF2B5EF4-FFF2-40B4-BE49-F238E27FC236}">
                <a16:creationId xmlns:a16="http://schemas.microsoft.com/office/drawing/2014/main" id="{4E64B109-A427-A941-9FFA-E698FB468715}"/>
              </a:ext>
            </a:extLst>
          </p:cNvPr>
          <p:cNvSpPr txBox="1">
            <a:spLocks/>
          </p:cNvSpPr>
          <p:nvPr/>
        </p:nvSpPr>
        <p:spPr>
          <a:xfrm>
            <a:off x="835546" y="4971650"/>
            <a:ext cx="4948874" cy="30480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Лазарев Александр Кириллович</a:t>
            </a:r>
          </a:p>
        </p:txBody>
      </p:sp>
      <p:sp>
        <p:nvSpPr>
          <p:cNvPr id="12" name="Текст 19">
            <a:extLst>
              <a:ext uri="{FF2B5EF4-FFF2-40B4-BE49-F238E27FC236}">
                <a16:creationId xmlns:a16="http://schemas.microsoft.com/office/drawing/2014/main" id="{5963EF2C-BACE-9845-AE78-7387972EB0B4}"/>
              </a:ext>
            </a:extLst>
          </p:cNvPr>
          <p:cNvSpPr txBox="1">
            <a:spLocks/>
          </p:cNvSpPr>
          <p:nvPr/>
        </p:nvSpPr>
        <p:spPr>
          <a:xfrm>
            <a:off x="835546" y="5390445"/>
            <a:ext cx="4948874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РТУ МИРЭА</a:t>
            </a:r>
          </a:p>
        </p:txBody>
      </p:sp>
      <p:sp>
        <p:nvSpPr>
          <p:cNvPr id="5" name="Текст 19">
            <a:extLst>
              <a:ext uri="{FF2B5EF4-FFF2-40B4-BE49-F238E27FC236}">
                <a16:creationId xmlns:a16="http://schemas.microsoft.com/office/drawing/2014/main" id="{022C0AA4-8771-2D47-9769-B74D7633CEB7}"/>
              </a:ext>
            </a:extLst>
          </p:cNvPr>
          <p:cNvSpPr txBox="1">
            <a:spLocks/>
          </p:cNvSpPr>
          <p:nvPr/>
        </p:nvSpPr>
        <p:spPr>
          <a:xfrm>
            <a:off x="835546" y="6317878"/>
            <a:ext cx="10482942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Уровень образования: бакалавриат</a:t>
            </a:r>
          </a:p>
        </p:txBody>
      </p:sp>
      <p:sp>
        <p:nvSpPr>
          <p:cNvPr id="6" name="Текст 19">
            <a:extLst>
              <a:ext uri="{FF2B5EF4-FFF2-40B4-BE49-F238E27FC236}">
                <a16:creationId xmlns:a16="http://schemas.microsoft.com/office/drawing/2014/main" id="{5E280B86-1BF7-D544-B5A7-5C5CB44A3026}"/>
              </a:ext>
            </a:extLst>
          </p:cNvPr>
          <p:cNvSpPr txBox="1">
            <a:spLocks/>
          </p:cNvSpPr>
          <p:nvPr/>
        </p:nvSpPr>
        <p:spPr>
          <a:xfrm>
            <a:off x="835546" y="5876463"/>
            <a:ext cx="4948874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Курс обучения: 4</a:t>
            </a:r>
          </a:p>
        </p:txBody>
      </p:sp>
    </p:spTree>
    <p:extLst>
      <p:ext uri="{BB962C8B-B14F-4D97-AF65-F5344CB8AC3E}">
        <p14:creationId xmlns:p14="http://schemas.microsoft.com/office/powerpoint/2010/main" val="473747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71ACD7CE-8053-445F-9CFC-EB84FFEA9C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037204"/>
            <a:ext cx="5334498" cy="405186"/>
          </a:xfrm>
        </p:spPr>
        <p:txBody>
          <a:bodyPr/>
          <a:lstStyle/>
          <a:p>
            <a:r>
              <a:rPr lang="ru-RU" dirty="0"/>
              <a:t>Актуальность тематики выпускной квалификационной работы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A5090A8-2FFA-469F-BBCE-5E36DE948C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14999" y="1043398"/>
            <a:ext cx="5334498" cy="405186"/>
          </a:xfrm>
        </p:spPr>
        <p:txBody>
          <a:bodyPr/>
          <a:lstStyle/>
          <a:p>
            <a:r>
              <a:rPr lang="ru-RU" dirty="0"/>
              <a:t>Ожидаемые результаты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72125" y="1442390"/>
            <a:ext cx="6619875" cy="4376932"/>
          </a:xfrm>
        </p:spPr>
        <p:txBody>
          <a:bodyPr/>
          <a:lstStyle/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</a:rPr>
              <a:t>Реализовать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исследовать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набор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моделей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для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одномерных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временных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рядов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  <a:r>
              <a:rPr lang="ru-RU" altLang="en-US" dirty="0">
                <a:solidFill>
                  <a:schemeClr val="tx1"/>
                </a:solidFill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err="1">
                <a:solidFill>
                  <a:schemeClr val="tx1"/>
                </a:solidFill>
              </a:rPr>
              <a:t>классические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модели</a:t>
            </a:r>
            <a:r>
              <a:rPr lang="en-US" altLang="en-US" sz="1400" dirty="0">
                <a:solidFill>
                  <a:schemeClr val="tx1"/>
                </a:solidFill>
              </a:rPr>
              <a:t> ARIMA, ETS, Prophet </a:t>
            </a:r>
            <a:r>
              <a:rPr lang="en-US" altLang="en-US" sz="1400" dirty="0" err="1">
                <a:solidFill>
                  <a:schemeClr val="tx1"/>
                </a:solidFill>
              </a:rPr>
              <a:t>в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качестве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базовых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ориентиров</a:t>
            </a:r>
            <a:r>
              <a:rPr lang="en-US" altLang="en-US" sz="1400" dirty="0">
                <a:solidFill>
                  <a:schemeClr val="tx1"/>
                </a:solidFill>
              </a:rPr>
              <a:t>;</a:t>
            </a:r>
            <a:endParaRPr lang="ru-RU" altLang="en-US" sz="1400" dirty="0">
              <a:solidFill>
                <a:schemeClr val="tx1"/>
              </a:solidFill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solidFill>
                <a:schemeClr val="tx1"/>
              </a:solidFill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err="1">
                <a:solidFill>
                  <a:schemeClr val="tx1"/>
                </a:solidFill>
              </a:rPr>
              <a:t>нейросетевые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архитектуры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для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временных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рядов</a:t>
            </a:r>
            <a:r>
              <a:rPr lang="en-US" altLang="en-US" sz="1400" dirty="0">
                <a:solidFill>
                  <a:schemeClr val="tx1"/>
                </a:solidFill>
              </a:rPr>
              <a:t> (</a:t>
            </a:r>
            <a:r>
              <a:rPr lang="en-US" altLang="en-US" sz="1400" dirty="0" err="1">
                <a:solidFill>
                  <a:schemeClr val="tx1"/>
                </a:solidFill>
              </a:rPr>
              <a:t>например</a:t>
            </a:r>
            <a:r>
              <a:rPr lang="en-US" altLang="en-US" sz="1400" dirty="0">
                <a:solidFill>
                  <a:schemeClr val="tx1"/>
                </a:solidFill>
              </a:rPr>
              <a:t>, </a:t>
            </a:r>
            <a:r>
              <a:rPr lang="en-US" altLang="en-US" sz="1400" dirty="0" err="1">
                <a:solidFill>
                  <a:schemeClr val="tx1"/>
                </a:solidFill>
              </a:rPr>
              <a:t>FEDFormer</a:t>
            </a:r>
            <a:r>
              <a:rPr lang="en-US" altLang="en-US" sz="1400" dirty="0">
                <a:solidFill>
                  <a:schemeClr val="tx1"/>
                </a:solidFill>
              </a:rPr>
              <a:t>, </a:t>
            </a:r>
            <a:r>
              <a:rPr lang="en-US" altLang="en-US" sz="1400" dirty="0" err="1">
                <a:solidFill>
                  <a:schemeClr val="tx1"/>
                </a:solidFill>
              </a:rPr>
              <a:t>TimesNet</a:t>
            </a:r>
            <a:r>
              <a:rPr lang="en-US" altLang="en-US" sz="1400" dirty="0">
                <a:solidFill>
                  <a:schemeClr val="tx1"/>
                </a:solidFill>
              </a:rPr>
              <a:t>, </a:t>
            </a:r>
            <a:r>
              <a:rPr lang="en-US" altLang="en-US" sz="1400" dirty="0" err="1">
                <a:solidFill>
                  <a:schemeClr val="tx1"/>
                </a:solidFill>
              </a:rPr>
              <a:t>Helformer</a:t>
            </a:r>
            <a:r>
              <a:rPr lang="en-US" altLang="en-US" sz="1400" dirty="0">
                <a:solidFill>
                  <a:schemeClr val="tx1"/>
                </a:solidFill>
              </a:rPr>
              <a:t>);</a:t>
            </a:r>
            <a:endParaRPr lang="ru-RU" altLang="en-US" sz="1400" dirty="0">
              <a:solidFill>
                <a:schemeClr val="tx1"/>
              </a:solidFill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solidFill>
                <a:schemeClr val="tx1"/>
              </a:solidFill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err="1">
                <a:solidFill>
                  <a:schemeClr val="tx1"/>
                </a:solidFill>
              </a:rPr>
              <a:t>модификации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Helformer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с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различными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вариантами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декомпозиции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входного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ряда</a:t>
            </a:r>
            <a:r>
              <a:rPr lang="en-US" altLang="en-US" sz="1400" dirty="0">
                <a:solidFill>
                  <a:schemeClr val="tx1"/>
                </a:solidFill>
              </a:rPr>
              <a:t>.</a:t>
            </a:r>
            <a:endParaRPr lang="ru-RU" altLang="en-US" sz="14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</a:rPr>
              <a:t>Исследовать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влияние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выбора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декомпозиции</a:t>
            </a:r>
            <a:r>
              <a:rPr lang="en-US" altLang="en-US" dirty="0">
                <a:solidFill>
                  <a:schemeClr val="tx1"/>
                </a:solidFill>
              </a:rPr>
              <a:t> (</a:t>
            </a:r>
            <a:r>
              <a:rPr lang="en-US" altLang="en-US" dirty="0" err="1">
                <a:solidFill>
                  <a:schemeClr val="tx1"/>
                </a:solidFill>
              </a:rPr>
              <a:t>в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том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числе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оригинальной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декомпозиции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Helformer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её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возможных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изменений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 err="1">
                <a:solidFill>
                  <a:schemeClr val="tx1"/>
                </a:solidFill>
              </a:rPr>
              <a:t>на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качество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прогноза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  <a:endParaRPr lang="ru-RU" altLang="en-US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</a:rPr>
              <a:t>Оценить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модели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на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стандартных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наборах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временных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рядов</a:t>
            </a:r>
            <a:r>
              <a:rPr lang="en-US" altLang="en-US" dirty="0">
                <a:solidFill>
                  <a:schemeClr val="tx1"/>
                </a:solidFill>
              </a:rPr>
              <a:t> (M3, M4, M5) </a:t>
            </a:r>
            <a:r>
              <a:rPr lang="en-US" altLang="en-US" dirty="0" err="1">
                <a:solidFill>
                  <a:schemeClr val="tx1"/>
                </a:solidFill>
              </a:rPr>
              <a:t>по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метрикам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sMAPE</a:t>
            </a:r>
            <a:r>
              <a:rPr lang="en-US" altLang="en-US" dirty="0">
                <a:solidFill>
                  <a:schemeClr val="tx1"/>
                </a:solidFill>
              </a:rPr>
              <a:t>, MAPE, MASE, RMSE </a:t>
            </a:r>
            <a:r>
              <a:rPr lang="en-US" altLang="en-US" dirty="0" err="1">
                <a:solidFill>
                  <a:schemeClr val="tx1"/>
                </a:solidFill>
              </a:rPr>
              <a:t>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сравнить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их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базовыми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подходами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  <a:endParaRPr lang="ru-RU" altLang="en-US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</a:rPr>
              <a:t>Сформулировать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целевые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ориентиры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по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средней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sMAPE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</a:t>
            </a:r>
            <a:r>
              <a:rPr lang="en-US" altLang="en-US" dirty="0">
                <a:solidFill>
                  <a:schemeClr val="tx1"/>
                </a:solidFill>
              </a:rPr>
              <a:t> MASE </a:t>
            </a:r>
            <a:r>
              <a:rPr lang="en-US" altLang="en-US" dirty="0" err="1">
                <a:solidFill>
                  <a:schemeClr val="tx1"/>
                </a:solidFill>
              </a:rPr>
              <a:t>для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архитектуры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Helformer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её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вариаций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показать</a:t>
            </a:r>
            <a:r>
              <a:rPr lang="en-US" altLang="en-US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в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каких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классах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задач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такая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архитектура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даёт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прирост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к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качеству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по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сравнению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классическими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моделями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другими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нейросетями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  <a:endParaRPr lang="ru-RU" altLang="en-US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</a:rPr>
              <a:t>Подготовить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воспроизводимый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программный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стенд</a:t>
            </a:r>
            <a:r>
              <a:rPr lang="en-US" altLang="en-US" dirty="0">
                <a:solidFill>
                  <a:schemeClr val="tx1"/>
                </a:solidFill>
              </a:rPr>
              <a:t> (</a:t>
            </a:r>
            <a:r>
              <a:rPr lang="en-US" altLang="en-US" dirty="0" err="1">
                <a:solidFill>
                  <a:schemeClr val="tx1"/>
                </a:solidFill>
              </a:rPr>
              <a:t>код</a:t>
            </a:r>
            <a:r>
              <a:rPr lang="en-US" altLang="en-US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конфигурации</a:t>
            </a:r>
            <a:r>
              <a:rPr lang="en-US" altLang="en-US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скрипты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запуска</a:t>
            </a:r>
            <a:r>
              <a:rPr lang="en-US" altLang="en-US" dirty="0">
                <a:solidFill>
                  <a:schemeClr val="tx1"/>
                </a:solidFill>
              </a:rPr>
              <a:t>) </a:t>
            </a:r>
            <a:r>
              <a:rPr lang="en-US" altLang="en-US" dirty="0" err="1">
                <a:solidFill>
                  <a:schemeClr val="tx1"/>
                </a:solidFill>
              </a:rPr>
              <a:t>для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повторения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экспериментов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подключения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новых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моделей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Актуальность и ожидаемые результаты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9CBF2-BD36-E32A-650C-7EE904BFC586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0" y="1663544"/>
            <a:ext cx="5714999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Временные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ряды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лежат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основе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задач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экономике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энергетике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транспорте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телекоммуникациях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финансах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От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точности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прогноза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зависят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планирование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ресурсов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управление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запасами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оценка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рисков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RU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Реальные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временные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ряды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как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правило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содержат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тренд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сезонность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смену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режимов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выбросы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шум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из-за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чего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классические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статистические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методы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(ARIMA, ETS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др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.)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требуют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тщательной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настройки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быстро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теряют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качество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при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нарушении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стационарности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RU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Современные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нейросетевые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архитектуры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для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временных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рядов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том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числе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модели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на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основе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трансформеров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Helformer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FEDFormer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др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.),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лучше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захватывают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сложные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дальнобойные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зависимости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но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их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качество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сильно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зависит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от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выбранной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схемы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декомпозиции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подготовки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входных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данных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RU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Поэтому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актуальна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задача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исследования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архитектуры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Helformer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различных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вариантов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декомпозиции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временного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ряда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перед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подачей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трансформер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это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позволяет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повысить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точность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прогноза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без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усложнения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модели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за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счёт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дополнительных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блоков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для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остатка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068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71ACD7CE-8053-445F-9CFC-EB84FFEA9C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6703" y="1221483"/>
            <a:ext cx="5334498" cy="405186"/>
          </a:xfrm>
        </p:spPr>
        <p:txBody>
          <a:bodyPr/>
          <a:lstStyle/>
          <a:p>
            <a:r>
              <a:rPr lang="ru-RU" dirty="0"/>
              <a:t>Новизна планируемых результатов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A5090A8-2FFA-469F-BBCE-5E36DE948C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57887" y="1221483"/>
            <a:ext cx="5957887" cy="405186"/>
          </a:xfrm>
        </p:spPr>
        <p:txBody>
          <a:bodyPr/>
          <a:lstStyle/>
          <a:p>
            <a:r>
              <a:rPr lang="ru-RU" dirty="0"/>
              <a:t>Практическая значимость планируемых результатов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703" y="1626669"/>
            <a:ext cx="5727902" cy="422509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Выполняется углублённое экспериментальное исследование актуальной архитектуры </a:t>
            </a:r>
            <a:r>
              <a:rPr lang="en-US" dirty="0" err="1"/>
              <a:t>Helformer</a:t>
            </a:r>
            <a:r>
              <a:rPr lang="en-US" dirty="0"/>
              <a:t>, </a:t>
            </a:r>
            <a:r>
              <a:rPr lang="ru-RU" dirty="0"/>
              <a:t>ориентированное на задачу прогнозирования одномерных временных рядов.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Рассматриваются различные варианты декомпозиции временного ряда перед подачей в трансформер:</a:t>
            </a:r>
          </a:p>
          <a:p>
            <a:pPr marL="971550" lvl="1" indent="-285750"/>
            <a:r>
              <a:rPr lang="ru-RU" sz="1400" dirty="0">
                <a:solidFill>
                  <a:schemeClr val="tx1"/>
                </a:solidFill>
              </a:rPr>
              <a:t>использование базовой (оригинальной) декомпозиции </a:t>
            </a:r>
            <a:r>
              <a:rPr lang="en-US" sz="1400" dirty="0" err="1">
                <a:solidFill>
                  <a:schemeClr val="tx1"/>
                </a:solidFill>
              </a:rPr>
              <a:t>Helformer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</a:p>
          <a:p>
            <a:pPr marL="971550" lvl="1" indent="-285750"/>
            <a:r>
              <a:rPr lang="ru-RU" sz="1400" dirty="0">
                <a:solidFill>
                  <a:schemeClr val="tx1"/>
                </a:solidFill>
              </a:rPr>
              <a:t>модификации схемы декомпозиции и сравнение с подходами, применяемыми в других архитектурах.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Анализируется, как выбор декомпозиции влияет на способность модели выделять тренд, сезонные компоненты и более быстрые изменения без явного построения отдельных моделей для остатка.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Проводится систематическое сравнение </a:t>
            </a:r>
            <a:r>
              <a:rPr lang="en-US" dirty="0" err="1"/>
              <a:t>Helformer</a:t>
            </a:r>
            <a:r>
              <a:rPr lang="en-US" dirty="0"/>
              <a:t> </a:t>
            </a:r>
            <a:r>
              <a:rPr lang="ru-RU" dirty="0"/>
              <a:t>и его модификаций с классическими методами (</a:t>
            </a:r>
            <a:r>
              <a:rPr lang="en-US" dirty="0"/>
              <a:t>ARIMA, ETS, Prophet) </a:t>
            </a:r>
            <a:r>
              <a:rPr lang="ru-RU" dirty="0"/>
              <a:t>и другими нейросетевыми моделями на нескольких наборах данных (</a:t>
            </a:r>
            <a:r>
              <a:rPr lang="en-US" dirty="0"/>
              <a:t>M3, M4, M5).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Разрабатывается модульный программный прототип на </a:t>
            </a:r>
            <a:r>
              <a:rPr lang="en-US" dirty="0"/>
              <a:t>Python (</a:t>
            </a:r>
            <a:r>
              <a:rPr lang="ru-RU" dirty="0"/>
              <a:t>с использованием фабрик и конфигурационных файлов), позволяющий удобно подключать различные архитектуры и варианты декомпозиции без изменения основной логики экспериментов.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57888" y="1626669"/>
            <a:ext cx="6107409" cy="4225097"/>
          </a:xfrm>
        </p:spPr>
        <p:txBody>
          <a:bodyPr/>
          <a:lstStyle/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</a:rPr>
              <a:t>Улучшение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качества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краткосрочного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среднесрочного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прогноза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временных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рядов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для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задач</a:t>
            </a:r>
            <a:r>
              <a:rPr lang="en-US" altLang="en-US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где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ошибка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прогноза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приводит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к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финансовым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потерям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или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неэффективному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использованию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ресурсов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marL="9715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err="1">
                <a:solidFill>
                  <a:schemeClr val="tx1"/>
                </a:solidFill>
              </a:rPr>
              <a:t>прогноз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спроса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и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продаж</a:t>
            </a:r>
            <a:r>
              <a:rPr lang="en-US" altLang="en-US" sz="1400" dirty="0">
                <a:solidFill>
                  <a:schemeClr val="tx1"/>
                </a:solidFill>
              </a:rPr>
              <a:t>;</a:t>
            </a:r>
          </a:p>
          <a:p>
            <a:pPr marL="9715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err="1">
                <a:solidFill>
                  <a:schemeClr val="tx1"/>
                </a:solidFill>
              </a:rPr>
              <a:t>прогноз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энергопотребления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и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загрузки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инфраструктуры</a:t>
            </a:r>
            <a:r>
              <a:rPr lang="en-US" altLang="en-US" sz="1400" dirty="0">
                <a:solidFill>
                  <a:schemeClr val="tx1"/>
                </a:solidFill>
              </a:rPr>
              <a:t>;</a:t>
            </a:r>
          </a:p>
          <a:p>
            <a:pPr marL="9715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err="1">
                <a:solidFill>
                  <a:schemeClr val="tx1"/>
                </a:solidFill>
              </a:rPr>
              <a:t>прогноз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динамики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финансовых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инструментов</a:t>
            </a:r>
            <a:r>
              <a:rPr lang="en-US" altLang="en-US" sz="1400" dirty="0">
                <a:solidFill>
                  <a:schemeClr val="tx1"/>
                </a:solidFill>
              </a:rPr>
              <a:t>;</a:t>
            </a:r>
          </a:p>
          <a:p>
            <a:pPr marL="9715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err="1">
                <a:solidFill>
                  <a:schemeClr val="tx1"/>
                </a:solidFill>
              </a:rPr>
              <a:t>задачи</a:t>
            </a:r>
            <a:r>
              <a:rPr lang="en-US" altLang="en-US" sz="1400" dirty="0">
                <a:solidFill>
                  <a:schemeClr val="tx1"/>
                </a:solidFill>
              </a:rPr>
              <a:t> «</a:t>
            </a:r>
            <a:r>
              <a:rPr lang="en-US" altLang="en-US" sz="1400" dirty="0" err="1">
                <a:solidFill>
                  <a:schemeClr val="tx1"/>
                </a:solidFill>
              </a:rPr>
              <a:t>умного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города</a:t>
            </a:r>
            <a:r>
              <a:rPr lang="en-US" altLang="en-US" sz="1400" dirty="0">
                <a:solidFill>
                  <a:schemeClr val="tx1"/>
                </a:solidFill>
              </a:rPr>
              <a:t>» (</a:t>
            </a:r>
            <a:r>
              <a:rPr lang="en-US" altLang="en-US" sz="1400" dirty="0" err="1">
                <a:solidFill>
                  <a:schemeClr val="tx1"/>
                </a:solidFill>
              </a:rPr>
              <a:t>загруженность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дорог</a:t>
            </a:r>
            <a:r>
              <a:rPr lang="en-US" altLang="en-US" sz="1400" dirty="0">
                <a:solidFill>
                  <a:schemeClr val="tx1"/>
                </a:solidFill>
              </a:rPr>
              <a:t>, </a:t>
            </a:r>
            <a:r>
              <a:rPr lang="en-US" altLang="en-US" sz="1400" dirty="0" err="1">
                <a:solidFill>
                  <a:schemeClr val="tx1"/>
                </a:solidFill>
              </a:rPr>
              <a:t>парковок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и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</a:rPr>
              <a:t>т.п</a:t>
            </a:r>
            <a:r>
              <a:rPr lang="en-US" altLang="en-US" sz="1400" dirty="0">
                <a:solidFill>
                  <a:schemeClr val="tx1"/>
                </a:solidFill>
              </a:rPr>
              <a:t>.).</a:t>
            </a:r>
            <a:endParaRPr lang="ru-RU" altLang="en-US" sz="1400" dirty="0">
              <a:solidFill>
                <a:schemeClr val="tx1"/>
              </a:solidFill>
            </a:endParaRPr>
          </a:p>
          <a:p>
            <a:pPr marL="9715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</a:rPr>
              <a:t>Полученный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программный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стенд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можно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использовать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как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инструмент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для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выбора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модели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настройки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параметров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при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внедрении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систем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прогнозирования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в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прикладных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проектах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  <a:endParaRPr lang="ru-RU" altLang="en-US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</a:rPr>
              <a:t>Результаты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исследования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могут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быть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применены</a:t>
            </a:r>
            <a:r>
              <a:rPr lang="en-US" altLang="en-US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в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том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числе</a:t>
            </a:r>
            <a:r>
              <a:rPr lang="en-US" altLang="en-US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в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задачах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прогнозирования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загруженности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парковочных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мест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стоимости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акций</a:t>
            </a:r>
            <a:r>
              <a:rPr lang="en-US" altLang="en-US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где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важны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устойчивость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алгоритма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к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шуму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способность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учитывать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смену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режимов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поведения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ряда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Новизна и практическая значимость</a:t>
            </a:r>
          </a:p>
        </p:txBody>
      </p:sp>
    </p:spTree>
    <p:extLst>
      <p:ext uri="{BB962C8B-B14F-4D97-AF65-F5344CB8AC3E}">
        <p14:creationId xmlns:p14="http://schemas.microsoft.com/office/powerpoint/2010/main" val="4161753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F55F4DA6-9028-4545-82AA-A50889F761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2294" y="1292920"/>
            <a:ext cx="11167412" cy="4907855"/>
          </a:xfrm>
        </p:spPr>
        <p:txBody>
          <a:bodyPr/>
          <a:lstStyle/>
          <a:p>
            <a:r>
              <a:rPr lang="ru" sz="1600" dirty="0"/>
              <a:t>Проект посвящён исследованию архитектуры </a:t>
            </a:r>
            <a:r>
              <a:rPr lang="en-US" sz="1600" dirty="0" err="1"/>
              <a:t>Helformer</a:t>
            </a:r>
            <a:r>
              <a:rPr lang="en-US" sz="1600" dirty="0"/>
              <a:t> </a:t>
            </a:r>
            <a:r>
              <a:rPr lang="ru" sz="1600" dirty="0"/>
              <a:t>для задач прогнозирования временных рядов и поиску таких вариантов декомпозиции ряда, которые позволяют повысить точность прогноза без излишнего усложнения модели. Объектом исследования являются одномерные временные ряды различной природы (экономические показатели, продажи, финансовые котировки, телеметрия, транспортные и городские данные), отличающиеся сложной структурой: наличием тренда, одной или нескольких сезонностей, локальных всплесков и шумовых компонент.</a:t>
            </a:r>
          </a:p>
          <a:p>
            <a:r>
              <a:rPr lang="ru" sz="1600" dirty="0"/>
              <a:t>Цель проекта - улучшить качество кратко- и среднесрочного прогнозирования за счёт осмысленной работы с представлением временного ряда: от использования базовой, «родной» декомпозиции архитектуры </a:t>
            </a:r>
            <a:r>
              <a:rPr lang="en-US" sz="1600" dirty="0" err="1"/>
              <a:t>Helformer</a:t>
            </a:r>
            <a:r>
              <a:rPr lang="en-US" sz="1600" dirty="0"/>
              <a:t> </a:t>
            </a:r>
            <a:r>
              <a:rPr lang="ru" sz="1600" dirty="0"/>
              <a:t>до экспериментов с альтернативными схемами разложения, близкими к тем, что применяются в других трансформерных моделях для временных рядов. При этом сама архитектура трансформера остаётся в разумных пределах неизменной, а основной акцент делается на том, как именно подготавливать входные данные и на каком уровне выделять трендовые и сезонные компоненты.</a:t>
            </a:r>
          </a:p>
          <a:p>
            <a:r>
              <a:rPr lang="ru" sz="1600" dirty="0"/>
              <a:t>В рамках работы планируется реализовать и настроить базовые статистические модели (</a:t>
            </a:r>
            <a:r>
              <a:rPr lang="en-US" sz="1600" dirty="0"/>
              <a:t>ARIMA, ETS, Prophet) </a:t>
            </a:r>
            <a:r>
              <a:rPr lang="ru" sz="1600" dirty="0"/>
              <a:t>для получения опорного уровня качества, а также «чистые» нейросетевые модели для временных рядов (включая </a:t>
            </a:r>
            <a:r>
              <a:rPr lang="en-US" sz="1600" dirty="0" err="1"/>
              <a:t>Helformer</a:t>
            </a:r>
            <a:r>
              <a:rPr lang="en-US" sz="1600" dirty="0"/>
              <a:t> </a:t>
            </a:r>
            <a:r>
              <a:rPr lang="ru" sz="1600" dirty="0"/>
              <a:t>и, при необходимости, другие архитектуры семейства трансформеров). Все модели будут собраны в единое программное окружение на языке </a:t>
            </a:r>
            <a:r>
              <a:rPr lang="en-US" sz="1600" dirty="0"/>
              <a:t>Python (</a:t>
            </a:r>
            <a:r>
              <a:rPr lang="ru" sz="1600" dirty="0"/>
              <a:t>с использованием </a:t>
            </a:r>
            <a:r>
              <a:rPr lang="en-US" sz="1600" dirty="0" err="1"/>
              <a:t>PyTorch</a:t>
            </a:r>
            <a:r>
              <a:rPr lang="en-US" sz="1600" dirty="0"/>
              <a:t> </a:t>
            </a:r>
            <a:r>
              <a:rPr lang="ru" sz="1600" dirty="0"/>
              <a:t>и сопутствующих библиотек), с модульной структурой и конфигурационными файлами для воспроизводимости экспериментов.</a:t>
            </a:r>
          </a:p>
          <a:p>
            <a:r>
              <a:rPr lang="ru" sz="1600" dirty="0"/>
              <a:t>Качество моделей предполагается оценивать на стандартных бенчмарк-наборах временных рядов </a:t>
            </a:r>
            <a:r>
              <a:rPr lang="en-US" sz="1600" dirty="0"/>
              <a:t>M3, M4, M5 </a:t>
            </a:r>
            <a:r>
              <a:rPr lang="ru" sz="1600" dirty="0"/>
              <a:t>по метрикам </a:t>
            </a:r>
            <a:r>
              <a:rPr lang="en-US" sz="1600" dirty="0" err="1"/>
              <a:t>sMAPE</a:t>
            </a:r>
            <a:r>
              <a:rPr lang="en-US" sz="1600" dirty="0"/>
              <a:t>, MAPE, MASE, RMSE </a:t>
            </a:r>
            <a:r>
              <a:rPr lang="ru" sz="1600" dirty="0"/>
              <a:t>с заданными целевыми ориентирами и сравнением с базовыми подходами. Отдельное внимание будет уделено анализу того, насколько выбор конкретной схемы декомпозиции влияет на итоговые метрики качества и в каких классах временных рядов использование </a:t>
            </a:r>
            <a:r>
              <a:rPr lang="en-US" sz="1600" dirty="0" err="1"/>
              <a:t>Helformer</a:t>
            </a:r>
            <a:r>
              <a:rPr lang="en-US" sz="1600" dirty="0"/>
              <a:t> </a:t>
            </a:r>
            <a:r>
              <a:rPr lang="ru" sz="1600" dirty="0"/>
              <a:t>с подобранной декомпозицией даёт наибольший выигрыш.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Описание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63719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План-график реализации проекта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BC6D921-72FF-5D97-D9D5-63BBBF925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214342"/>
              </p:ext>
            </p:extLst>
          </p:nvPr>
        </p:nvGraphicFramePr>
        <p:xfrm>
          <a:off x="881063" y="1157288"/>
          <a:ext cx="10429874" cy="490055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33450">
                  <a:extLst>
                    <a:ext uri="{9D8B030D-6E8A-4147-A177-3AD203B41FA5}">
                      <a16:colId xmlns:a16="http://schemas.microsoft.com/office/drawing/2014/main" val="814578713"/>
                    </a:ext>
                  </a:extLst>
                </a:gridCol>
                <a:gridCol w="2039255">
                  <a:extLst>
                    <a:ext uri="{9D8B030D-6E8A-4147-A177-3AD203B41FA5}">
                      <a16:colId xmlns:a16="http://schemas.microsoft.com/office/drawing/2014/main" val="1015056024"/>
                    </a:ext>
                  </a:extLst>
                </a:gridCol>
                <a:gridCol w="7457169">
                  <a:extLst>
                    <a:ext uri="{9D8B030D-6E8A-4147-A177-3AD203B41FA5}">
                      <a16:colId xmlns:a16="http://schemas.microsoft.com/office/drawing/2014/main" val="3614927381"/>
                    </a:ext>
                  </a:extLst>
                </a:gridCol>
              </a:tblGrid>
              <a:tr h="51143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Неделя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Сроки выполнения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Этап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2266544"/>
                  </a:ext>
                </a:extLst>
              </a:tr>
              <a:tr h="86016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01.09.2025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" dirty="0"/>
                        <a:t>Выбор и утверждение темы, формулировка цели и задач работы, прохождение инструктажей по технике безопасности и внутреннему распорядку.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904120"/>
                  </a:ext>
                </a:extLst>
              </a:tr>
              <a:tr h="511437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3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15.09.2025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" dirty="0"/>
                        <a:t>Подготовка и исследование примеров временных рядов с разной структурой (с/без тренда, с/без сезонности, с сильным шумом);</a:t>
                      </a:r>
                    </a:p>
                    <a:p>
                      <a:pPr algn="l"/>
                      <a:r>
                        <a:rPr lang="ru" dirty="0"/>
                        <a:t>Настройка параметров моделей и анализ качества по базовым метрикам.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022019"/>
                  </a:ext>
                </a:extLst>
              </a:tr>
              <a:tr h="511437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7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13.10.2025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" dirty="0"/>
                        <a:t>Реализация и экспериментальное изучение нейросетевых моделей для временных рядов (</a:t>
                      </a:r>
                      <a:r>
                        <a:rPr lang="en-US" dirty="0" err="1"/>
                        <a:t>FEDFormer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TimesNet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Helformer</a:t>
                      </a:r>
                      <a:r>
                        <a:rPr lang="en-US" dirty="0"/>
                        <a:t>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736288"/>
                  </a:ext>
                </a:extLst>
              </a:tr>
              <a:tr h="511437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9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27.10.2025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" dirty="0"/>
                        <a:t>Настройка и сравнение различных схем декомпозиции временных рядов для архитектуры </a:t>
                      </a:r>
                      <a:r>
                        <a:rPr lang="en-US" dirty="0" err="1"/>
                        <a:t>Helformer</a:t>
                      </a:r>
                      <a:r>
                        <a:rPr lang="en-US" dirty="0"/>
                        <a:t>, </a:t>
                      </a:r>
                      <a:r>
                        <a:rPr lang="ru" dirty="0"/>
                        <a:t>выбор рабочих конфигураций.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999828"/>
                  </a:ext>
                </a:extLst>
              </a:tr>
              <a:tr h="511437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13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01.12.2025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" dirty="0"/>
                        <a:t>Проведение серии экспериментов на наборах </a:t>
                      </a:r>
                      <a:r>
                        <a:rPr lang="en-US" dirty="0"/>
                        <a:t>M3–M4–M5, </a:t>
                      </a:r>
                      <a:r>
                        <a:rPr lang="ru" dirty="0"/>
                        <a:t>сравнение моделей по метрикам </a:t>
                      </a:r>
                      <a:r>
                        <a:rPr lang="en-US" dirty="0" err="1"/>
                        <a:t>sMAPE</a:t>
                      </a:r>
                      <a:r>
                        <a:rPr lang="en-US" dirty="0"/>
                        <a:t>, MAPE, MASE, RMSE.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3496865"/>
                  </a:ext>
                </a:extLst>
              </a:tr>
              <a:tr h="511437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16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20.12.2025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" dirty="0"/>
                        <a:t>Обобщение результатов, подготовка текста отчёта и презентации, сдача материалов на кафедру и защита НИР.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347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246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Заключение и выводы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E7DDDC-BF5C-B9CC-AFBC-85FF7816B605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290513" y="1128054"/>
            <a:ext cx="1159668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В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заключении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предполагается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обобщить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результаты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теоретического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анализа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серии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экспериментов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прогнозированию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временных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рядов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с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использованием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Helformer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других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моделей</a:t>
            </a:r>
            <a:r>
              <a:rPr lang="en-US" altLang="en-US" sz="1600" dirty="0">
                <a:solidFill>
                  <a:schemeClr val="tx1"/>
                </a:solidFill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Будут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сопоставлены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полученные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значения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sMAPE</a:t>
            </a:r>
            <a:r>
              <a:rPr lang="en-US" altLang="en-US" sz="1600" dirty="0">
                <a:solidFill>
                  <a:schemeClr val="tx1"/>
                </a:solidFill>
              </a:rPr>
              <a:t>, MAPE, MASE, RMSE </a:t>
            </a:r>
            <a:r>
              <a:rPr lang="en-US" altLang="en-US" sz="1600" dirty="0" err="1">
                <a:solidFill>
                  <a:schemeClr val="tx1"/>
                </a:solidFill>
              </a:rPr>
              <a:t>для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различных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моделей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вариантов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декомпозиции</a:t>
            </a:r>
            <a:r>
              <a:rPr lang="en-US" altLang="en-US" sz="1600" dirty="0">
                <a:solidFill>
                  <a:schemeClr val="tx1"/>
                </a:solidFill>
              </a:rPr>
              <a:t>, </a:t>
            </a:r>
            <a:r>
              <a:rPr lang="en-US" altLang="en-US" sz="1600" dirty="0" err="1">
                <a:solidFill>
                  <a:schemeClr val="tx1"/>
                </a:solidFill>
              </a:rPr>
              <a:t>сделаны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выводы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том</a:t>
            </a:r>
            <a:r>
              <a:rPr lang="en-US" altLang="en-US" sz="1600" dirty="0">
                <a:solidFill>
                  <a:schemeClr val="tx1"/>
                </a:solidFill>
              </a:rPr>
              <a:t>, </a:t>
            </a:r>
            <a:r>
              <a:rPr lang="en-US" altLang="en-US" sz="1600" dirty="0" err="1">
                <a:solidFill>
                  <a:schemeClr val="tx1"/>
                </a:solidFill>
              </a:rPr>
              <a:t>какие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конфигурации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Helformer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дают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наибольший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выигрыш</a:t>
            </a:r>
            <a:r>
              <a:rPr lang="en-US" altLang="en-US" sz="1600" dirty="0">
                <a:solidFill>
                  <a:schemeClr val="tx1"/>
                </a:solidFill>
              </a:rPr>
              <a:t>.</a:t>
            </a:r>
            <a:endParaRPr lang="ru-RU" altLang="en-US" sz="16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Планируемые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выводы</a:t>
            </a:r>
            <a:r>
              <a:rPr lang="en-US" altLang="en-US" sz="1600" dirty="0">
                <a:solidFill>
                  <a:schemeClr val="tx1"/>
                </a:solidFill>
              </a:rPr>
              <a:t>:</a:t>
            </a:r>
            <a:endParaRPr lang="ru-RU" altLang="en-US" sz="16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 err="1">
                <a:solidFill>
                  <a:schemeClr val="tx1"/>
                </a:solidFill>
              </a:rPr>
              <a:t>показано</a:t>
            </a:r>
            <a:r>
              <a:rPr lang="en-US" altLang="en-US" sz="1600" dirty="0">
                <a:solidFill>
                  <a:schemeClr val="tx1"/>
                </a:solidFill>
              </a:rPr>
              <a:t>, </a:t>
            </a:r>
            <a:r>
              <a:rPr lang="en-US" altLang="en-US" sz="1600" dirty="0" err="1">
                <a:solidFill>
                  <a:schemeClr val="tx1"/>
                </a:solidFill>
              </a:rPr>
              <a:t>для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каких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классов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временных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рядов</a:t>
            </a:r>
            <a:r>
              <a:rPr lang="en-US" altLang="en-US" sz="1600" dirty="0">
                <a:solidFill>
                  <a:schemeClr val="tx1"/>
                </a:solidFill>
              </a:rPr>
              <a:t> (</a:t>
            </a:r>
            <a:r>
              <a:rPr lang="en-US" altLang="en-US" sz="1600" dirty="0" err="1">
                <a:solidFill>
                  <a:schemeClr val="tx1"/>
                </a:solidFill>
              </a:rPr>
              <a:t>сильный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тренд</a:t>
            </a:r>
            <a:r>
              <a:rPr lang="en-US" altLang="en-US" sz="1600" dirty="0">
                <a:solidFill>
                  <a:schemeClr val="tx1"/>
                </a:solidFill>
              </a:rPr>
              <a:t>, </a:t>
            </a:r>
            <a:r>
              <a:rPr lang="en-US" altLang="en-US" sz="1600" dirty="0" err="1">
                <a:solidFill>
                  <a:schemeClr val="tx1"/>
                </a:solidFill>
              </a:rPr>
              <a:t>ярко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выраженная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сезонность</a:t>
            </a:r>
            <a:r>
              <a:rPr lang="en-US" altLang="en-US" sz="1600" dirty="0">
                <a:solidFill>
                  <a:schemeClr val="tx1"/>
                </a:solidFill>
              </a:rPr>
              <a:t>, </a:t>
            </a:r>
            <a:r>
              <a:rPr lang="en-US" altLang="en-US" sz="1600" dirty="0" err="1">
                <a:solidFill>
                  <a:schemeClr val="tx1"/>
                </a:solidFill>
              </a:rPr>
              <a:t>высокая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шумность</a:t>
            </a:r>
            <a:r>
              <a:rPr lang="en-US" altLang="en-US" sz="1600" dirty="0">
                <a:solidFill>
                  <a:schemeClr val="tx1"/>
                </a:solidFill>
              </a:rPr>
              <a:t>) </a:t>
            </a:r>
            <a:r>
              <a:rPr lang="en-US" altLang="en-US" sz="1600" dirty="0" err="1">
                <a:solidFill>
                  <a:schemeClr val="tx1"/>
                </a:solidFill>
              </a:rPr>
              <a:t>архитектура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Helformer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с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выбранной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декомпозицией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обеспечивает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улучшение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качества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сравнению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с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классическими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моделями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другими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нейросетями</a:t>
            </a:r>
            <a:r>
              <a:rPr lang="en-US" altLang="en-US" sz="1600" dirty="0">
                <a:solidFill>
                  <a:schemeClr val="tx1"/>
                </a:solidFill>
              </a:rPr>
              <a:t>;</a:t>
            </a:r>
            <a:endParaRPr lang="ru-RU" altLang="en-US" sz="16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 err="1">
                <a:solidFill>
                  <a:schemeClr val="tx1"/>
                </a:solidFill>
              </a:rPr>
              <a:t>количественно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оценено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влияние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декомпозиции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на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качество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прогноза</a:t>
            </a:r>
            <a:r>
              <a:rPr lang="en-US" altLang="en-US" sz="1600" dirty="0">
                <a:solidFill>
                  <a:schemeClr val="tx1"/>
                </a:solidFill>
              </a:rPr>
              <a:t>: </a:t>
            </a:r>
            <a:r>
              <a:rPr lang="en-US" altLang="en-US" sz="1600" dirty="0" err="1">
                <a:solidFill>
                  <a:schemeClr val="tx1"/>
                </a:solidFill>
              </a:rPr>
              <a:t>без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изменения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архитектуры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трансформера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удаётся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улучшить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метрики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за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счёт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более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корректной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предварительной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обработки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ряда</a:t>
            </a:r>
            <a:r>
              <a:rPr lang="en-US" altLang="en-US" sz="1600" dirty="0">
                <a:solidFill>
                  <a:schemeClr val="tx1"/>
                </a:solidFill>
              </a:rPr>
              <a:t>;</a:t>
            </a:r>
            <a:endParaRPr lang="ru-RU" altLang="en-US" sz="16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 err="1">
                <a:solidFill>
                  <a:schemeClr val="tx1"/>
                </a:solidFill>
              </a:rPr>
              <a:t>сформированы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рекомендации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выбору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модели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настройки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её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параметров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в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зависимости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от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типа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временного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ряда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доступного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объёма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данных</a:t>
            </a:r>
            <a:r>
              <a:rPr lang="en-US" altLang="en-US" sz="1600" dirty="0">
                <a:solidFill>
                  <a:schemeClr val="tx1"/>
                </a:solidFill>
              </a:rPr>
              <a:t>.</a:t>
            </a:r>
            <a:endParaRPr lang="ru-RU" altLang="en-US" sz="16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Отдельно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будет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отмечен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потенциал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использования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разработанного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программного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стенда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полученных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результатов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в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практических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проектах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прогнозированию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финансовых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городских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временных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рядов</a:t>
            </a:r>
            <a:r>
              <a:rPr lang="en-US" altLang="en-US" sz="1600" dirty="0">
                <a:solidFill>
                  <a:schemeClr val="tx1"/>
                </a:solidFill>
              </a:rPr>
              <a:t> (</a:t>
            </a:r>
            <a:r>
              <a:rPr lang="en-US" altLang="en-US" sz="1600" dirty="0" err="1">
                <a:solidFill>
                  <a:schemeClr val="tx1"/>
                </a:solidFill>
              </a:rPr>
              <a:t>например</a:t>
            </a:r>
            <a:r>
              <a:rPr lang="en-US" altLang="en-US" sz="1600" dirty="0">
                <a:solidFill>
                  <a:schemeClr val="tx1"/>
                </a:solidFill>
              </a:rPr>
              <a:t>, </a:t>
            </a:r>
            <a:r>
              <a:rPr lang="en-US" altLang="en-US" sz="1600" dirty="0" err="1">
                <a:solidFill>
                  <a:schemeClr val="tx1"/>
                </a:solidFill>
              </a:rPr>
              <a:t>загруженности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парковочных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мест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стоимости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акций</a:t>
            </a:r>
            <a:r>
              <a:rPr lang="en-US" altLang="en-US" sz="1600" dirty="0">
                <a:solidFill>
                  <a:schemeClr val="tx1"/>
                </a:solidFill>
              </a:rPr>
              <a:t>) </a:t>
            </a:r>
            <a:r>
              <a:rPr lang="en-US" altLang="en-US" sz="1600" dirty="0" err="1">
                <a:solidFill>
                  <a:schemeClr val="tx1"/>
                </a:solidFill>
              </a:rPr>
              <a:t>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обозначены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направления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дальнейшей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работы</a:t>
            </a:r>
            <a:r>
              <a:rPr lang="en-US" altLang="en-US" sz="1600" dirty="0">
                <a:solidFill>
                  <a:schemeClr val="tx1"/>
                </a:solidFill>
              </a:rPr>
              <a:t> (</a:t>
            </a:r>
            <a:r>
              <a:rPr lang="en-US" altLang="en-US" sz="1600" dirty="0" err="1">
                <a:solidFill>
                  <a:schemeClr val="tx1"/>
                </a:solidFill>
              </a:rPr>
              <a:t>многомерные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ряды</a:t>
            </a:r>
            <a:r>
              <a:rPr lang="en-US" altLang="en-US" sz="1600" dirty="0">
                <a:solidFill>
                  <a:schemeClr val="tx1"/>
                </a:solidFill>
              </a:rPr>
              <a:t>, </a:t>
            </a:r>
            <a:r>
              <a:rPr lang="en-US" altLang="en-US" sz="1600" dirty="0" err="1">
                <a:solidFill>
                  <a:schemeClr val="tx1"/>
                </a:solidFill>
              </a:rPr>
              <a:t>онлайн-обучение</a:t>
            </a:r>
            <a:r>
              <a:rPr lang="en-US" altLang="en-US" sz="1600" dirty="0">
                <a:solidFill>
                  <a:schemeClr val="tx1"/>
                </a:solidFill>
              </a:rPr>
              <a:t>, </a:t>
            </a:r>
            <a:r>
              <a:rPr lang="en-US" altLang="en-US" sz="1600" dirty="0" err="1">
                <a:solidFill>
                  <a:schemeClr val="tx1"/>
                </a:solidFill>
              </a:rPr>
              <a:t>расширение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набора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архитектур</a:t>
            </a:r>
            <a:r>
              <a:rPr lang="en-US" altLang="en-US" sz="1600" dirty="0">
                <a:solidFill>
                  <a:schemeClr val="tx1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0411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16">
            <a:extLst>
              <a:ext uri="{FF2B5EF4-FFF2-40B4-BE49-F238E27FC236}">
                <a16:creationId xmlns:a16="http://schemas.microsoft.com/office/drawing/2014/main" id="{9472852A-76F7-4C94-9F3E-38A9FA4D3A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БЛАГОДАРЮ ЗА ВНИМАНИЕ!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5AC49201-F2AA-4E39-B988-F0577D5BBC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5546" y="1549772"/>
            <a:ext cx="4948874" cy="921966"/>
          </a:xfrm>
        </p:spPr>
        <p:txBody>
          <a:bodyPr/>
          <a:lstStyle/>
          <a:p>
            <a:r>
              <a:rPr lang="ru-RU" sz="2000" dirty="0"/>
              <a:t>Построение комбинированных моделей на основе алгоритма </a:t>
            </a:r>
            <a:r>
              <a:rPr lang="en-US" sz="2000" dirty="0" err="1"/>
              <a:t>Helformer</a:t>
            </a:r>
            <a:r>
              <a:rPr lang="en-US" sz="2000" dirty="0"/>
              <a:t> </a:t>
            </a:r>
            <a:r>
              <a:rPr lang="ru-RU" sz="2000" dirty="0"/>
              <a:t>при обработке временных рядов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8377CDFB-EF8B-489A-BCD9-02A4697BA6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5546" y="3276599"/>
            <a:ext cx="4948874" cy="304801"/>
          </a:xfrm>
        </p:spPr>
        <p:txBody>
          <a:bodyPr>
            <a:noAutofit/>
          </a:bodyPr>
          <a:lstStyle/>
          <a:p>
            <a:r>
              <a:rPr lang="ru-RU" dirty="0"/>
              <a:t>Лазарев Александр Кириллович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A11B40D-4061-4C12-817A-6FA9313A57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546" y="3644432"/>
            <a:ext cx="4948874" cy="362115"/>
          </a:xfrm>
        </p:spPr>
        <p:txBody>
          <a:bodyPr/>
          <a:lstStyle/>
          <a:p>
            <a:r>
              <a:rPr lang="ru-RU" dirty="0"/>
              <a:t>РТУ МИРЭА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EE7883C-2C90-2D49-A057-8E3CEC2715C4}"/>
              </a:ext>
            </a:extLst>
          </p:cNvPr>
          <p:cNvSpPr txBox="1">
            <a:spLocks/>
          </p:cNvSpPr>
          <p:nvPr/>
        </p:nvSpPr>
        <p:spPr>
          <a:xfrm>
            <a:off x="9594419" y="6272980"/>
            <a:ext cx="1760370" cy="4189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202</a:t>
            </a:r>
            <a:r>
              <a:rPr lang="ru-RU" sz="1800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5</a:t>
            </a:r>
            <a:r>
              <a:rPr lang="en-US" sz="1800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 </a:t>
            </a:r>
            <a:r>
              <a:rPr lang="ru-RU" sz="1800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год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19BDAD4-48C5-7F47-A1B5-81BEB035FBF6}"/>
              </a:ext>
            </a:extLst>
          </p:cNvPr>
          <p:cNvSpPr txBox="1">
            <a:spLocks/>
          </p:cNvSpPr>
          <p:nvPr/>
        </p:nvSpPr>
        <p:spPr>
          <a:xfrm>
            <a:off x="835546" y="6272980"/>
            <a:ext cx="7472912" cy="4189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Всероссийский инженерный конкурс</a:t>
            </a:r>
          </a:p>
        </p:txBody>
      </p:sp>
      <p:sp>
        <p:nvSpPr>
          <p:cNvPr id="10" name="Текст 19">
            <a:extLst>
              <a:ext uri="{FF2B5EF4-FFF2-40B4-BE49-F238E27FC236}">
                <a16:creationId xmlns:a16="http://schemas.microsoft.com/office/drawing/2014/main" id="{5F7D6AE5-9D72-804E-A86D-EBDFFB592E77}"/>
              </a:ext>
            </a:extLst>
          </p:cNvPr>
          <p:cNvSpPr txBox="1">
            <a:spLocks/>
          </p:cNvSpPr>
          <p:nvPr/>
        </p:nvSpPr>
        <p:spPr>
          <a:xfrm>
            <a:off x="835546" y="5857392"/>
            <a:ext cx="10482942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Уровень образования: бакалавриат</a:t>
            </a:r>
          </a:p>
        </p:txBody>
      </p:sp>
      <p:sp>
        <p:nvSpPr>
          <p:cNvPr id="11" name="Текст 19">
            <a:extLst>
              <a:ext uri="{FF2B5EF4-FFF2-40B4-BE49-F238E27FC236}">
                <a16:creationId xmlns:a16="http://schemas.microsoft.com/office/drawing/2014/main" id="{F319A504-7A55-3F48-9F85-6EBCDCAF910D}"/>
              </a:ext>
            </a:extLst>
          </p:cNvPr>
          <p:cNvSpPr txBox="1">
            <a:spLocks/>
          </p:cNvSpPr>
          <p:nvPr/>
        </p:nvSpPr>
        <p:spPr>
          <a:xfrm>
            <a:off x="835546" y="5495277"/>
            <a:ext cx="4948874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Курс обучения: 4</a:t>
            </a:r>
          </a:p>
        </p:txBody>
      </p:sp>
    </p:spTree>
    <p:extLst>
      <p:ext uri="{BB962C8B-B14F-4D97-AF65-F5344CB8AC3E}">
        <p14:creationId xmlns:p14="http://schemas.microsoft.com/office/powerpoint/2010/main" val="25110295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вик">
      <a:dk1>
        <a:srgbClr val="1A468D"/>
      </a:dk1>
      <a:lt1>
        <a:srgbClr val="FFFFFF"/>
      </a:lt1>
      <a:dk2>
        <a:srgbClr val="1A468D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ВИК_Робото-конд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</TotalTime>
  <Words>1239</Words>
  <Application>Microsoft Macintosh PowerPoint</Application>
  <PresentationFormat>Widescreen</PresentationFormat>
  <Paragraphs>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 Condensed</vt:lpstr>
      <vt:lpstr>Arial</vt:lpstr>
      <vt:lpstr>Calibri</vt:lpstr>
      <vt:lpstr>Тема Office</vt:lpstr>
      <vt:lpstr>PowerPoint Presentation</vt:lpstr>
      <vt:lpstr>Актуальность и ожидаемые результаты</vt:lpstr>
      <vt:lpstr>Новизна и практическая значимость</vt:lpstr>
      <vt:lpstr>Описание проекта</vt:lpstr>
      <vt:lpstr>План-график реализации проекта</vt:lpstr>
      <vt:lpstr>Заключение и выводы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Лазарев Александр</cp:lastModifiedBy>
  <cp:revision>78</cp:revision>
  <dcterms:created xsi:type="dcterms:W3CDTF">2021-10-15T21:48:49Z</dcterms:created>
  <dcterms:modified xsi:type="dcterms:W3CDTF">2025-11-27T03:58:20Z</dcterms:modified>
</cp:coreProperties>
</file>